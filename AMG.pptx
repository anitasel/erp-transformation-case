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71" r:id="rId3"/>
    <p:sldId id="260" r:id="rId4"/>
    <p:sldId id="261" r:id="rId5"/>
    <p:sldId id="259" r:id="rId6"/>
    <p:sldId id="262" r:id="rId7"/>
    <p:sldId id="263" r:id="rId8"/>
    <p:sldId id="264" r:id="rId9"/>
    <p:sldId id="265" r:id="rId10"/>
    <p:sldId id="266" r:id="rId11"/>
    <p:sldId id="267" r:id="rId12"/>
    <p:sldId id="268" r:id="rId13"/>
    <p:sldId id="269" r:id="rId14"/>
    <p:sldId id="270" r:id="rId15"/>
  </p:sldIdLst>
  <p:sldSz cx="9144000" cy="5143500" type="screen16x9"/>
  <p:notesSz cx="5143500" cy="9144000"/>
  <p:embeddedFontLst>
    <p:embeddedFont>
      <p:font typeface="Libre Baskerville" panose="02000000000000000000" pitchFamily="2" charset="0"/>
      <p:regular r:id="rId17"/>
    </p:embeddedFont>
  </p:embeddedFontLst>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8" d="100"/>
          <a:sy n="108" d="100"/>
        </p:scale>
        <p:origin x="73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4079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3A5F"/>
          </a:solidFill>
          <a:ln/>
        </p:spPr>
        <p:txBody>
          <a:bodyPr/>
          <a:lstStyle/>
          <a:p>
            <a:endParaRPr lang="en-G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A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A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A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A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A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A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A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A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A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A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A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A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BFA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3A5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2029268"/>
            <a:ext cx="2131144" cy="168027"/>
          </a:xfrm>
          <a:prstGeom prst="rect">
            <a:avLst/>
          </a:prstGeom>
          <a:noFill/>
          <a:ln/>
        </p:spPr>
        <p:txBody>
          <a:bodyPr wrap="none" lIns="0" tIns="0" rIns="0" bIns="0" rtlCol="0" anchor="t"/>
          <a:lstStyle/>
          <a:p>
            <a:pPr marL="0" indent="0" algn="l">
              <a:lnSpc>
                <a:spcPct val="130000"/>
              </a:lnSpc>
              <a:buNone/>
            </a:pPr>
            <a:r>
              <a:rPr lang="en-US" sz="1050" dirty="0">
                <a:solidFill>
                  <a:srgbClr val="8AB4D4"/>
                </a:solidFill>
                <a:latin typeface="Times New Roman" panose="02020603050405020304" pitchFamily="18" charset="0"/>
                <a:ea typeface="Open Sans" pitchFamily="34" charset="-122"/>
                <a:cs typeface="Times New Roman" panose="02020603050405020304" pitchFamily="18" charset="0"/>
              </a:rPr>
              <a:t>ALPHA MANUFACTURING GROUP</a:t>
            </a:r>
          </a:p>
        </p:txBody>
      </p:sp>
      <p:sp>
        <p:nvSpPr>
          <p:cNvPr id="3" name="Text 1"/>
          <p:cNvSpPr/>
          <p:nvPr/>
        </p:nvSpPr>
        <p:spPr>
          <a:xfrm>
            <a:off x="496119" y="2266504"/>
            <a:ext cx="5624438" cy="420886"/>
          </a:xfrm>
          <a:prstGeom prst="rect">
            <a:avLst/>
          </a:prstGeom>
          <a:noFill/>
          <a:ln/>
        </p:spPr>
        <p:txBody>
          <a:bodyPr wrap="none" lIns="0" tIns="0" rIns="0" bIns="0" rtlCol="0" anchor="t"/>
          <a:lstStyle/>
          <a:p>
            <a:pPr marL="0" indent="0" algn="l">
              <a:lnSpc>
                <a:spcPct val="104000"/>
              </a:lnSpc>
              <a:buNone/>
            </a:pPr>
            <a:r>
              <a:rPr lang="en-US" sz="2650" dirty="0">
                <a:solidFill>
                  <a:srgbClr val="FFFFFF"/>
                </a:solidFill>
                <a:latin typeface="Times New Roman" panose="02020603050405020304" pitchFamily="18" charset="0"/>
                <a:ea typeface="Libre Baskerville" pitchFamily="34" charset="-122"/>
                <a:cs typeface="Times New Roman" panose="02020603050405020304" pitchFamily="18" charset="0"/>
              </a:rPr>
              <a:t>ERP Transformation Program</a:t>
            </a:r>
            <a:endParaRPr lang="en-US" sz="2650" dirty="0">
              <a:latin typeface="Times New Roman" panose="02020603050405020304" pitchFamily="18" charset="0"/>
              <a:cs typeface="Times New Roman" panose="02020603050405020304" pitchFamily="18" charset="0"/>
            </a:endParaRPr>
          </a:p>
        </p:txBody>
      </p:sp>
      <p:sp>
        <p:nvSpPr>
          <p:cNvPr id="5" name="Shape 3"/>
          <p:cNvSpPr/>
          <p:nvPr/>
        </p:nvSpPr>
        <p:spPr>
          <a:xfrm>
            <a:off x="496119" y="2846040"/>
            <a:ext cx="8151763" cy="10046"/>
          </a:xfrm>
          <a:prstGeom prst="rect">
            <a:avLst/>
          </a:prstGeom>
          <a:solidFill>
            <a:srgbClr val="FFFFFF">
              <a:alpha val="50000"/>
            </a:srgbClr>
          </a:solidFill>
          <a:ln/>
        </p:spPr>
        <p:txBody>
          <a:bodyPr/>
          <a:lstStyle/>
          <a:p>
            <a:endParaRPr lang="en-GH">
              <a:latin typeface="Times New Roman" panose="02020603050405020304" pitchFamily="18" charset="0"/>
              <a:cs typeface="Times New Roman" panose="02020603050405020304" pitchFamily="18" charset="0"/>
            </a:endParaRPr>
          </a:p>
        </p:txBody>
      </p:sp>
      <p:sp>
        <p:nvSpPr>
          <p:cNvPr id="6" name="Text 4"/>
          <p:cNvSpPr/>
          <p:nvPr/>
        </p:nvSpPr>
        <p:spPr>
          <a:xfrm>
            <a:off x="496119" y="3033638"/>
            <a:ext cx="8151763" cy="564059"/>
          </a:xfrm>
          <a:prstGeom prst="rect">
            <a:avLst/>
          </a:prstGeom>
          <a:noFill/>
          <a:ln/>
        </p:spPr>
        <p:txBody>
          <a:bodyPr wrap="square" lIns="0" tIns="0" rIns="0" bIns="0" rtlCol="0" anchor="t"/>
          <a:lstStyle/>
          <a:p>
            <a:pPr marL="0" indent="0" algn="l">
              <a:lnSpc>
                <a:spcPct val="130000"/>
              </a:lnSpc>
              <a:spcAft>
                <a:spcPts val="1100"/>
              </a:spcAft>
              <a:buNone/>
            </a:pPr>
            <a:r>
              <a:rPr lang="en-US" sz="1050" dirty="0">
                <a:solidFill>
                  <a:srgbClr val="8AB4D4"/>
                </a:solidFill>
                <a:latin typeface="Times New Roman" panose="02020603050405020304" pitchFamily="18" charset="0"/>
                <a:ea typeface="Open Sans" pitchFamily="34" charset="-122"/>
                <a:cs typeface="Times New Roman" panose="02020603050405020304" pitchFamily="18" charset="0"/>
              </a:rPr>
              <a:t>Prepared for: AMG Executive Team &amp; Board of Directors</a:t>
            </a:r>
            <a:endParaRPr lang="en-US" sz="1050" dirty="0">
              <a:latin typeface="Times New Roman" panose="02020603050405020304" pitchFamily="18" charset="0"/>
              <a:cs typeface="Times New Roman" panose="02020603050405020304" pitchFamily="18" charset="0"/>
            </a:endParaRPr>
          </a:p>
          <a:p>
            <a:pPr marL="0" indent="0" algn="l">
              <a:lnSpc>
                <a:spcPct val="130000"/>
              </a:lnSpc>
              <a:buNone/>
            </a:pPr>
            <a:r>
              <a:rPr lang="en-US" sz="1050" dirty="0">
                <a:solidFill>
                  <a:srgbClr val="6A8FAE"/>
                </a:solidFill>
                <a:latin typeface="Times New Roman" panose="02020603050405020304" pitchFamily="18" charset="0"/>
                <a:ea typeface="Open Sans" pitchFamily="34" charset="-122"/>
                <a:cs typeface="Times New Roman" panose="02020603050405020304" pitchFamily="18" charset="0"/>
              </a:rPr>
              <a:t>May 2026 </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2">
            <a:extLst>
              <a:ext uri="{FF2B5EF4-FFF2-40B4-BE49-F238E27FC236}">
                <a16:creationId xmlns:a16="http://schemas.microsoft.com/office/drawing/2014/main" id="{8F3550B4-92A5-185E-059F-2E1A268756FE}"/>
              </a:ext>
            </a:extLst>
          </p:cNvPr>
          <p:cNvSpPr/>
          <p:nvPr/>
        </p:nvSpPr>
        <p:spPr>
          <a:xfrm>
            <a:off x="376543" y="367066"/>
            <a:ext cx="6148090" cy="310083"/>
          </a:xfrm>
          <a:prstGeom prst="rect">
            <a:avLst/>
          </a:prstGeom>
          <a:noFill/>
          <a:ln/>
        </p:spPr>
        <p:txBody>
          <a:bodyPr wrap="none" lIns="0" tIns="0" rIns="0" bIns="0" rtlCol="0" anchor="t"/>
          <a:lstStyle/>
          <a:p>
            <a:pPr marL="0" indent="0" algn="l">
              <a:lnSpc>
                <a:spcPct val="104000"/>
              </a:lnSpc>
              <a:buNone/>
            </a:pPr>
            <a:r>
              <a:rPr lang="en-US" sz="3200" dirty="0">
                <a:solidFill>
                  <a:srgbClr val="403CCF"/>
                </a:solidFill>
                <a:latin typeface="Times New Roman" panose="02020603050405020304" pitchFamily="18" charset="0"/>
                <a:ea typeface="Libre Baskerville" pitchFamily="34" charset="-122"/>
                <a:cs typeface="Times New Roman" panose="02020603050405020304" pitchFamily="18" charset="0"/>
              </a:rPr>
              <a:t>What is Enterprise Resource Planning (ERP)?</a:t>
            </a:r>
            <a:endParaRPr lang="en-US" sz="3200" dirty="0">
              <a:latin typeface="Times New Roman" panose="02020603050405020304" pitchFamily="18" charset="0"/>
              <a:cs typeface="Times New Roman" panose="02020603050405020304" pitchFamily="18" charset="0"/>
            </a:endParaRPr>
          </a:p>
        </p:txBody>
      </p:sp>
      <p:sp>
        <p:nvSpPr>
          <p:cNvPr id="7" name="Text 3">
            <a:extLst>
              <a:ext uri="{FF2B5EF4-FFF2-40B4-BE49-F238E27FC236}">
                <a16:creationId xmlns:a16="http://schemas.microsoft.com/office/drawing/2014/main" id="{49898DAA-87E6-0ABF-9FCD-F090815A5AB9}"/>
              </a:ext>
            </a:extLst>
          </p:cNvPr>
          <p:cNvSpPr/>
          <p:nvPr/>
        </p:nvSpPr>
        <p:spPr>
          <a:xfrm>
            <a:off x="496118" y="936647"/>
            <a:ext cx="8151763" cy="269974"/>
          </a:xfrm>
          <a:prstGeom prst="rect">
            <a:avLst/>
          </a:prstGeom>
          <a:noFill/>
          <a:ln/>
        </p:spPr>
        <p:txBody>
          <a:bodyPr wrap="square" lIns="0" tIns="0" rIns="0" bIns="0" rtlCol="0" anchor="t">
            <a:noAutofit/>
          </a:bodyPr>
          <a:lstStyle/>
          <a:p>
            <a:pPr marL="0" indent="0" algn="l">
              <a:lnSpc>
                <a:spcPct val="113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Enterprise Resource Planning (ERP) is a type of software system that helps organizations manage and integrate their core business processes in one central platform. It allows departments such as finance, human resources, inventory, sales, procurement, and customer service to share data and work together efficiently. Some Benefits include;    </a:t>
            </a:r>
            <a:endParaRPr lang="en-US" sz="1050" dirty="0">
              <a:latin typeface="Times New Roman" panose="02020603050405020304" pitchFamily="18" charset="0"/>
              <a:cs typeface="Times New Roman" panose="02020603050405020304" pitchFamily="18" charset="0"/>
            </a:endParaRPr>
          </a:p>
        </p:txBody>
      </p:sp>
      <p:sp>
        <p:nvSpPr>
          <p:cNvPr id="9" name="Text 4">
            <a:extLst>
              <a:ext uri="{FF2B5EF4-FFF2-40B4-BE49-F238E27FC236}">
                <a16:creationId xmlns:a16="http://schemas.microsoft.com/office/drawing/2014/main" id="{DA5AB576-00FE-4AF1-D491-BF9DE87CA895}"/>
              </a:ext>
            </a:extLst>
          </p:cNvPr>
          <p:cNvSpPr/>
          <p:nvPr/>
        </p:nvSpPr>
        <p:spPr>
          <a:xfrm>
            <a:off x="496119" y="1844055"/>
            <a:ext cx="1287661" cy="155004"/>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Times New Roman" panose="02020603050405020304" pitchFamily="18" charset="0"/>
                <a:ea typeface="Libre Baskerville" pitchFamily="34" charset="-122"/>
                <a:cs typeface="Times New Roman" panose="02020603050405020304" pitchFamily="18" charset="0"/>
              </a:rPr>
              <a:t>Improves Efficiency</a:t>
            </a:r>
            <a:endParaRPr lang="en-US" sz="1200" dirty="0">
              <a:latin typeface="Times New Roman" panose="02020603050405020304" pitchFamily="18" charset="0"/>
              <a:cs typeface="Times New Roman" panose="02020603050405020304" pitchFamily="18" charset="0"/>
            </a:endParaRPr>
          </a:p>
        </p:txBody>
      </p:sp>
      <p:sp>
        <p:nvSpPr>
          <p:cNvPr id="10" name="Text 5">
            <a:extLst>
              <a:ext uri="{FF2B5EF4-FFF2-40B4-BE49-F238E27FC236}">
                <a16:creationId xmlns:a16="http://schemas.microsoft.com/office/drawing/2014/main" id="{6201924D-A6B5-C755-E4E7-CDF4277A6095}"/>
              </a:ext>
            </a:extLst>
          </p:cNvPr>
          <p:cNvSpPr/>
          <p:nvPr/>
        </p:nvSpPr>
        <p:spPr>
          <a:xfrm>
            <a:off x="496119" y="2040731"/>
            <a:ext cx="4032498" cy="134987"/>
          </a:xfrm>
          <a:prstGeom prst="rect">
            <a:avLst/>
          </a:prstGeom>
          <a:noFill/>
          <a:ln/>
        </p:spPr>
        <p:txBody>
          <a:bodyPr wrap="none" lIns="0" tIns="0" rIns="0" bIns="0" rtlCol="0" anchor="t"/>
          <a:lstStyle/>
          <a:p>
            <a:pPr marL="0" indent="0" algn="l">
              <a:lnSpc>
                <a:spcPct val="113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Streamlines operations and automates routine tasks.</a:t>
            </a:r>
            <a:endParaRPr lang="en-US" sz="1050" dirty="0">
              <a:latin typeface="Times New Roman" panose="02020603050405020304" pitchFamily="18" charset="0"/>
              <a:cs typeface="Times New Roman" panose="02020603050405020304" pitchFamily="18" charset="0"/>
            </a:endParaRPr>
          </a:p>
        </p:txBody>
      </p:sp>
      <p:sp>
        <p:nvSpPr>
          <p:cNvPr id="12" name="Text 6">
            <a:extLst>
              <a:ext uri="{FF2B5EF4-FFF2-40B4-BE49-F238E27FC236}">
                <a16:creationId xmlns:a16="http://schemas.microsoft.com/office/drawing/2014/main" id="{88978AB6-C75B-B49E-5CEC-152FC4D11038}"/>
              </a:ext>
            </a:extLst>
          </p:cNvPr>
          <p:cNvSpPr/>
          <p:nvPr/>
        </p:nvSpPr>
        <p:spPr>
          <a:xfrm>
            <a:off x="4615383" y="1844055"/>
            <a:ext cx="1240408" cy="155004"/>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Times New Roman" panose="02020603050405020304" pitchFamily="18" charset="0"/>
                <a:ea typeface="Libre Baskerville" pitchFamily="34" charset="-122"/>
                <a:cs typeface="Times New Roman" panose="02020603050405020304" pitchFamily="18" charset="0"/>
              </a:rPr>
              <a:t>Centralizes Data</a:t>
            </a:r>
            <a:endParaRPr lang="en-US" sz="1200" dirty="0">
              <a:latin typeface="Times New Roman" panose="02020603050405020304" pitchFamily="18" charset="0"/>
              <a:cs typeface="Times New Roman" panose="02020603050405020304" pitchFamily="18" charset="0"/>
            </a:endParaRPr>
          </a:p>
        </p:txBody>
      </p:sp>
      <p:sp>
        <p:nvSpPr>
          <p:cNvPr id="13" name="Text 7">
            <a:extLst>
              <a:ext uri="{FF2B5EF4-FFF2-40B4-BE49-F238E27FC236}">
                <a16:creationId xmlns:a16="http://schemas.microsoft.com/office/drawing/2014/main" id="{C2247059-3B7B-E52E-029F-5E11908F5B10}"/>
              </a:ext>
            </a:extLst>
          </p:cNvPr>
          <p:cNvSpPr/>
          <p:nvPr/>
        </p:nvSpPr>
        <p:spPr>
          <a:xfrm>
            <a:off x="4615383" y="2040731"/>
            <a:ext cx="4032498" cy="134987"/>
          </a:xfrm>
          <a:prstGeom prst="rect">
            <a:avLst/>
          </a:prstGeom>
          <a:noFill/>
          <a:ln/>
        </p:spPr>
        <p:txBody>
          <a:bodyPr wrap="none" lIns="0" tIns="0" rIns="0" bIns="0" rtlCol="0" anchor="t"/>
          <a:lstStyle/>
          <a:p>
            <a:pPr marL="0" indent="0" algn="l">
              <a:lnSpc>
                <a:spcPct val="113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Provides a single source of truth for all business information.</a:t>
            </a:r>
            <a:endParaRPr lang="en-US" sz="1050" dirty="0">
              <a:latin typeface="Times New Roman" panose="02020603050405020304" pitchFamily="18" charset="0"/>
              <a:cs typeface="Times New Roman" panose="02020603050405020304" pitchFamily="18" charset="0"/>
            </a:endParaRPr>
          </a:p>
        </p:txBody>
      </p:sp>
      <p:sp>
        <p:nvSpPr>
          <p:cNvPr id="15" name="Text 8">
            <a:extLst>
              <a:ext uri="{FF2B5EF4-FFF2-40B4-BE49-F238E27FC236}">
                <a16:creationId xmlns:a16="http://schemas.microsoft.com/office/drawing/2014/main" id="{B3123E8C-5ABF-3139-EF98-4E70679D5D30}"/>
              </a:ext>
            </a:extLst>
          </p:cNvPr>
          <p:cNvSpPr/>
          <p:nvPr/>
        </p:nvSpPr>
        <p:spPr>
          <a:xfrm>
            <a:off x="496119" y="2649438"/>
            <a:ext cx="1692250" cy="155004"/>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Times New Roman" panose="02020603050405020304" pitchFamily="18" charset="0"/>
                <a:ea typeface="Libre Baskerville" pitchFamily="34" charset="-122"/>
                <a:cs typeface="Times New Roman" panose="02020603050405020304" pitchFamily="18" charset="0"/>
              </a:rPr>
              <a:t>Enhances Communication</a:t>
            </a:r>
            <a:endParaRPr lang="en-US" sz="1200" dirty="0">
              <a:latin typeface="Times New Roman" panose="02020603050405020304" pitchFamily="18" charset="0"/>
              <a:cs typeface="Times New Roman" panose="02020603050405020304" pitchFamily="18" charset="0"/>
            </a:endParaRPr>
          </a:p>
        </p:txBody>
      </p:sp>
      <p:sp>
        <p:nvSpPr>
          <p:cNvPr id="16" name="Text 9">
            <a:extLst>
              <a:ext uri="{FF2B5EF4-FFF2-40B4-BE49-F238E27FC236}">
                <a16:creationId xmlns:a16="http://schemas.microsoft.com/office/drawing/2014/main" id="{CB39CB05-0F6D-CAE1-73CA-128548660C90}"/>
              </a:ext>
            </a:extLst>
          </p:cNvPr>
          <p:cNvSpPr/>
          <p:nvPr/>
        </p:nvSpPr>
        <p:spPr>
          <a:xfrm>
            <a:off x="496119" y="2846115"/>
            <a:ext cx="4032498" cy="134987"/>
          </a:xfrm>
          <a:prstGeom prst="rect">
            <a:avLst/>
          </a:prstGeom>
          <a:noFill/>
          <a:ln/>
        </p:spPr>
        <p:txBody>
          <a:bodyPr wrap="none" lIns="0" tIns="0" rIns="0" bIns="0" rtlCol="0" anchor="t"/>
          <a:lstStyle/>
          <a:p>
            <a:pPr marL="0" indent="0" algn="l">
              <a:lnSpc>
                <a:spcPct val="113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Fosters seamless information exchange across departments.</a:t>
            </a:r>
            <a:endParaRPr lang="en-US" sz="1050" dirty="0">
              <a:latin typeface="Times New Roman" panose="02020603050405020304" pitchFamily="18" charset="0"/>
              <a:cs typeface="Times New Roman" panose="02020603050405020304" pitchFamily="18" charset="0"/>
            </a:endParaRPr>
          </a:p>
        </p:txBody>
      </p:sp>
      <p:sp>
        <p:nvSpPr>
          <p:cNvPr id="18" name="Text 10">
            <a:extLst>
              <a:ext uri="{FF2B5EF4-FFF2-40B4-BE49-F238E27FC236}">
                <a16:creationId xmlns:a16="http://schemas.microsoft.com/office/drawing/2014/main" id="{38E12360-4995-301B-E054-3C601D3F8651}"/>
              </a:ext>
            </a:extLst>
          </p:cNvPr>
          <p:cNvSpPr/>
          <p:nvPr/>
        </p:nvSpPr>
        <p:spPr>
          <a:xfrm>
            <a:off x="4615383" y="2649438"/>
            <a:ext cx="2125340" cy="155004"/>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Times New Roman" panose="02020603050405020304" pitchFamily="18" charset="0"/>
                <a:ea typeface="Libre Baskerville" pitchFamily="34" charset="-122"/>
                <a:cs typeface="Times New Roman" panose="02020603050405020304" pitchFamily="18" charset="0"/>
              </a:rPr>
              <a:t>Supports Better Decision-Making</a:t>
            </a:r>
            <a:endParaRPr lang="en-US" sz="1200" dirty="0">
              <a:latin typeface="Times New Roman" panose="02020603050405020304" pitchFamily="18" charset="0"/>
              <a:cs typeface="Times New Roman" panose="02020603050405020304" pitchFamily="18" charset="0"/>
            </a:endParaRPr>
          </a:p>
        </p:txBody>
      </p:sp>
      <p:sp>
        <p:nvSpPr>
          <p:cNvPr id="19" name="Text 11">
            <a:extLst>
              <a:ext uri="{FF2B5EF4-FFF2-40B4-BE49-F238E27FC236}">
                <a16:creationId xmlns:a16="http://schemas.microsoft.com/office/drawing/2014/main" id="{CD665AE2-7412-95F7-4EB1-B6E0433E28D0}"/>
              </a:ext>
            </a:extLst>
          </p:cNvPr>
          <p:cNvSpPr/>
          <p:nvPr/>
        </p:nvSpPr>
        <p:spPr>
          <a:xfrm>
            <a:off x="4615383" y="2846115"/>
            <a:ext cx="4032498" cy="134987"/>
          </a:xfrm>
          <a:prstGeom prst="rect">
            <a:avLst/>
          </a:prstGeom>
          <a:noFill/>
          <a:ln/>
        </p:spPr>
        <p:txBody>
          <a:bodyPr wrap="none" lIns="0" tIns="0" rIns="0" bIns="0" rtlCol="0" anchor="t"/>
          <a:lstStyle/>
          <a:p>
            <a:pPr marL="0" indent="0" algn="l">
              <a:lnSpc>
                <a:spcPct val="113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Offers real-time insights for informed strategic choices.</a:t>
            </a:r>
            <a:endParaRPr lang="en-US" sz="1050" dirty="0">
              <a:latin typeface="Times New Roman" panose="02020603050405020304" pitchFamily="18" charset="0"/>
              <a:cs typeface="Times New Roman" panose="02020603050405020304" pitchFamily="18" charset="0"/>
            </a:endParaRPr>
          </a:p>
        </p:txBody>
      </p:sp>
      <p:sp>
        <p:nvSpPr>
          <p:cNvPr id="21" name="Text 12">
            <a:extLst>
              <a:ext uri="{FF2B5EF4-FFF2-40B4-BE49-F238E27FC236}">
                <a16:creationId xmlns:a16="http://schemas.microsoft.com/office/drawing/2014/main" id="{111AC13D-AA96-CDE7-B3AF-E5F415BC943E}"/>
              </a:ext>
            </a:extLst>
          </p:cNvPr>
          <p:cNvSpPr/>
          <p:nvPr/>
        </p:nvSpPr>
        <p:spPr>
          <a:xfrm>
            <a:off x="496119" y="3454822"/>
            <a:ext cx="1409774" cy="155004"/>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Times New Roman" panose="02020603050405020304" pitchFamily="18" charset="0"/>
                <a:ea typeface="Libre Baskerville" pitchFamily="34" charset="-122"/>
                <a:cs typeface="Times New Roman" panose="02020603050405020304" pitchFamily="18" charset="0"/>
              </a:rPr>
              <a:t>Increases Productivity</a:t>
            </a:r>
            <a:endParaRPr lang="en-US" sz="1200" dirty="0">
              <a:latin typeface="Times New Roman" panose="02020603050405020304" pitchFamily="18" charset="0"/>
              <a:cs typeface="Times New Roman" panose="02020603050405020304" pitchFamily="18" charset="0"/>
            </a:endParaRPr>
          </a:p>
        </p:txBody>
      </p:sp>
      <p:sp>
        <p:nvSpPr>
          <p:cNvPr id="22" name="Text 13">
            <a:extLst>
              <a:ext uri="{FF2B5EF4-FFF2-40B4-BE49-F238E27FC236}">
                <a16:creationId xmlns:a16="http://schemas.microsoft.com/office/drawing/2014/main" id="{CD328D76-7109-8063-D4AC-0E9793DD5F37}"/>
              </a:ext>
            </a:extLst>
          </p:cNvPr>
          <p:cNvSpPr/>
          <p:nvPr/>
        </p:nvSpPr>
        <p:spPr>
          <a:xfrm>
            <a:off x="496119" y="3651498"/>
            <a:ext cx="4032498" cy="134987"/>
          </a:xfrm>
          <a:prstGeom prst="rect">
            <a:avLst/>
          </a:prstGeom>
          <a:noFill/>
          <a:ln/>
        </p:spPr>
        <p:txBody>
          <a:bodyPr wrap="none" lIns="0" tIns="0" rIns="0" bIns="0" rtlCol="0" anchor="t"/>
          <a:lstStyle/>
          <a:p>
            <a:pPr marL="0" indent="0" algn="l">
              <a:lnSpc>
                <a:spcPct val="113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Empowers employees to focus on value-added activities.</a:t>
            </a:r>
            <a:endParaRPr lang="en-US" sz="1050" dirty="0">
              <a:latin typeface="Times New Roman" panose="02020603050405020304" pitchFamily="18" charset="0"/>
              <a:cs typeface="Times New Roman" panose="02020603050405020304" pitchFamily="18" charset="0"/>
            </a:endParaRPr>
          </a:p>
        </p:txBody>
      </p:sp>
      <p:sp>
        <p:nvSpPr>
          <p:cNvPr id="24" name="Text 14">
            <a:extLst>
              <a:ext uri="{FF2B5EF4-FFF2-40B4-BE49-F238E27FC236}">
                <a16:creationId xmlns:a16="http://schemas.microsoft.com/office/drawing/2014/main" id="{FB665849-EF54-7663-1F90-1F8F38FA9818}"/>
              </a:ext>
            </a:extLst>
          </p:cNvPr>
          <p:cNvSpPr/>
          <p:nvPr/>
        </p:nvSpPr>
        <p:spPr>
          <a:xfrm>
            <a:off x="4615383" y="3454822"/>
            <a:ext cx="1768673" cy="155004"/>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Times New Roman" panose="02020603050405020304" pitchFamily="18" charset="0"/>
                <a:ea typeface="Libre Baskerville" pitchFamily="34" charset="-122"/>
                <a:cs typeface="Times New Roman" panose="02020603050405020304" pitchFamily="18" charset="0"/>
              </a:rPr>
              <a:t>Improves Customer Service</a:t>
            </a:r>
            <a:endParaRPr lang="en-US" sz="1200" dirty="0">
              <a:latin typeface="Times New Roman" panose="02020603050405020304" pitchFamily="18" charset="0"/>
              <a:cs typeface="Times New Roman" panose="02020603050405020304" pitchFamily="18" charset="0"/>
            </a:endParaRPr>
          </a:p>
        </p:txBody>
      </p:sp>
      <p:sp>
        <p:nvSpPr>
          <p:cNvPr id="25" name="Text 15">
            <a:extLst>
              <a:ext uri="{FF2B5EF4-FFF2-40B4-BE49-F238E27FC236}">
                <a16:creationId xmlns:a16="http://schemas.microsoft.com/office/drawing/2014/main" id="{0D30E7BE-D034-BB40-457E-A990B72C94DD}"/>
              </a:ext>
            </a:extLst>
          </p:cNvPr>
          <p:cNvSpPr/>
          <p:nvPr/>
        </p:nvSpPr>
        <p:spPr>
          <a:xfrm>
            <a:off x="4615383" y="3651498"/>
            <a:ext cx="4032498" cy="134987"/>
          </a:xfrm>
          <a:prstGeom prst="rect">
            <a:avLst/>
          </a:prstGeom>
          <a:noFill/>
          <a:ln/>
        </p:spPr>
        <p:txBody>
          <a:bodyPr wrap="none" lIns="0" tIns="0" rIns="0" bIns="0" rtlCol="0" anchor="t"/>
          <a:lstStyle/>
          <a:p>
            <a:pPr marL="0" indent="0" algn="l">
              <a:lnSpc>
                <a:spcPct val="113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Enables faster responses and personalized interactions.</a:t>
            </a:r>
            <a:endParaRPr lang="en-US" sz="1050" dirty="0">
              <a:latin typeface="Times New Roman" panose="02020603050405020304" pitchFamily="18" charset="0"/>
              <a:cs typeface="Times New Roman" panose="02020603050405020304" pitchFamily="18" charset="0"/>
            </a:endParaRPr>
          </a:p>
        </p:txBody>
      </p:sp>
      <p:sp>
        <p:nvSpPr>
          <p:cNvPr id="27" name="Text 16">
            <a:extLst>
              <a:ext uri="{FF2B5EF4-FFF2-40B4-BE49-F238E27FC236}">
                <a16:creationId xmlns:a16="http://schemas.microsoft.com/office/drawing/2014/main" id="{07A9F48D-F580-848A-1807-BE7C4C723FAB}"/>
              </a:ext>
            </a:extLst>
          </p:cNvPr>
          <p:cNvSpPr/>
          <p:nvPr/>
        </p:nvSpPr>
        <p:spPr>
          <a:xfrm>
            <a:off x="496119" y="4260205"/>
            <a:ext cx="1323231" cy="155004"/>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Times New Roman" panose="02020603050405020304" pitchFamily="18" charset="0"/>
                <a:ea typeface="Libre Baskerville" pitchFamily="34" charset="-122"/>
                <a:cs typeface="Times New Roman" panose="02020603050405020304" pitchFamily="18" charset="0"/>
              </a:rPr>
              <a:t>Strengthens Security</a:t>
            </a:r>
            <a:endParaRPr lang="en-US" sz="1200" dirty="0">
              <a:latin typeface="Times New Roman" panose="02020603050405020304" pitchFamily="18" charset="0"/>
              <a:cs typeface="Times New Roman" panose="02020603050405020304" pitchFamily="18" charset="0"/>
            </a:endParaRPr>
          </a:p>
        </p:txBody>
      </p:sp>
      <p:sp>
        <p:nvSpPr>
          <p:cNvPr id="28" name="Text 17">
            <a:extLst>
              <a:ext uri="{FF2B5EF4-FFF2-40B4-BE49-F238E27FC236}">
                <a16:creationId xmlns:a16="http://schemas.microsoft.com/office/drawing/2014/main" id="{77B173C9-ABBC-2596-31FD-767F53E9FE4A}"/>
              </a:ext>
            </a:extLst>
          </p:cNvPr>
          <p:cNvSpPr/>
          <p:nvPr/>
        </p:nvSpPr>
        <p:spPr>
          <a:xfrm>
            <a:off x="496119" y="4456881"/>
            <a:ext cx="4032498" cy="134987"/>
          </a:xfrm>
          <a:prstGeom prst="rect">
            <a:avLst/>
          </a:prstGeom>
          <a:noFill/>
          <a:ln/>
        </p:spPr>
        <p:txBody>
          <a:bodyPr wrap="none" lIns="0" tIns="0" rIns="0" bIns="0" rtlCol="0" anchor="t"/>
          <a:lstStyle/>
          <a:p>
            <a:pPr marL="0" indent="0" algn="l">
              <a:lnSpc>
                <a:spcPct val="113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Protects sensitive data with robust access controls.</a:t>
            </a:r>
            <a:endParaRPr lang="en-US" sz="1050" dirty="0">
              <a:latin typeface="Times New Roman" panose="02020603050405020304" pitchFamily="18" charset="0"/>
              <a:cs typeface="Times New Roman" panose="02020603050405020304" pitchFamily="18" charset="0"/>
            </a:endParaRPr>
          </a:p>
        </p:txBody>
      </p:sp>
      <p:sp>
        <p:nvSpPr>
          <p:cNvPr id="30" name="Text 18">
            <a:extLst>
              <a:ext uri="{FF2B5EF4-FFF2-40B4-BE49-F238E27FC236}">
                <a16:creationId xmlns:a16="http://schemas.microsoft.com/office/drawing/2014/main" id="{F320AD5E-1CD0-ADDF-1262-0D0AB99E05EE}"/>
              </a:ext>
            </a:extLst>
          </p:cNvPr>
          <p:cNvSpPr/>
          <p:nvPr/>
        </p:nvSpPr>
        <p:spPr>
          <a:xfrm>
            <a:off x="4615383" y="4260205"/>
            <a:ext cx="1673051" cy="155004"/>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Times New Roman" panose="02020603050405020304" pitchFamily="18" charset="0"/>
                <a:ea typeface="Libre Baskerville" pitchFamily="34" charset="-122"/>
                <a:cs typeface="Times New Roman" panose="02020603050405020304" pitchFamily="18" charset="0"/>
              </a:rPr>
              <a:t>Supports Business Growth</a:t>
            </a:r>
            <a:endParaRPr lang="en-US" sz="1200" dirty="0">
              <a:latin typeface="Times New Roman" panose="02020603050405020304" pitchFamily="18" charset="0"/>
              <a:cs typeface="Times New Roman" panose="02020603050405020304" pitchFamily="18" charset="0"/>
            </a:endParaRPr>
          </a:p>
        </p:txBody>
      </p:sp>
      <p:sp>
        <p:nvSpPr>
          <p:cNvPr id="31" name="Text 19">
            <a:extLst>
              <a:ext uri="{FF2B5EF4-FFF2-40B4-BE49-F238E27FC236}">
                <a16:creationId xmlns:a16="http://schemas.microsoft.com/office/drawing/2014/main" id="{DE716DFD-2E12-748C-C009-132D6F792BE9}"/>
              </a:ext>
            </a:extLst>
          </p:cNvPr>
          <p:cNvSpPr/>
          <p:nvPr/>
        </p:nvSpPr>
        <p:spPr>
          <a:xfrm>
            <a:off x="4615383" y="4456881"/>
            <a:ext cx="4032498" cy="134987"/>
          </a:xfrm>
          <a:prstGeom prst="rect">
            <a:avLst/>
          </a:prstGeom>
          <a:noFill/>
          <a:ln/>
        </p:spPr>
        <p:txBody>
          <a:bodyPr wrap="none" lIns="0" tIns="0" rIns="0" bIns="0" rtlCol="0" anchor="t"/>
          <a:lstStyle/>
          <a:p>
            <a:pPr marL="0" indent="0" algn="l">
              <a:lnSpc>
                <a:spcPct val="113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Scales with your organization and facilitates expansion.</a:t>
            </a:r>
            <a:endParaRPr lang="en-US" sz="1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4731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Text 2"/>
          <p:cNvSpPr/>
          <p:nvPr/>
        </p:nvSpPr>
        <p:spPr>
          <a:xfrm>
            <a:off x="496119" y="825103"/>
            <a:ext cx="7357393" cy="354360"/>
          </a:xfrm>
          <a:prstGeom prst="rect">
            <a:avLst/>
          </a:prstGeom>
          <a:noFill/>
          <a:ln/>
        </p:spPr>
        <p:txBody>
          <a:bodyPr wrap="none" lIns="0" tIns="0" rIns="0" bIns="0" rtlCol="0" anchor="t"/>
          <a:lstStyle/>
          <a:p>
            <a:pPr marL="0" indent="0" algn="l">
              <a:lnSpc>
                <a:spcPct val="104000"/>
              </a:lnSpc>
              <a:buNone/>
            </a:pPr>
            <a:r>
              <a:rPr lang="en-US" sz="2200" dirty="0">
                <a:solidFill>
                  <a:srgbClr val="403CCF"/>
                </a:solidFill>
                <a:latin typeface="Times New Roman" panose="02020603050405020304" pitchFamily="18" charset="0"/>
                <a:ea typeface="Libre Baskerville" pitchFamily="34" charset="-122"/>
                <a:cs typeface="Times New Roman" panose="02020603050405020304" pitchFamily="18" charset="0"/>
              </a:rPr>
              <a:t>What Happens When ERP Programs Go Wrong</a:t>
            </a:r>
            <a:endParaRPr lang="en-US" sz="2200" dirty="0">
              <a:latin typeface="Times New Roman" panose="02020603050405020304" pitchFamily="18" charset="0"/>
              <a:cs typeface="Times New Roman" panose="02020603050405020304" pitchFamily="18" charset="0"/>
            </a:endParaRPr>
          </a:p>
        </p:txBody>
      </p:sp>
      <p:sp>
        <p:nvSpPr>
          <p:cNvPr id="5" name="Shape 3"/>
          <p:cNvSpPr/>
          <p:nvPr/>
        </p:nvSpPr>
        <p:spPr>
          <a:xfrm>
            <a:off x="496119" y="1315492"/>
            <a:ext cx="8151763" cy="3005138"/>
          </a:xfrm>
          <a:prstGeom prst="roundRect">
            <a:avLst>
              <a:gd name="adj" fmla="val 566"/>
            </a:avLst>
          </a:prstGeom>
          <a:noFill/>
          <a:ln w="4763">
            <a:solidFill>
              <a:srgbClr val="000000">
                <a:alpha val="8000"/>
              </a:srgbClr>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sp>
        <p:nvSpPr>
          <p:cNvPr id="6" name="Shape 4"/>
          <p:cNvSpPr/>
          <p:nvPr/>
        </p:nvSpPr>
        <p:spPr>
          <a:xfrm>
            <a:off x="500881" y="1320254"/>
            <a:ext cx="8142238" cy="281583"/>
          </a:xfrm>
          <a:prstGeom prst="rect">
            <a:avLst/>
          </a:prstGeom>
          <a:solidFill>
            <a:srgbClr val="FFFFFF">
              <a:alpha val="4000"/>
            </a:srgbClr>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7" name="Text 5"/>
          <p:cNvSpPr/>
          <p:nvPr/>
        </p:nvSpPr>
        <p:spPr>
          <a:xfrm>
            <a:off x="614437" y="1379413"/>
            <a:ext cx="2263527" cy="163264"/>
          </a:xfrm>
          <a:prstGeom prst="rect">
            <a:avLst/>
          </a:prstGeom>
          <a:noFill/>
          <a:ln/>
        </p:spPr>
        <p:txBody>
          <a:bodyPr wrap="none" lIns="0" tIns="0" rIns="0" bIns="0" rtlCol="0" anchor="t"/>
          <a:lstStyle/>
          <a:p>
            <a:pPr marL="0" indent="0" algn="l">
              <a:lnSpc>
                <a:spcPct val="120000"/>
              </a:lnSpc>
              <a:buNone/>
            </a:pPr>
            <a:r>
              <a:rPr lang="en-US" sz="900" b="1" dirty="0">
                <a:solidFill>
                  <a:srgbClr val="49495A"/>
                </a:solidFill>
                <a:latin typeface="Times New Roman" panose="02020603050405020304" pitchFamily="18" charset="0"/>
                <a:ea typeface="Open Sans" pitchFamily="34" charset="-122"/>
                <a:cs typeface="Times New Roman" panose="02020603050405020304" pitchFamily="18" charset="0"/>
              </a:rPr>
              <a:t>Program</a:t>
            </a:r>
            <a:endParaRPr lang="en-US" sz="900" dirty="0">
              <a:latin typeface="Times New Roman" panose="02020603050405020304" pitchFamily="18" charset="0"/>
              <a:cs typeface="Times New Roman" panose="02020603050405020304" pitchFamily="18" charset="0"/>
            </a:endParaRPr>
          </a:p>
        </p:txBody>
      </p:sp>
      <p:sp>
        <p:nvSpPr>
          <p:cNvPr id="8" name="Text 6"/>
          <p:cNvSpPr/>
          <p:nvPr/>
        </p:nvSpPr>
        <p:spPr>
          <a:xfrm>
            <a:off x="2652340" y="1379413"/>
            <a:ext cx="2016844" cy="163264"/>
          </a:xfrm>
          <a:prstGeom prst="rect">
            <a:avLst/>
          </a:prstGeom>
          <a:noFill/>
          <a:ln/>
        </p:spPr>
        <p:txBody>
          <a:bodyPr wrap="none" lIns="0" tIns="0" rIns="0" bIns="0" rtlCol="0" anchor="t"/>
          <a:lstStyle/>
          <a:p>
            <a:pPr marL="0" indent="0" algn="l">
              <a:lnSpc>
                <a:spcPct val="120000"/>
              </a:lnSpc>
              <a:buNone/>
            </a:pPr>
            <a:r>
              <a:rPr lang="en-US" sz="900" b="1" dirty="0">
                <a:solidFill>
                  <a:srgbClr val="49495A"/>
                </a:solidFill>
                <a:latin typeface="Times New Roman" panose="02020603050405020304" pitchFamily="18" charset="0"/>
                <a:ea typeface="Open Sans" pitchFamily="34" charset="-122"/>
                <a:cs typeface="Times New Roman" panose="02020603050405020304" pitchFamily="18" charset="0"/>
              </a:rPr>
              <a:t>Cost Reality</a:t>
            </a:r>
            <a:endParaRPr lang="en-US" sz="900" dirty="0">
              <a:latin typeface="Times New Roman" panose="02020603050405020304" pitchFamily="18" charset="0"/>
              <a:cs typeface="Times New Roman" panose="02020603050405020304" pitchFamily="18" charset="0"/>
            </a:endParaRPr>
          </a:p>
        </p:txBody>
      </p:sp>
      <p:sp>
        <p:nvSpPr>
          <p:cNvPr id="9" name="Text 7"/>
          <p:cNvSpPr/>
          <p:nvPr/>
        </p:nvSpPr>
        <p:spPr>
          <a:xfrm>
            <a:off x="4443561" y="1379413"/>
            <a:ext cx="2505447" cy="163264"/>
          </a:xfrm>
          <a:prstGeom prst="rect">
            <a:avLst/>
          </a:prstGeom>
          <a:noFill/>
          <a:ln/>
        </p:spPr>
        <p:txBody>
          <a:bodyPr wrap="none" lIns="0" tIns="0" rIns="0" bIns="0" rtlCol="0" anchor="t"/>
          <a:lstStyle/>
          <a:p>
            <a:pPr marL="0" indent="0" algn="l">
              <a:lnSpc>
                <a:spcPct val="120000"/>
              </a:lnSpc>
              <a:buNone/>
            </a:pPr>
            <a:r>
              <a:rPr lang="en-US" sz="900" b="1" dirty="0">
                <a:solidFill>
                  <a:srgbClr val="49495A"/>
                </a:solidFill>
                <a:latin typeface="Times New Roman" panose="02020603050405020304" pitchFamily="18" charset="0"/>
                <a:ea typeface="Open Sans" pitchFamily="34" charset="-122"/>
                <a:cs typeface="Times New Roman" panose="02020603050405020304" pitchFamily="18" charset="0"/>
              </a:rPr>
              <a:t>Outcome</a:t>
            </a:r>
            <a:endParaRPr lang="en-US" sz="900" dirty="0">
              <a:latin typeface="Times New Roman" panose="02020603050405020304" pitchFamily="18" charset="0"/>
              <a:cs typeface="Times New Roman" panose="02020603050405020304" pitchFamily="18" charset="0"/>
            </a:endParaRPr>
          </a:p>
        </p:txBody>
      </p:sp>
      <p:sp>
        <p:nvSpPr>
          <p:cNvPr id="10" name="Text 8"/>
          <p:cNvSpPr/>
          <p:nvPr/>
        </p:nvSpPr>
        <p:spPr>
          <a:xfrm>
            <a:off x="6723385" y="1379413"/>
            <a:ext cx="2263527" cy="163264"/>
          </a:xfrm>
          <a:prstGeom prst="rect">
            <a:avLst/>
          </a:prstGeom>
          <a:noFill/>
          <a:ln/>
        </p:spPr>
        <p:txBody>
          <a:bodyPr wrap="none" lIns="0" tIns="0" rIns="0" bIns="0" rtlCol="0" anchor="t"/>
          <a:lstStyle/>
          <a:p>
            <a:pPr marL="0" indent="0" algn="l">
              <a:lnSpc>
                <a:spcPct val="120000"/>
              </a:lnSpc>
              <a:buNone/>
            </a:pPr>
            <a:r>
              <a:rPr lang="en-US" sz="900" b="1" dirty="0">
                <a:solidFill>
                  <a:srgbClr val="49495A"/>
                </a:solidFill>
                <a:latin typeface="Times New Roman" panose="02020603050405020304" pitchFamily="18" charset="0"/>
                <a:ea typeface="Open Sans" pitchFamily="34" charset="-122"/>
                <a:cs typeface="Times New Roman" panose="02020603050405020304" pitchFamily="18" charset="0"/>
              </a:rPr>
              <a:t>Lesson Learnt</a:t>
            </a:r>
            <a:endParaRPr lang="en-US" sz="900" dirty="0">
              <a:latin typeface="Times New Roman" panose="02020603050405020304" pitchFamily="18" charset="0"/>
              <a:cs typeface="Times New Roman" panose="02020603050405020304" pitchFamily="18" charset="0"/>
            </a:endParaRPr>
          </a:p>
        </p:txBody>
      </p:sp>
      <p:sp>
        <p:nvSpPr>
          <p:cNvPr id="11" name="Shape 9"/>
          <p:cNvSpPr/>
          <p:nvPr/>
        </p:nvSpPr>
        <p:spPr>
          <a:xfrm>
            <a:off x="500881" y="1601837"/>
            <a:ext cx="8142238" cy="608112"/>
          </a:xfrm>
          <a:prstGeom prst="rect">
            <a:avLst/>
          </a:prstGeom>
          <a:solidFill>
            <a:srgbClr val="000000">
              <a:alpha val="4000"/>
            </a:srgbClr>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12" name="Text 10"/>
          <p:cNvSpPr/>
          <p:nvPr/>
        </p:nvSpPr>
        <p:spPr>
          <a:xfrm>
            <a:off x="614437" y="1660996"/>
            <a:ext cx="2263527" cy="163264"/>
          </a:xfrm>
          <a:prstGeom prst="rect">
            <a:avLst/>
          </a:prstGeom>
          <a:noFill/>
          <a:ln/>
        </p:spPr>
        <p:txBody>
          <a:bodyPr wrap="none" lIns="0" tIns="0" rIns="0" bIns="0" rtlCol="0" anchor="t"/>
          <a:lstStyle/>
          <a:p>
            <a:pPr marL="0" indent="0" algn="l">
              <a:lnSpc>
                <a:spcPct val="120000"/>
              </a:lnSpc>
              <a:buNone/>
            </a:pPr>
            <a:r>
              <a:rPr lang="en-US" sz="900" b="1" dirty="0">
                <a:solidFill>
                  <a:srgbClr val="49495A"/>
                </a:solidFill>
                <a:latin typeface="Times New Roman" panose="02020603050405020304" pitchFamily="18" charset="0"/>
                <a:ea typeface="Open Sans" pitchFamily="34" charset="-122"/>
                <a:cs typeface="Times New Roman" panose="02020603050405020304" pitchFamily="18" charset="0"/>
              </a:rPr>
              <a:t>UK NHS — Lorenzo EHR</a:t>
            </a:r>
            <a:endParaRPr lang="en-US" sz="900" dirty="0">
              <a:latin typeface="Times New Roman" panose="02020603050405020304" pitchFamily="18" charset="0"/>
              <a:cs typeface="Times New Roman" panose="02020603050405020304" pitchFamily="18" charset="0"/>
            </a:endParaRPr>
          </a:p>
        </p:txBody>
      </p:sp>
      <p:sp>
        <p:nvSpPr>
          <p:cNvPr id="13" name="Text 11"/>
          <p:cNvSpPr/>
          <p:nvPr/>
        </p:nvSpPr>
        <p:spPr>
          <a:xfrm>
            <a:off x="2652340" y="1660996"/>
            <a:ext cx="1559644" cy="326529"/>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C0392B"/>
                </a:solidFill>
                <a:latin typeface="Times New Roman" panose="02020603050405020304" pitchFamily="18" charset="0"/>
                <a:ea typeface="Open Sans" pitchFamily="34" charset="-122"/>
                <a:cs typeface="Times New Roman" panose="02020603050405020304" pitchFamily="18" charset="0"/>
              </a:rPr>
              <a:t>Planned: £6.4B → Actual: £10B</a:t>
            </a:r>
            <a:endParaRPr lang="en-US" sz="900" dirty="0">
              <a:latin typeface="Times New Roman" panose="02020603050405020304" pitchFamily="18" charset="0"/>
              <a:cs typeface="Times New Roman" panose="02020603050405020304" pitchFamily="18" charset="0"/>
            </a:endParaRPr>
          </a:p>
        </p:txBody>
      </p:sp>
      <p:sp>
        <p:nvSpPr>
          <p:cNvPr id="14" name="Text 12"/>
          <p:cNvSpPr/>
          <p:nvPr/>
        </p:nvSpPr>
        <p:spPr>
          <a:xfrm>
            <a:off x="4443561" y="1660996"/>
            <a:ext cx="2048247" cy="326529"/>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9495A"/>
                </a:solidFill>
                <a:latin typeface="Times New Roman" panose="02020603050405020304" pitchFamily="18" charset="0"/>
                <a:ea typeface="Open Sans" pitchFamily="34" charset="-122"/>
                <a:cs typeface="Times New Roman" panose="02020603050405020304" pitchFamily="18" charset="0"/>
              </a:rPr>
              <a:t>Cancelled 2011. Limited results delivered.</a:t>
            </a:r>
            <a:endParaRPr lang="en-US" sz="900" dirty="0">
              <a:latin typeface="Times New Roman" panose="02020603050405020304" pitchFamily="18" charset="0"/>
              <a:cs typeface="Times New Roman" panose="02020603050405020304" pitchFamily="18" charset="0"/>
            </a:endParaRPr>
          </a:p>
        </p:txBody>
      </p:sp>
      <p:sp>
        <p:nvSpPr>
          <p:cNvPr id="15" name="Text 13"/>
          <p:cNvSpPr/>
          <p:nvPr/>
        </p:nvSpPr>
        <p:spPr>
          <a:xfrm>
            <a:off x="6723385" y="1660996"/>
            <a:ext cx="1806327" cy="489793"/>
          </a:xfrm>
          <a:prstGeom prst="rect">
            <a:avLst/>
          </a:prstGeom>
          <a:noFill/>
          <a:ln/>
        </p:spPr>
        <p:txBody>
          <a:bodyPr wrap="square" lIns="0" tIns="0" rIns="0" bIns="0" rtlCol="0" anchor="t">
            <a:normAutofit/>
          </a:bodyPr>
          <a:lstStyle/>
          <a:p>
            <a:pPr marL="0" indent="0" algn="l">
              <a:lnSpc>
                <a:spcPct val="120000"/>
              </a:lnSpc>
              <a:buNone/>
            </a:pPr>
            <a:r>
              <a:rPr lang="en-US" sz="900" i="1" dirty="0">
                <a:solidFill>
                  <a:srgbClr val="49495A"/>
                </a:solidFill>
                <a:latin typeface="Times New Roman" panose="02020603050405020304" pitchFamily="18" charset="0"/>
                <a:ea typeface="Open Sans" pitchFamily="34" charset="-122"/>
                <a:cs typeface="Times New Roman" panose="02020603050405020304" pitchFamily="18" charset="0"/>
              </a:rPr>
              <a:t>Scale amplifies mistakes; integration issues sink large programmes.</a:t>
            </a:r>
            <a:endParaRPr lang="en-US" sz="900" dirty="0">
              <a:latin typeface="Times New Roman" panose="02020603050405020304" pitchFamily="18" charset="0"/>
              <a:cs typeface="Times New Roman" panose="02020603050405020304" pitchFamily="18" charset="0"/>
            </a:endParaRPr>
          </a:p>
        </p:txBody>
      </p:sp>
      <p:sp>
        <p:nvSpPr>
          <p:cNvPr id="16" name="Shape 14"/>
          <p:cNvSpPr/>
          <p:nvPr/>
        </p:nvSpPr>
        <p:spPr>
          <a:xfrm>
            <a:off x="500881" y="2209949"/>
            <a:ext cx="8142238" cy="608112"/>
          </a:xfrm>
          <a:prstGeom prst="rect">
            <a:avLst/>
          </a:prstGeom>
          <a:solidFill>
            <a:srgbClr val="FFFFFF">
              <a:alpha val="4000"/>
            </a:srgbClr>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17" name="Text 15"/>
          <p:cNvSpPr/>
          <p:nvPr/>
        </p:nvSpPr>
        <p:spPr>
          <a:xfrm>
            <a:off x="614437" y="2269108"/>
            <a:ext cx="2263527" cy="163264"/>
          </a:xfrm>
          <a:prstGeom prst="rect">
            <a:avLst/>
          </a:prstGeom>
          <a:noFill/>
          <a:ln/>
        </p:spPr>
        <p:txBody>
          <a:bodyPr wrap="none" lIns="0" tIns="0" rIns="0" bIns="0" rtlCol="0" anchor="t"/>
          <a:lstStyle/>
          <a:p>
            <a:pPr marL="0" indent="0" algn="l">
              <a:lnSpc>
                <a:spcPct val="120000"/>
              </a:lnSpc>
              <a:buNone/>
            </a:pPr>
            <a:r>
              <a:rPr lang="en-US" sz="900" b="1" dirty="0">
                <a:solidFill>
                  <a:srgbClr val="49495A"/>
                </a:solidFill>
                <a:latin typeface="Times New Roman" panose="02020603050405020304" pitchFamily="18" charset="0"/>
                <a:ea typeface="Open Sans" pitchFamily="34" charset="-122"/>
                <a:cs typeface="Times New Roman" panose="02020603050405020304" pitchFamily="18" charset="0"/>
              </a:rPr>
              <a:t>Canada Phoenix Pay — Oracle</a:t>
            </a:r>
            <a:endParaRPr lang="en-US" sz="900" dirty="0">
              <a:latin typeface="Times New Roman" panose="02020603050405020304" pitchFamily="18" charset="0"/>
              <a:cs typeface="Times New Roman" panose="02020603050405020304" pitchFamily="18" charset="0"/>
            </a:endParaRPr>
          </a:p>
        </p:txBody>
      </p:sp>
      <p:sp>
        <p:nvSpPr>
          <p:cNvPr id="18" name="Text 16"/>
          <p:cNvSpPr/>
          <p:nvPr/>
        </p:nvSpPr>
        <p:spPr>
          <a:xfrm>
            <a:off x="2652340" y="2269108"/>
            <a:ext cx="2016844" cy="163264"/>
          </a:xfrm>
          <a:prstGeom prst="rect">
            <a:avLst/>
          </a:prstGeom>
          <a:noFill/>
          <a:ln/>
        </p:spPr>
        <p:txBody>
          <a:bodyPr wrap="none" lIns="0" tIns="0" rIns="0" bIns="0" rtlCol="0" anchor="t"/>
          <a:lstStyle/>
          <a:p>
            <a:pPr marL="0" indent="0" algn="l">
              <a:lnSpc>
                <a:spcPct val="120000"/>
              </a:lnSpc>
              <a:buNone/>
            </a:pPr>
            <a:r>
              <a:rPr lang="en-US" sz="900" dirty="0">
                <a:solidFill>
                  <a:srgbClr val="C0392B"/>
                </a:solidFill>
                <a:latin typeface="Times New Roman" panose="02020603050405020304" pitchFamily="18" charset="0"/>
                <a:ea typeface="Open Sans" pitchFamily="34" charset="-122"/>
                <a:cs typeface="Times New Roman" panose="02020603050405020304" pitchFamily="18" charset="0"/>
              </a:rPr>
              <a:t>Cost: $3.5B CAD and rising</a:t>
            </a:r>
            <a:endParaRPr lang="en-US" sz="900" dirty="0">
              <a:latin typeface="Times New Roman" panose="02020603050405020304" pitchFamily="18" charset="0"/>
              <a:cs typeface="Times New Roman" panose="02020603050405020304" pitchFamily="18" charset="0"/>
            </a:endParaRPr>
          </a:p>
        </p:txBody>
      </p:sp>
      <p:sp>
        <p:nvSpPr>
          <p:cNvPr id="19" name="Text 17"/>
          <p:cNvSpPr/>
          <p:nvPr/>
        </p:nvSpPr>
        <p:spPr>
          <a:xfrm>
            <a:off x="4443561" y="2269108"/>
            <a:ext cx="2048247" cy="326529"/>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9495A"/>
                </a:solidFill>
                <a:latin typeface="Times New Roman" panose="02020603050405020304" pitchFamily="18" charset="0"/>
                <a:ea typeface="Open Sans" pitchFamily="34" charset="-122"/>
                <a:cs typeface="Times New Roman" panose="02020603050405020304" pitchFamily="18" charset="0"/>
              </a:rPr>
              <a:t>Still not live. 80% of employees had payroll errors.</a:t>
            </a:r>
            <a:endParaRPr lang="en-US" sz="900" dirty="0">
              <a:latin typeface="Times New Roman" panose="02020603050405020304" pitchFamily="18" charset="0"/>
              <a:cs typeface="Times New Roman" panose="02020603050405020304" pitchFamily="18" charset="0"/>
            </a:endParaRPr>
          </a:p>
        </p:txBody>
      </p:sp>
      <p:sp>
        <p:nvSpPr>
          <p:cNvPr id="20" name="Text 18"/>
          <p:cNvSpPr/>
          <p:nvPr/>
        </p:nvSpPr>
        <p:spPr>
          <a:xfrm>
            <a:off x="6723385" y="2269108"/>
            <a:ext cx="1806327" cy="489793"/>
          </a:xfrm>
          <a:prstGeom prst="rect">
            <a:avLst/>
          </a:prstGeom>
          <a:noFill/>
          <a:ln/>
        </p:spPr>
        <p:txBody>
          <a:bodyPr wrap="square" lIns="0" tIns="0" rIns="0" bIns="0" rtlCol="0" anchor="t">
            <a:normAutofit/>
          </a:bodyPr>
          <a:lstStyle/>
          <a:p>
            <a:pPr marL="0" indent="0" algn="l">
              <a:lnSpc>
                <a:spcPct val="120000"/>
              </a:lnSpc>
              <a:buNone/>
            </a:pPr>
            <a:r>
              <a:rPr lang="en-US" sz="900" i="1" dirty="0">
                <a:solidFill>
                  <a:srgbClr val="49495A"/>
                </a:solidFill>
                <a:latin typeface="Times New Roman" panose="02020603050405020304" pitchFamily="18" charset="0"/>
                <a:ea typeface="Open Sans" pitchFamily="34" charset="-122"/>
                <a:cs typeface="Times New Roman" panose="02020603050405020304" pitchFamily="18" charset="0"/>
              </a:rPr>
              <a:t>Payroll modernisation requires meticulous testing; errors destroy trust.</a:t>
            </a:r>
            <a:endParaRPr lang="en-US" sz="900" dirty="0">
              <a:latin typeface="Times New Roman" panose="02020603050405020304" pitchFamily="18" charset="0"/>
              <a:cs typeface="Times New Roman" panose="02020603050405020304" pitchFamily="18" charset="0"/>
            </a:endParaRPr>
          </a:p>
        </p:txBody>
      </p:sp>
      <p:sp>
        <p:nvSpPr>
          <p:cNvPr id="21" name="Shape 19"/>
          <p:cNvSpPr/>
          <p:nvPr/>
        </p:nvSpPr>
        <p:spPr>
          <a:xfrm>
            <a:off x="500881" y="2818061"/>
            <a:ext cx="8142238" cy="444847"/>
          </a:xfrm>
          <a:prstGeom prst="rect">
            <a:avLst/>
          </a:prstGeom>
          <a:solidFill>
            <a:srgbClr val="000000">
              <a:alpha val="4000"/>
            </a:srgbClr>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22" name="Text 20"/>
          <p:cNvSpPr/>
          <p:nvPr/>
        </p:nvSpPr>
        <p:spPr>
          <a:xfrm>
            <a:off x="614437" y="2877220"/>
            <a:ext cx="2263527" cy="163264"/>
          </a:xfrm>
          <a:prstGeom prst="rect">
            <a:avLst/>
          </a:prstGeom>
          <a:noFill/>
          <a:ln/>
        </p:spPr>
        <p:txBody>
          <a:bodyPr wrap="none" lIns="0" tIns="0" rIns="0" bIns="0" rtlCol="0" anchor="t"/>
          <a:lstStyle/>
          <a:p>
            <a:pPr marL="0" indent="0" algn="l">
              <a:lnSpc>
                <a:spcPct val="120000"/>
              </a:lnSpc>
              <a:buNone/>
            </a:pPr>
            <a:r>
              <a:rPr lang="en-US" sz="900" b="1" dirty="0">
                <a:solidFill>
                  <a:srgbClr val="49495A"/>
                </a:solidFill>
                <a:latin typeface="Times New Roman" panose="02020603050405020304" pitchFamily="18" charset="0"/>
                <a:ea typeface="Open Sans" pitchFamily="34" charset="-122"/>
                <a:cs typeface="Times New Roman" panose="02020603050405020304" pitchFamily="18" charset="0"/>
              </a:rPr>
              <a:t>U.S. Virtual Fence — Boeing</a:t>
            </a:r>
            <a:endParaRPr lang="en-US" sz="900" dirty="0">
              <a:latin typeface="Times New Roman" panose="02020603050405020304" pitchFamily="18" charset="0"/>
              <a:cs typeface="Times New Roman" panose="02020603050405020304" pitchFamily="18" charset="0"/>
            </a:endParaRPr>
          </a:p>
        </p:txBody>
      </p:sp>
      <p:sp>
        <p:nvSpPr>
          <p:cNvPr id="23" name="Text 21"/>
          <p:cNvSpPr/>
          <p:nvPr/>
        </p:nvSpPr>
        <p:spPr>
          <a:xfrm>
            <a:off x="2652340" y="2877220"/>
            <a:ext cx="2016844" cy="163264"/>
          </a:xfrm>
          <a:prstGeom prst="rect">
            <a:avLst/>
          </a:prstGeom>
          <a:noFill/>
          <a:ln/>
        </p:spPr>
        <p:txBody>
          <a:bodyPr wrap="none" lIns="0" tIns="0" rIns="0" bIns="0" rtlCol="0" anchor="t"/>
          <a:lstStyle/>
          <a:p>
            <a:pPr marL="0" indent="0" algn="l">
              <a:lnSpc>
                <a:spcPct val="120000"/>
              </a:lnSpc>
              <a:buNone/>
            </a:pPr>
            <a:r>
              <a:rPr lang="en-US" sz="900" dirty="0">
                <a:solidFill>
                  <a:srgbClr val="C0392B"/>
                </a:solidFill>
                <a:latin typeface="Times New Roman" panose="02020603050405020304" pitchFamily="18" charset="0"/>
                <a:ea typeface="Open Sans" pitchFamily="34" charset="-122"/>
                <a:cs typeface="Times New Roman" panose="02020603050405020304" pitchFamily="18" charset="0"/>
              </a:rPr>
              <a:t>Cost: $1.4B for just 23 miles</a:t>
            </a:r>
            <a:endParaRPr lang="en-US" sz="900" dirty="0">
              <a:latin typeface="Times New Roman" panose="02020603050405020304" pitchFamily="18" charset="0"/>
              <a:cs typeface="Times New Roman" panose="02020603050405020304" pitchFamily="18" charset="0"/>
            </a:endParaRPr>
          </a:p>
        </p:txBody>
      </p:sp>
      <p:sp>
        <p:nvSpPr>
          <p:cNvPr id="24" name="Text 22"/>
          <p:cNvSpPr/>
          <p:nvPr/>
        </p:nvSpPr>
        <p:spPr>
          <a:xfrm>
            <a:off x="4443561" y="2877220"/>
            <a:ext cx="2048247" cy="326529"/>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9495A"/>
                </a:solidFill>
                <a:latin typeface="Times New Roman" panose="02020603050405020304" pitchFamily="18" charset="0"/>
                <a:ea typeface="Open Sans" pitchFamily="34" charset="-122"/>
                <a:cs typeface="Times New Roman" panose="02020603050405020304" pitchFamily="18" charset="0"/>
              </a:rPr>
              <a:t>Cancelled. Technology did not match operational reality.</a:t>
            </a:r>
            <a:endParaRPr lang="en-US" sz="900" dirty="0">
              <a:latin typeface="Times New Roman" panose="02020603050405020304" pitchFamily="18" charset="0"/>
              <a:cs typeface="Times New Roman" panose="02020603050405020304" pitchFamily="18" charset="0"/>
            </a:endParaRPr>
          </a:p>
        </p:txBody>
      </p:sp>
      <p:sp>
        <p:nvSpPr>
          <p:cNvPr id="25" name="Text 23"/>
          <p:cNvSpPr/>
          <p:nvPr/>
        </p:nvSpPr>
        <p:spPr>
          <a:xfrm>
            <a:off x="6723385" y="2877220"/>
            <a:ext cx="1806327" cy="326529"/>
          </a:xfrm>
          <a:prstGeom prst="rect">
            <a:avLst/>
          </a:prstGeom>
          <a:noFill/>
          <a:ln/>
        </p:spPr>
        <p:txBody>
          <a:bodyPr wrap="square" lIns="0" tIns="0" rIns="0" bIns="0" rtlCol="0" anchor="t">
            <a:normAutofit/>
          </a:bodyPr>
          <a:lstStyle/>
          <a:p>
            <a:pPr marL="0" indent="0" algn="l">
              <a:lnSpc>
                <a:spcPct val="120000"/>
              </a:lnSpc>
              <a:buNone/>
            </a:pPr>
            <a:r>
              <a:rPr lang="en-US" sz="900" i="1" dirty="0">
                <a:solidFill>
                  <a:srgbClr val="49495A"/>
                </a:solidFill>
                <a:latin typeface="Times New Roman" panose="02020603050405020304" pitchFamily="18" charset="0"/>
                <a:ea typeface="Open Sans" pitchFamily="34" charset="-122"/>
                <a:cs typeface="Times New Roman" panose="02020603050405020304" pitchFamily="18" charset="0"/>
              </a:rPr>
              <a:t>Technology must match the real-world environment it operates in.</a:t>
            </a:r>
            <a:endParaRPr lang="en-US" sz="900" dirty="0">
              <a:latin typeface="Times New Roman" panose="02020603050405020304" pitchFamily="18" charset="0"/>
              <a:cs typeface="Times New Roman" panose="02020603050405020304" pitchFamily="18" charset="0"/>
            </a:endParaRPr>
          </a:p>
        </p:txBody>
      </p:sp>
      <p:sp>
        <p:nvSpPr>
          <p:cNvPr id="26" name="Shape 24"/>
          <p:cNvSpPr/>
          <p:nvPr/>
        </p:nvSpPr>
        <p:spPr>
          <a:xfrm>
            <a:off x="500881" y="3262908"/>
            <a:ext cx="8142238" cy="608112"/>
          </a:xfrm>
          <a:prstGeom prst="rect">
            <a:avLst/>
          </a:prstGeom>
          <a:solidFill>
            <a:srgbClr val="FFFFFF">
              <a:alpha val="4000"/>
            </a:srgbClr>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27" name="Text 25"/>
          <p:cNvSpPr/>
          <p:nvPr/>
        </p:nvSpPr>
        <p:spPr>
          <a:xfrm>
            <a:off x="614437" y="3322067"/>
            <a:ext cx="2263527" cy="163264"/>
          </a:xfrm>
          <a:prstGeom prst="rect">
            <a:avLst/>
          </a:prstGeom>
          <a:noFill/>
          <a:ln/>
        </p:spPr>
        <p:txBody>
          <a:bodyPr wrap="none" lIns="0" tIns="0" rIns="0" bIns="0" rtlCol="0" anchor="t"/>
          <a:lstStyle/>
          <a:p>
            <a:pPr marL="0" indent="0" algn="l">
              <a:lnSpc>
                <a:spcPct val="120000"/>
              </a:lnSpc>
              <a:buNone/>
            </a:pPr>
            <a:r>
              <a:rPr lang="en-US" sz="900" b="1" dirty="0">
                <a:solidFill>
                  <a:srgbClr val="49495A"/>
                </a:solidFill>
                <a:latin typeface="Times New Roman" panose="02020603050405020304" pitchFamily="18" charset="0"/>
                <a:ea typeface="Open Sans" pitchFamily="34" charset="-122"/>
                <a:cs typeface="Times New Roman" panose="02020603050405020304" pitchFamily="18" charset="0"/>
              </a:rPr>
              <a:t>Queensland Health — SAP/IBM</a:t>
            </a:r>
            <a:endParaRPr lang="en-US" sz="900" dirty="0">
              <a:latin typeface="Times New Roman" panose="02020603050405020304" pitchFamily="18" charset="0"/>
              <a:cs typeface="Times New Roman" panose="02020603050405020304" pitchFamily="18" charset="0"/>
            </a:endParaRPr>
          </a:p>
        </p:txBody>
      </p:sp>
      <p:sp>
        <p:nvSpPr>
          <p:cNvPr id="28" name="Text 26"/>
          <p:cNvSpPr/>
          <p:nvPr/>
        </p:nvSpPr>
        <p:spPr>
          <a:xfrm>
            <a:off x="2652340" y="3322067"/>
            <a:ext cx="1559644" cy="326529"/>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C0392B"/>
                </a:solidFill>
                <a:latin typeface="Times New Roman" panose="02020603050405020304" pitchFamily="18" charset="0"/>
                <a:ea typeface="Open Sans" pitchFamily="34" charset="-122"/>
                <a:cs typeface="Times New Roman" panose="02020603050405020304" pitchFamily="18" charset="0"/>
              </a:rPr>
              <a:t>Planned: $6M AUD → Actual: $1.2B AUD</a:t>
            </a:r>
            <a:endParaRPr lang="en-US" sz="900" dirty="0">
              <a:latin typeface="Times New Roman" panose="02020603050405020304" pitchFamily="18" charset="0"/>
              <a:cs typeface="Times New Roman" panose="02020603050405020304" pitchFamily="18" charset="0"/>
            </a:endParaRPr>
          </a:p>
        </p:txBody>
      </p:sp>
      <p:sp>
        <p:nvSpPr>
          <p:cNvPr id="29" name="Text 27"/>
          <p:cNvSpPr/>
          <p:nvPr/>
        </p:nvSpPr>
        <p:spPr>
          <a:xfrm>
            <a:off x="4443561" y="3322067"/>
            <a:ext cx="2048247" cy="326529"/>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9495A"/>
                </a:solidFill>
                <a:latin typeface="Times New Roman" panose="02020603050405020304" pitchFamily="18" charset="0"/>
                <a:ea typeface="Open Sans" pitchFamily="34" charset="-122"/>
                <a:cs typeface="Times New Roman" panose="02020603050405020304" pitchFamily="18" charset="0"/>
              </a:rPr>
              <a:t>Employees unpaid. Australia's worst IT investment.</a:t>
            </a:r>
            <a:endParaRPr lang="en-US" sz="900" dirty="0">
              <a:latin typeface="Times New Roman" panose="02020603050405020304" pitchFamily="18" charset="0"/>
              <a:cs typeface="Times New Roman" panose="02020603050405020304" pitchFamily="18" charset="0"/>
            </a:endParaRPr>
          </a:p>
        </p:txBody>
      </p:sp>
      <p:sp>
        <p:nvSpPr>
          <p:cNvPr id="30" name="Text 28"/>
          <p:cNvSpPr/>
          <p:nvPr/>
        </p:nvSpPr>
        <p:spPr>
          <a:xfrm>
            <a:off x="6723385" y="3322067"/>
            <a:ext cx="1806327" cy="489793"/>
          </a:xfrm>
          <a:prstGeom prst="rect">
            <a:avLst/>
          </a:prstGeom>
          <a:noFill/>
          <a:ln/>
        </p:spPr>
        <p:txBody>
          <a:bodyPr wrap="square" lIns="0" tIns="0" rIns="0" bIns="0" rtlCol="0" anchor="t">
            <a:normAutofit/>
          </a:bodyPr>
          <a:lstStyle/>
          <a:p>
            <a:pPr marL="0" indent="0" algn="l">
              <a:lnSpc>
                <a:spcPct val="120000"/>
              </a:lnSpc>
              <a:buNone/>
            </a:pPr>
            <a:r>
              <a:rPr lang="en-US" sz="900" i="1" dirty="0">
                <a:solidFill>
                  <a:srgbClr val="49495A"/>
                </a:solidFill>
                <a:latin typeface="Times New Roman" panose="02020603050405020304" pitchFamily="18" charset="0"/>
                <a:ea typeface="Open Sans" pitchFamily="34" charset="-122"/>
                <a:cs typeface="Times New Roman" panose="02020603050405020304" pitchFamily="18" charset="0"/>
              </a:rPr>
              <a:t>Excessive customisation and weak governance are a recipe for failure.</a:t>
            </a:r>
            <a:endParaRPr lang="en-US" sz="900" dirty="0">
              <a:latin typeface="Times New Roman" panose="02020603050405020304" pitchFamily="18" charset="0"/>
              <a:cs typeface="Times New Roman" panose="02020603050405020304" pitchFamily="18" charset="0"/>
            </a:endParaRPr>
          </a:p>
        </p:txBody>
      </p:sp>
      <p:sp>
        <p:nvSpPr>
          <p:cNvPr id="31" name="Shape 29"/>
          <p:cNvSpPr/>
          <p:nvPr/>
        </p:nvSpPr>
        <p:spPr>
          <a:xfrm>
            <a:off x="500881" y="3871020"/>
            <a:ext cx="8142238" cy="444847"/>
          </a:xfrm>
          <a:prstGeom prst="rect">
            <a:avLst/>
          </a:prstGeom>
          <a:solidFill>
            <a:srgbClr val="000000">
              <a:alpha val="4000"/>
            </a:srgbClr>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32" name="Text 30"/>
          <p:cNvSpPr/>
          <p:nvPr/>
        </p:nvSpPr>
        <p:spPr>
          <a:xfrm>
            <a:off x="614437" y="3930179"/>
            <a:ext cx="2263527" cy="163264"/>
          </a:xfrm>
          <a:prstGeom prst="rect">
            <a:avLst/>
          </a:prstGeom>
          <a:noFill/>
          <a:ln/>
        </p:spPr>
        <p:txBody>
          <a:bodyPr wrap="none" lIns="0" tIns="0" rIns="0" bIns="0" rtlCol="0" anchor="t"/>
          <a:lstStyle/>
          <a:p>
            <a:pPr marL="0" indent="0" algn="l">
              <a:lnSpc>
                <a:spcPct val="120000"/>
              </a:lnSpc>
              <a:buNone/>
            </a:pPr>
            <a:r>
              <a:rPr lang="en-US" sz="900" b="1" dirty="0">
                <a:solidFill>
                  <a:srgbClr val="49495A"/>
                </a:solidFill>
                <a:latin typeface="Times New Roman" panose="02020603050405020304" pitchFamily="18" charset="0"/>
                <a:ea typeface="Open Sans" pitchFamily="34" charset="-122"/>
                <a:cs typeface="Times New Roman" panose="02020603050405020304" pitchFamily="18" charset="0"/>
              </a:rPr>
              <a:t>U.S. Air Force — Oracle/CSC</a:t>
            </a:r>
            <a:endParaRPr lang="en-US" sz="900" dirty="0">
              <a:latin typeface="Times New Roman" panose="02020603050405020304" pitchFamily="18" charset="0"/>
              <a:cs typeface="Times New Roman" panose="02020603050405020304" pitchFamily="18" charset="0"/>
            </a:endParaRPr>
          </a:p>
        </p:txBody>
      </p:sp>
      <p:sp>
        <p:nvSpPr>
          <p:cNvPr id="33" name="Text 31"/>
          <p:cNvSpPr/>
          <p:nvPr/>
        </p:nvSpPr>
        <p:spPr>
          <a:xfrm>
            <a:off x="2652340" y="3930179"/>
            <a:ext cx="2016844" cy="163264"/>
          </a:xfrm>
          <a:prstGeom prst="rect">
            <a:avLst/>
          </a:prstGeom>
          <a:noFill/>
          <a:ln/>
        </p:spPr>
        <p:txBody>
          <a:bodyPr wrap="none" lIns="0" tIns="0" rIns="0" bIns="0" rtlCol="0" anchor="t"/>
          <a:lstStyle/>
          <a:p>
            <a:pPr marL="0" indent="0" algn="l">
              <a:lnSpc>
                <a:spcPct val="120000"/>
              </a:lnSpc>
              <a:buNone/>
            </a:pPr>
            <a:r>
              <a:rPr lang="en-US" sz="900" dirty="0">
                <a:solidFill>
                  <a:srgbClr val="C0392B"/>
                </a:solidFill>
                <a:latin typeface="Times New Roman" panose="02020603050405020304" pitchFamily="18" charset="0"/>
                <a:ea typeface="Open Sans" pitchFamily="34" charset="-122"/>
                <a:cs typeface="Times New Roman" panose="02020603050405020304" pitchFamily="18" charset="0"/>
              </a:rPr>
              <a:t>Cost: $1B+ over 7 years</a:t>
            </a:r>
            <a:endParaRPr lang="en-US" sz="900" dirty="0">
              <a:latin typeface="Times New Roman" panose="02020603050405020304" pitchFamily="18" charset="0"/>
              <a:cs typeface="Times New Roman" panose="02020603050405020304" pitchFamily="18" charset="0"/>
            </a:endParaRPr>
          </a:p>
        </p:txBody>
      </p:sp>
      <p:sp>
        <p:nvSpPr>
          <p:cNvPr id="34" name="Text 32"/>
          <p:cNvSpPr/>
          <p:nvPr/>
        </p:nvSpPr>
        <p:spPr>
          <a:xfrm>
            <a:off x="4443561" y="3930179"/>
            <a:ext cx="2048247" cy="326529"/>
          </a:xfrm>
          <a:prstGeom prst="rect">
            <a:avLst/>
          </a:prstGeom>
          <a:noFill/>
          <a:ln/>
        </p:spPr>
        <p:txBody>
          <a:bodyPr wrap="square" lIns="0" tIns="0" rIns="0" bIns="0" rtlCol="0" anchor="t">
            <a:normAutofit/>
          </a:bodyPr>
          <a:lstStyle/>
          <a:p>
            <a:pPr marL="0" indent="0" algn="l">
              <a:lnSpc>
                <a:spcPct val="120000"/>
              </a:lnSpc>
              <a:buNone/>
            </a:pPr>
            <a:r>
              <a:rPr lang="en-US" sz="900" dirty="0">
                <a:solidFill>
                  <a:srgbClr val="49495A"/>
                </a:solidFill>
                <a:latin typeface="Times New Roman" panose="02020603050405020304" pitchFamily="18" charset="0"/>
                <a:ea typeface="Open Sans" pitchFamily="34" charset="-122"/>
                <a:cs typeface="Times New Roman" panose="02020603050405020304" pitchFamily="18" charset="0"/>
              </a:rPr>
              <a:t>Never went live. Goal was to merge 240 systems into one.</a:t>
            </a:r>
            <a:endParaRPr lang="en-US" sz="900" dirty="0">
              <a:latin typeface="Times New Roman" panose="02020603050405020304" pitchFamily="18" charset="0"/>
              <a:cs typeface="Times New Roman" panose="02020603050405020304" pitchFamily="18" charset="0"/>
            </a:endParaRPr>
          </a:p>
        </p:txBody>
      </p:sp>
      <p:sp>
        <p:nvSpPr>
          <p:cNvPr id="35" name="Text 33"/>
          <p:cNvSpPr/>
          <p:nvPr/>
        </p:nvSpPr>
        <p:spPr>
          <a:xfrm>
            <a:off x="6723385" y="3930179"/>
            <a:ext cx="1806327" cy="326529"/>
          </a:xfrm>
          <a:prstGeom prst="rect">
            <a:avLst/>
          </a:prstGeom>
          <a:noFill/>
          <a:ln/>
        </p:spPr>
        <p:txBody>
          <a:bodyPr wrap="square" lIns="0" tIns="0" rIns="0" bIns="0" rtlCol="0" anchor="t">
            <a:normAutofit/>
          </a:bodyPr>
          <a:lstStyle/>
          <a:p>
            <a:pPr marL="0" indent="0" algn="l">
              <a:lnSpc>
                <a:spcPct val="120000"/>
              </a:lnSpc>
              <a:buNone/>
            </a:pPr>
            <a:r>
              <a:rPr lang="en-US" sz="900" i="1" dirty="0">
                <a:solidFill>
                  <a:srgbClr val="49495A"/>
                </a:solidFill>
                <a:latin typeface="Times New Roman" panose="02020603050405020304" pitchFamily="18" charset="0"/>
                <a:ea typeface="Open Sans" pitchFamily="34" charset="-122"/>
                <a:cs typeface="Times New Roman" panose="02020603050405020304" pitchFamily="18" charset="0"/>
              </a:rPr>
              <a:t>Unrealistic scope and no vendor accountability guarantee failure.</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2"/>
          <p:cNvSpPr/>
          <p:nvPr/>
        </p:nvSpPr>
        <p:spPr>
          <a:xfrm>
            <a:off x="480640" y="550962"/>
            <a:ext cx="5454848" cy="278904"/>
          </a:xfrm>
          <a:prstGeom prst="rect">
            <a:avLst/>
          </a:prstGeom>
          <a:noFill/>
          <a:ln/>
        </p:spPr>
        <p:txBody>
          <a:bodyPr wrap="none" lIns="0" tIns="0" rIns="0" bIns="0" rtlCol="0" anchor="t"/>
          <a:lstStyle/>
          <a:p>
            <a:pPr marL="0" indent="0" algn="l">
              <a:lnSpc>
                <a:spcPct val="104000"/>
              </a:lnSpc>
              <a:buNone/>
            </a:pPr>
            <a:r>
              <a:rPr lang="en-US" sz="1750" b="1" dirty="0">
                <a:solidFill>
                  <a:srgbClr val="403CCF"/>
                </a:solidFill>
                <a:latin typeface="Times New Roman" panose="02020603050405020304" pitchFamily="18" charset="0"/>
                <a:ea typeface="Libre Baskerville" pitchFamily="34" charset="-122"/>
                <a:cs typeface="Times New Roman" panose="02020603050405020304" pitchFamily="18" charset="0"/>
              </a:rPr>
              <a:t>Six Common Threads Behind Every Failure</a:t>
            </a:r>
            <a:endParaRPr lang="en-US" sz="1750" b="1" dirty="0">
              <a:latin typeface="Times New Roman" panose="02020603050405020304" pitchFamily="18" charset="0"/>
              <a:cs typeface="Times New Roman" panose="02020603050405020304" pitchFamily="18" charset="0"/>
            </a:endParaRPr>
          </a:p>
        </p:txBody>
      </p:sp>
      <p:sp>
        <p:nvSpPr>
          <p:cNvPr id="5" name="Shape 3"/>
          <p:cNvSpPr/>
          <p:nvPr/>
        </p:nvSpPr>
        <p:spPr>
          <a:xfrm>
            <a:off x="480640" y="914177"/>
            <a:ext cx="8182719" cy="535558"/>
          </a:xfrm>
          <a:prstGeom prst="roundRect">
            <a:avLst>
              <a:gd name="adj" fmla="val 2500"/>
            </a:avLst>
          </a:prstGeom>
          <a:solidFill>
            <a:srgbClr val="FBFAFF"/>
          </a:solidFill>
          <a:ln w="9525">
            <a:solidFill>
              <a:srgbClr val="D0CED9"/>
            </a:solidFill>
            <a:prstDash val="solid"/>
          </a:ln>
        </p:spPr>
        <p:txBody>
          <a:bodyPr/>
          <a:lstStyle/>
          <a:p>
            <a:endParaRPr lang="en-GH">
              <a:latin typeface="Times New Roman" panose="02020603050405020304" pitchFamily="18" charset="0"/>
              <a:cs typeface="Times New Roman" panose="02020603050405020304" pitchFamily="18" charset="0"/>
            </a:endParaRPr>
          </a:p>
        </p:txBody>
      </p:sp>
      <p:sp>
        <p:nvSpPr>
          <p:cNvPr id="6" name="Shape 4"/>
          <p:cNvSpPr/>
          <p:nvPr/>
        </p:nvSpPr>
        <p:spPr>
          <a:xfrm>
            <a:off x="490165" y="923702"/>
            <a:ext cx="357039" cy="516508"/>
          </a:xfrm>
          <a:prstGeom prst="roundRect">
            <a:avLst>
              <a:gd name="adj" fmla="val 549"/>
            </a:avLst>
          </a:prstGeom>
          <a:solidFill>
            <a:srgbClr val="EAE8F3"/>
          </a:solidFill>
          <a:ln/>
        </p:spPr>
        <p:txBody>
          <a:bodyPr/>
          <a:lstStyle/>
          <a:p>
            <a:endParaRPr lang="en-GH">
              <a:latin typeface="Times New Roman" panose="02020603050405020304" pitchFamily="18" charset="0"/>
              <a:cs typeface="Times New Roman" panose="02020603050405020304" pitchFamily="18" charset="0"/>
            </a:endParaRPr>
          </a:p>
        </p:txBody>
      </p:sp>
      <p:sp>
        <p:nvSpPr>
          <p:cNvPr id="7" name="Text 5"/>
          <p:cNvSpPr/>
          <p:nvPr/>
        </p:nvSpPr>
        <p:spPr>
          <a:xfrm>
            <a:off x="601712" y="1098277"/>
            <a:ext cx="133871" cy="167357"/>
          </a:xfrm>
          <a:prstGeom prst="rect">
            <a:avLst/>
          </a:prstGeom>
          <a:noFill/>
          <a:ln/>
        </p:spPr>
        <p:txBody>
          <a:bodyPr wrap="none" lIns="0" tIns="0" rIns="0" bIns="0" rtlCol="0" anchor="ctr"/>
          <a:lstStyle/>
          <a:p>
            <a:pPr marL="0" indent="0" algn="ctr">
              <a:lnSpc>
                <a:spcPct val="100000"/>
              </a:lnSpc>
              <a:buNone/>
            </a:pPr>
            <a:r>
              <a:rPr lang="en-US" sz="1400" dirty="0">
                <a:solidFill>
                  <a:srgbClr val="49495A"/>
                </a:solidFill>
                <a:latin typeface="Times New Roman" panose="02020603050405020304" pitchFamily="18" charset="0"/>
                <a:ea typeface="Libre Baskerville" pitchFamily="34" charset="-122"/>
                <a:cs typeface="Times New Roman" panose="02020603050405020304" pitchFamily="18" charset="0"/>
              </a:rPr>
              <a:t>1</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903387" y="1012924"/>
            <a:ext cx="1776412" cy="139526"/>
          </a:xfrm>
          <a:prstGeom prst="rect">
            <a:avLst/>
          </a:prstGeom>
          <a:noFill/>
          <a:ln/>
        </p:spPr>
        <p:txBody>
          <a:bodyPr wrap="none" lIns="0" tIns="0" rIns="0" bIns="0" rtlCol="0" anchor="t"/>
          <a:lstStyle/>
          <a:p>
            <a:pPr marL="0" indent="0" algn="l">
              <a:lnSpc>
                <a:spcPct val="104000"/>
              </a:lnSpc>
              <a:buNone/>
            </a:pPr>
            <a:r>
              <a:rPr lang="en-US" sz="850" b="1" dirty="0">
                <a:solidFill>
                  <a:srgbClr val="49495A"/>
                </a:solidFill>
                <a:latin typeface="Times New Roman" panose="02020603050405020304" pitchFamily="18" charset="0"/>
                <a:ea typeface="Libre Baskerville" pitchFamily="34" charset="-122"/>
                <a:cs typeface="Times New Roman" panose="02020603050405020304" pitchFamily="18" charset="0"/>
              </a:rPr>
              <a:t>Politically Driven Procurement</a:t>
            </a:r>
            <a:endParaRPr lang="en-US" sz="850" b="1" dirty="0">
              <a:latin typeface="Times New Roman" panose="02020603050405020304" pitchFamily="18" charset="0"/>
              <a:cs typeface="Times New Roman" panose="02020603050405020304" pitchFamily="18" charset="0"/>
            </a:endParaRPr>
          </a:p>
        </p:txBody>
      </p:sp>
      <p:sp>
        <p:nvSpPr>
          <p:cNvPr id="9" name="Text 7"/>
          <p:cNvSpPr/>
          <p:nvPr/>
        </p:nvSpPr>
        <p:spPr>
          <a:xfrm>
            <a:off x="903387" y="1186160"/>
            <a:ext cx="7661225" cy="116384"/>
          </a:xfrm>
          <a:prstGeom prst="rect">
            <a:avLst/>
          </a:prstGeom>
          <a:noFill/>
          <a:ln/>
        </p:spPr>
        <p:txBody>
          <a:bodyPr wrap="none" lIns="0" tIns="0" rIns="0" bIns="0" rtlCol="0" anchor="t"/>
          <a:lstStyle/>
          <a:p>
            <a:pPr marL="0" indent="0" algn="l">
              <a:lnSpc>
                <a:spcPct val="109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Well-intentioned but flawed vendor selection processes introduce risk from Day 1. Decisions made for the wrong reasons.</a:t>
            </a:r>
            <a:endParaRPr lang="en-US" sz="1000" dirty="0">
              <a:latin typeface="Times New Roman" panose="02020603050405020304" pitchFamily="18" charset="0"/>
              <a:cs typeface="Times New Roman" panose="02020603050405020304" pitchFamily="18" charset="0"/>
            </a:endParaRPr>
          </a:p>
        </p:txBody>
      </p:sp>
      <p:sp>
        <p:nvSpPr>
          <p:cNvPr id="10" name="Shape 8"/>
          <p:cNvSpPr/>
          <p:nvPr/>
        </p:nvSpPr>
        <p:spPr>
          <a:xfrm>
            <a:off x="480640" y="1505917"/>
            <a:ext cx="8182719" cy="535558"/>
          </a:xfrm>
          <a:prstGeom prst="roundRect">
            <a:avLst>
              <a:gd name="adj" fmla="val 2500"/>
            </a:avLst>
          </a:prstGeom>
          <a:solidFill>
            <a:srgbClr val="FBFAFF"/>
          </a:solidFill>
          <a:ln w="9525">
            <a:solidFill>
              <a:srgbClr val="D0CED9"/>
            </a:solidFill>
            <a:prstDash val="solid"/>
          </a:ln>
        </p:spPr>
        <p:txBody>
          <a:bodyPr/>
          <a:lstStyle/>
          <a:p>
            <a:endParaRPr lang="en-GH" sz="2800">
              <a:latin typeface="Times New Roman" panose="02020603050405020304" pitchFamily="18" charset="0"/>
              <a:cs typeface="Times New Roman" panose="02020603050405020304" pitchFamily="18" charset="0"/>
            </a:endParaRPr>
          </a:p>
        </p:txBody>
      </p:sp>
      <p:sp>
        <p:nvSpPr>
          <p:cNvPr id="11" name="Shape 9"/>
          <p:cNvSpPr/>
          <p:nvPr/>
        </p:nvSpPr>
        <p:spPr>
          <a:xfrm>
            <a:off x="490165" y="1515442"/>
            <a:ext cx="357039" cy="516508"/>
          </a:xfrm>
          <a:prstGeom prst="roundRect">
            <a:avLst>
              <a:gd name="adj" fmla="val 549"/>
            </a:avLst>
          </a:prstGeom>
          <a:solidFill>
            <a:srgbClr val="EAE8F3"/>
          </a:solidFill>
          <a:ln/>
        </p:spPr>
        <p:txBody>
          <a:bodyPr/>
          <a:lstStyle/>
          <a:p>
            <a:endParaRPr lang="en-GH" sz="2800">
              <a:latin typeface="Times New Roman" panose="02020603050405020304" pitchFamily="18" charset="0"/>
              <a:cs typeface="Times New Roman" panose="02020603050405020304" pitchFamily="18" charset="0"/>
            </a:endParaRPr>
          </a:p>
        </p:txBody>
      </p:sp>
      <p:sp>
        <p:nvSpPr>
          <p:cNvPr id="12" name="Text 10"/>
          <p:cNvSpPr/>
          <p:nvPr/>
        </p:nvSpPr>
        <p:spPr>
          <a:xfrm>
            <a:off x="601712" y="1690018"/>
            <a:ext cx="133871" cy="167357"/>
          </a:xfrm>
          <a:prstGeom prst="rect">
            <a:avLst/>
          </a:prstGeom>
          <a:noFill/>
          <a:ln/>
        </p:spPr>
        <p:txBody>
          <a:bodyPr wrap="none" lIns="0" tIns="0" rIns="0" bIns="0" rtlCol="0" anchor="ctr"/>
          <a:lstStyle/>
          <a:p>
            <a:pPr marL="0" indent="0" algn="ctr">
              <a:lnSpc>
                <a:spcPct val="100000"/>
              </a:lnSpc>
              <a:buNone/>
            </a:pPr>
            <a:r>
              <a:rPr lang="en-US" sz="1400" dirty="0">
                <a:solidFill>
                  <a:srgbClr val="49495A"/>
                </a:solidFill>
                <a:latin typeface="Times New Roman" panose="02020603050405020304" pitchFamily="18" charset="0"/>
                <a:ea typeface="Libre Baskerville" pitchFamily="34" charset="-122"/>
                <a:cs typeface="Times New Roman" panose="02020603050405020304" pitchFamily="18" charset="0"/>
              </a:rPr>
              <a:t>2</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903387" y="1604665"/>
            <a:ext cx="2086049" cy="139526"/>
          </a:xfrm>
          <a:prstGeom prst="rect">
            <a:avLst/>
          </a:prstGeom>
          <a:noFill/>
          <a:ln/>
        </p:spPr>
        <p:txBody>
          <a:bodyPr wrap="none" lIns="0" tIns="0" rIns="0" bIns="0" rtlCol="0" anchor="t"/>
          <a:lstStyle/>
          <a:p>
            <a:pPr marL="0" indent="0" algn="l">
              <a:lnSpc>
                <a:spcPct val="104000"/>
              </a:lnSpc>
              <a:buNone/>
            </a:pPr>
            <a:r>
              <a:rPr lang="en-US" sz="1050" b="1" dirty="0">
                <a:solidFill>
                  <a:srgbClr val="49495A"/>
                </a:solidFill>
                <a:latin typeface="Times New Roman" panose="02020603050405020304" pitchFamily="18" charset="0"/>
                <a:ea typeface="Libre Baskerville" pitchFamily="34" charset="-122"/>
                <a:cs typeface="Times New Roman" panose="02020603050405020304" pitchFamily="18" charset="0"/>
              </a:rPr>
              <a:t>Inadequate Requirements Gathering</a:t>
            </a:r>
            <a:endParaRPr lang="en-US" sz="1050" b="1" dirty="0">
              <a:latin typeface="Times New Roman" panose="02020603050405020304" pitchFamily="18" charset="0"/>
              <a:cs typeface="Times New Roman" panose="02020603050405020304" pitchFamily="18" charset="0"/>
            </a:endParaRPr>
          </a:p>
        </p:txBody>
      </p:sp>
      <p:sp>
        <p:nvSpPr>
          <p:cNvPr id="14" name="Text 12"/>
          <p:cNvSpPr/>
          <p:nvPr/>
        </p:nvSpPr>
        <p:spPr>
          <a:xfrm>
            <a:off x="903387" y="1777901"/>
            <a:ext cx="7661225" cy="116384"/>
          </a:xfrm>
          <a:prstGeom prst="rect">
            <a:avLst/>
          </a:prstGeom>
          <a:noFill/>
          <a:ln/>
        </p:spPr>
        <p:txBody>
          <a:bodyPr wrap="none" lIns="0" tIns="0" rIns="0" bIns="0" rtlCol="0" anchor="t"/>
          <a:lstStyle/>
          <a:p>
            <a:pPr marL="0" indent="0" algn="l">
              <a:lnSpc>
                <a:spcPct val="109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Without thorough requirements gathering, project expectations are never clearly defined and cannot be met.</a:t>
            </a:r>
            <a:endParaRPr lang="en-US" sz="1000" dirty="0">
              <a:latin typeface="Times New Roman" panose="02020603050405020304" pitchFamily="18" charset="0"/>
              <a:cs typeface="Times New Roman" panose="02020603050405020304" pitchFamily="18" charset="0"/>
            </a:endParaRPr>
          </a:p>
        </p:txBody>
      </p:sp>
      <p:sp>
        <p:nvSpPr>
          <p:cNvPr id="15" name="Shape 13"/>
          <p:cNvSpPr/>
          <p:nvPr/>
        </p:nvSpPr>
        <p:spPr>
          <a:xfrm>
            <a:off x="480640" y="2097658"/>
            <a:ext cx="8182719" cy="535558"/>
          </a:xfrm>
          <a:prstGeom prst="roundRect">
            <a:avLst>
              <a:gd name="adj" fmla="val 2500"/>
            </a:avLst>
          </a:prstGeom>
          <a:solidFill>
            <a:srgbClr val="FBFAFF"/>
          </a:solidFill>
          <a:ln w="9525">
            <a:solidFill>
              <a:srgbClr val="D0CED9"/>
            </a:solidFill>
            <a:prstDash val="solid"/>
          </a:ln>
        </p:spPr>
        <p:txBody>
          <a:bodyPr/>
          <a:lstStyle/>
          <a:p>
            <a:endParaRPr lang="en-GH" sz="2800">
              <a:latin typeface="Times New Roman" panose="02020603050405020304" pitchFamily="18" charset="0"/>
              <a:cs typeface="Times New Roman" panose="02020603050405020304" pitchFamily="18" charset="0"/>
            </a:endParaRPr>
          </a:p>
        </p:txBody>
      </p:sp>
      <p:sp>
        <p:nvSpPr>
          <p:cNvPr id="16" name="Shape 14"/>
          <p:cNvSpPr/>
          <p:nvPr/>
        </p:nvSpPr>
        <p:spPr>
          <a:xfrm>
            <a:off x="490165" y="2107183"/>
            <a:ext cx="357039" cy="516508"/>
          </a:xfrm>
          <a:prstGeom prst="roundRect">
            <a:avLst>
              <a:gd name="adj" fmla="val 549"/>
            </a:avLst>
          </a:prstGeom>
          <a:solidFill>
            <a:srgbClr val="EAE8F3"/>
          </a:solidFill>
          <a:ln/>
        </p:spPr>
        <p:txBody>
          <a:bodyPr/>
          <a:lstStyle/>
          <a:p>
            <a:endParaRPr lang="en-GH" sz="2800">
              <a:latin typeface="Times New Roman" panose="02020603050405020304" pitchFamily="18" charset="0"/>
              <a:cs typeface="Times New Roman" panose="02020603050405020304" pitchFamily="18" charset="0"/>
            </a:endParaRPr>
          </a:p>
        </p:txBody>
      </p:sp>
      <p:sp>
        <p:nvSpPr>
          <p:cNvPr id="17" name="Text 15"/>
          <p:cNvSpPr/>
          <p:nvPr/>
        </p:nvSpPr>
        <p:spPr>
          <a:xfrm>
            <a:off x="601712" y="2281758"/>
            <a:ext cx="133871" cy="167357"/>
          </a:xfrm>
          <a:prstGeom prst="rect">
            <a:avLst/>
          </a:prstGeom>
          <a:noFill/>
          <a:ln/>
        </p:spPr>
        <p:txBody>
          <a:bodyPr wrap="none" lIns="0" tIns="0" rIns="0" bIns="0" rtlCol="0" anchor="ctr"/>
          <a:lstStyle/>
          <a:p>
            <a:pPr marL="0" indent="0" algn="ctr">
              <a:lnSpc>
                <a:spcPct val="100000"/>
              </a:lnSpc>
              <a:buNone/>
            </a:pPr>
            <a:r>
              <a:rPr lang="en-US" sz="1400" dirty="0">
                <a:solidFill>
                  <a:srgbClr val="49495A"/>
                </a:solidFill>
                <a:latin typeface="Times New Roman" panose="02020603050405020304" pitchFamily="18" charset="0"/>
                <a:ea typeface="Libre Baskerville" pitchFamily="34" charset="-122"/>
                <a:cs typeface="Times New Roman" panose="02020603050405020304" pitchFamily="18" charset="0"/>
              </a:rPr>
              <a:t>3</a:t>
            </a:r>
            <a:endParaRPr lang="en-US" sz="1400" dirty="0">
              <a:latin typeface="Times New Roman" panose="02020603050405020304" pitchFamily="18" charset="0"/>
              <a:cs typeface="Times New Roman" panose="02020603050405020304" pitchFamily="18" charset="0"/>
            </a:endParaRPr>
          </a:p>
        </p:txBody>
      </p:sp>
      <p:sp>
        <p:nvSpPr>
          <p:cNvPr id="18" name="Text 16"/>
          <p:cNvSpPr/>
          <p:nvPr/>
        </p:nvSpPr>
        <p:spPr>
          <a:xfrm>
            <a:off x="903387" y="2196405"/>
            <a:ext cx="1115839" cy="139526"/>
          </a:xfrm>
          <a:prstGeom prst="rect">
            <a:avLst/>
          </a:prstGeom>
          <a:noFill/>
          <a:ln/>
        </p:spPr>
        <p:txBody>
          <a:bodyPr wrap="none" lIns="0" tIns="0" rIns="0" bIns="0" rtlCol="0" anchor="t"/>
          <a:lstStyle/>
          <a:p>
            <a:pPr marL="0" indent="0" algn="l">
              <a:lnSpc>
                <a:spcPct val="104000"/>
              </a:lnSpc>
              <a:buNone/>
            </a:pPr>
            <a:r>
              <a:rPr lang="en-US" sz="1050" b="1" dirty="0">
                <a:solidFill>
                  <a:srgbClr val="49495A"/>
                </a:solidFill>
                <a:latin typeface="Times New Roman" panose="02020603050405020304" pitchFamily="18" charset="0"/>
                <a:ea typeface="Libre Baskerville" pitchFamily="34" charset="-122"/>
                <a:cs typeface="Times New Roman" panose="02020603050405020304" pitchFamily="18" charset="0"/>
              </a:rPr>
              <a:t>Weak Governance</a:t>
            </a:r>
            <a:endParaRPr lang="en-US" sz="1050" b="1" dirty="0">
              <a:latin typeface="Times New Roman" panose="02020603050405020304" pitchFamily="18" charset="0"/>
              <a:cs typeface="Times New Roman" panose="02020603050405020304" pitchFamily="18" charset="0"/>
            </a:endParaRPr>
          </a:p>
        </p:txBody>
      </p:sp>
      <p:sp>
        <p:nvSpPr>
          <p:cNvPr id="19" name="Text 17"/>
          <p:cNvSpPr/>
          <p:nvPr/>
        </p:nvSpPr>
        <p:spPr>
          <a:xfrm>
            <a:off x="903387" y="2369641"/>
            <a:ext cx="7661225" cy="116384"/>
          </a:xfrm>
          <a:prstGeom prst="rect">
            <a:avLst/>
          </a:prstGeom>
          <a:noFill/>
          <a:ln/>
        </p:spPr>
        <p:txBody>
          <a:bodyPr wrap="none" lIns="0" tIns="0" rIns="0" bIns="0" rtlCol="0" anchor="t"/>
          <a:lstStyle/>
          <a:p>
            <a:pPr marL="0" indent="0" algn="l">
              <a:lnSpc>
                <a:spcPct val="109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Without strong oversight and a clear decision-making authority, scope and costs spiral out of control.</a:t>
            </a:r>
            <a:endParaRPr lang="en-US" sz="1000" dirty="0">
              <a:latin typeface="Times New Roman" panose="02020603050405020304" pitchFamily="18" charset="0"/>
              <a:cs typeface="Times New Roman" panose="02020603050405020304" pitchFamily="18" charset="0"/>
            </a:endParaRPr>
          </a:p>
        </p:txBody>
      </p:sp>
      <p:sp>
        <p:nvSpPr>
          <p:cNvPr id="20" name="Shape 18"/>
          <p:cNvSpPr/>
          <p:nvPr/>
        </p:nvSpPr>
        <p:spPr>
          <a:xfrm>
            <a:off x="480640" y="2689399"/>
            <a:ext cx="8182719" cy="535558"/>
          </a:xfrm>
          <a:prstGeom prst="roundRect">
            <a:avLst>
              <a:gd name="adj" fmla="val 2500"/>
            </a:avLst>
          </a:prstGeom>
          <a:solidFill>
            <a:srgbClr val="FBFAFF"/>
          </a:solidFill>
          <a:ln w="9525">
            <a:solidFill>
              <a:srgbClr val="D0CED9"/>
            </a:solidFill>
            <a:prstDash val="solid"/>
          </a:ln>
        </p:spPr>
        <p:txBody>
          <a:bodyPr/>
          <a:lstStyle/>
          <a:p>
            <a:endParaRPr lang="en-GH" sz="2800">
              <a:latin typeface="Times New Roman" panose="02020603050405020304" pitchFamily="18" charset="0"/>
              <a:cs typeface="Times New Roman" panose="02020603050405020304" pitchFamily="18" charset="0"/>
            </a:endParaRPr>
          </a:p>
        </p:txBody>
      </p:sp>
      <p:sp>
        <p:nvSpPr>
          <p:cNvPr id="21" name="Shape 19"/>
          <p:cNvSpPr/>
          <p:nvPr/>
        </p:nvSpPr>
        <p:spPr>
          <a:xfrm>
            <a:off x="490165" y="2698924"/>
            <a:ext cx="357039" cy="516508"/>
          </a:xfrm>
          <a:prstGeom prst="roundRect">
            <a:avLst>
              <a:gd name="adj" fmla="val 549"/>
            </a:avLst>
          </a:prstGeom>
          <a:solidFill>
            <a:srgbClr val="EAE8F3"/>
          </a:solidFill>
          <a:ln/>
        </p:spPr>
        <p:txBody>
          <a:bodyPr/>
          <a:lstStyle/>
          <a:p>
            <a:endParaRPr lang="en-GH" sz="2800">
              <a:latin typeface="Times New Roman" panose="02020603050405020304" pitchFamily="18" charset="0"/>
              <a:cs typeface="Times New Roman" panose="02020603050405020304" pitchFamily="18" charset="0"/>
            </a:endParaRPr>
          </a:p>
        </p:txBody>
      </p:sp>
      <p:sp>
        <p:nvSpPr>
          <p:cNvPr id="22" name="Text 20"/>
          <p:cNvSpPr/>
          <p:nvPr/>
        </p:nvSpPr>
        <p:spPr>
          <a:xfrm>
            <a:off x="601712" y="2873499"/>
            <a:ext cx="133871" cy="167357"/>
          </a:xfrm>
          <a:prstGeom prst="rect">
            <a:avLst/>
          </a:prstGeom>
          <a:noFill/>
          <a:ln/>
        </p:spPr>
        <p:txBody>
          <a:bodyPr wrap="none" lIns="0" tIns="0" rIns="0" bIns="0" rtlCol="0" anchor="ctr"/>
          <a:lstStyle/>
          <a:p>
            <a:pPr marL="0" indent="0" algn="ctr">
              <a:lnSpc>
                <a:spcPct val="100000"/>
              </a:lnSpc>
              <a:buNone/>
            </a:pPr>
            <a:r>
              <a:rPr lang="en-US" sz="1400" dirty="0">
                <a:solidFill>
                  <a:srgbClr val="49495A"/>
                </a:solidFill>
                <a:latin typeface="Times New Roman" panose="02020603050405020304" pitchFamily="18" charset="0"/>
                <a:ea typeface="Libre Baskerville" pitchFamily="34" charset="-122"/>
                <a:cs typeface="Times New Roman" panose="02020603050405020304" pitchFamily="18" charset="0"/>
              </a:rPr>
              <a:t>4</a:t>
            </a:r>
            <a:endParaRPr lang="en-US" sz="1400" dirty="0">
              <a:latin typeface="Times New Roman" panose="02020603050405020304" pitchFamily="18" charset="0"/>
              <a:cs typeface="Times New Roman" panose="02020603050405020304" pitchFamily="18" charset="0"/>
            </a:endParaRPr>
          </a:p>
        </p:txBody>
      </p:sp>
      <p:sp>
        <p:nvSpPr>
          <p:cNvPr id="23" name="Text 21"/>
          <p:cNvSpPr/>
          <p:nvPr/>
        </p:nvSpPr>
        <p:spPr>
          <a:xfrm>
            <a:off x="903387" y="2788146"/>
            <a:ext cx="1893540" cy="139526"/>
          </a:xfrm>
          <a:prstGeom prst="rect">
            <a:avLst/>
          </a:prstGeom>
          <a:noFill/>
          <a:ln/>
        </p:spPr>
        <p:txBody>
          <a:bodyPr wrap="none" lIns="0" tIns="0" rIns="0" bIns="0" rtlCol="0" anchor="t"/>
          <a:lstStyle/>
          <a:p>
            <a:pPr marL="0" indent="0" algn="l">
              <a:lnSpc>
                <a:spcPct val="104000"/>
              </a:lnSpc>
              <a:buNone/>
            </a:pPr>
            <a:r>
              <a:rPr lang="en-US" sz="1050" b="1" dirty="0">
                <a:solidFill>
                  <a:srgbClr val="49495A"/>
                </a:solidFill>
                <a:latin typeface="Times New Roman" panose="02020603050405020304" pitchFamily="18" charset="0"/>
                <a:ea typeface="Libre Baskerville" pitchFamily="34" charset="-122"/>
                <a:cs typeface="Times New Roman" panose="02020603050405020304" pitchFamily="18" charset="0"/>
              </a:rPr>
              <a:t>Inadequate Change Management</a:t>
            </a:r>
            <a:endParaRPr lang="en-US" sz="1050" b="1" dirty="0">
              <a:latin typeface="Times New Roman" panose="02020603050405020304" pitchFamily="18" charset="0"/>
              <a:cs typeface="Times New Roman" panose="02020603050405020304" pitchFamily="18" charset="0"/>
            </a:endParaRPr>
          </a:p>
        </p:txBody>
      </p:sp>
      <p:sp>
        <p:nvSpPr>
          <p:cNvPr id="24" name="Text 22"/>
          <p:cNvSpPr/>
          <p:nvPr/>
        </p:nvSpPr>
        <p:spPr>
          <a:xfrm>
            <a:off x="903387" y="2961382"/>
            <a:ext cx="7661225" cy="116384"/>
          </a:xfrm>
          <a:prstGeom prst="rect">
            <a:avLst/>
          </a:prstGeom>
          <a:noFill/>
          <a:ln/>
        </p:spPr>
        <p:txBody>
          <a:bodyPr wrap="none" lIns="0" tIns="0" rIns="0" bIns="0" rtlCol="0" anchor="t"/>
          <a:lstStyle/>
          <a:p>
            <a:pPr marL="0" indent="0" algn="l">
              <a:lnSpc>
                <a:spcPct val="109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Technology adoption is a human challenge first. People resist change without structured support and communication.</a:t>
            </a:r>
            <a:endParaRPr lang="en-US" sz="1000" dirty="0">
              <a:latin typeface="Times New Roman" panose="02020603050405020304" pitchFamily="18" charset="0"/>
              <a:cs typeface="Times New Roman" panose="02020603050405020304" pitchFamily="18" charset="0"/>
            </a:endParaRPr>
          </a:p>
        </p:txBody>
      </p:sp>
      <p:sp>
        <p:nvSpPr>
          <p:cNvPr id="25" name="Shape 23"/>
          <p:cNvSpPr/>
          <p:nvPr/>
        </p:nvSpPr>
        <p:spPr>
          <a:xfrm>
            <a:off x="480640" y="3281139"/>
            <a:ext cx="8182719" cy="535558"/>
          </a:xfrm>
          <a:prstGeom prst="roundRect">
            <a:avLst>
              <a:gd name="adj" fmla="val 2500"/>
            </a:avLst>
          </a:prstGeom>
          <a:solidFill>
            <a:srgbClr val="FBFAFF"/>
          </a:solidFill>
          <a:ln w="9525">
            <a:solidFill>
              <a:srgbClr val="D0CED9"/>
            </a:solidFill>
            <a:prstDash val="solid"/>
          </a:ln>
        </p:spPr>
        <p:txBody>
          <a:bodyPr/>
          <a:lstStyle/>
          <a:p>
            <a:endParaRPr lang="en-GH" sz="2800">
              <a:latin typeface="Times New Roman" panose="02020603050405020304" pitchFamily="18" charset="0"/>
              <a:cs typeface="Times New Roman" panose="02020603050405020304" pitchFamily="18" charset="0"/>
            </a:endParaRPr>
          </a:p>
        </p:txBody>
      </p:sp>
      <p:sp>
        <p:nvSpPr>
          <p:cNvPr id="26" name="Shape 24"/>
          <p:cNvSpPr/>
          <p:nvPr/>
        </p:nvSpPr>
        <p:spPr>
          <a:xfrm>
            <a:off x="490165" y="3290664"/>
            <a:ext cx="357039" cy="516508"/>
          </a:xfrm>
          <a:prstGeom prst="roundRect">
            <a:avLst>
              <a:gd name="adj" fmla="val 549"/>
            </a:avLst>
          </a:prstGeom>
          <a:solidFill>
            <a:srgbClr val="EAE8F3"/>
          </a:solidFill>
          <a:ln/>
        </p:spPr>
        <p:txBody>
          <a:bodyPr/>
          <a:lstStyle/>
          <a:p>
            <a:endParaRPr lang="en-GH" sz="2800">
              <a:latin typeface="Times New Roman" panose="02020603050405020304" pitchFamily="18" charset="0"/>
              <a:cs typeface="Times New Roman" panose="02020603050405020304" pitchFamily="18" charset="0"/>
            </a:endParaRPr>
          </a:p>
        </p:txBody>
      </p:sp>
      <p:sp>
        <p:nvSpPr>
          <p:cNvPr id="27" name="Text 25"/>
          <p:cNvSpPr/>
          <p:nvPr/>
        </p:nvSpPr>
        <p:spPr>
          <a:xfrm>
            <a:off x="601712" y="3465240"/>
            <a:ext cx="133871" cy="167357"/>
          </a:xfrm>
          <a:prstGeom prst="rect">
            <a:avLst/>
          </a:prstGeom>
          <a:noFill/>
          <a:ln/>
        </p:spPr>
        <p:txBody>
          <a:bodyPr wrap="none" lIns="0" tIns="0" rIns="0" bIns="0" rtlCol="0" anchor="ctr"/>
          <a:lstStyle/>
          <a:p>
            <a:pPr marL="0" indent="0" algn="ctr">
              <a:lnSpc>
                <a:spcPct val="100000"/>
              </a:lnSpc>
              <a:buNone/>
            </a:pPr>
            <a:r>
              <a:rPr lang="en-US" sz="1400" dirty="0">
                <a:solidFill>
                  <a:srgbClr val="49495A"/>
                </a:solidFill>
                <a:latin typeface="Times New Roman" panose="02020603050405020304" pitchFamily="18" charset="0"/>
                <a:ea typeface="Libre Baskerville" pitchFamily="34" charset="-122"/>
                <a:cs typeface="Times New Roman" panose="02020603050405020304" pitchFamily="18" charset="0"/>
              </a:rPr>
              <a:t>5</a:t>
            </a:r>
            <a:endParaRPr lang="en-US" sz="1400" dirty="0">
              <a:latin typeface="Times New Roman" panose="02020603050405020304" pitchFamily="18" charset="0"/>
              <a:cs typeface="Times New Roman" panose="02020603050405020304" pitchFamily="18" charset="0"/>
            </a:endParaRPr>
          </a:p>
        </p:txBody>
      </p:sp>
      <p:sp>
        <p:nvSpPr>
          <p:cNvPr id="28" name="Text 26"/>
          <p:cNvSpPr/>
          <p:nvPr/>
        </p:nvSpPr>
        <p:spPr>
          <a:xfrm>
            <a:off x="903387" y="3379887"/>
            <a:ext cx="1833935" cy="139526"/>
          </a:xfrm>
          <a:prstGeom prst="rect">
            <a:avLst/>
          </a:prstGeom>
          <a:noFill/>
          <a:ln/>
        </p:spPr>
        <p:txBody>
          <a:bodyPr wrap="none" lIns="0" tIns="0" rIns="0" bIns="0" rtlCol="0" anchor="t"/>
          <a:lstStyle/>
          <a:p>
            <a:pPr marL="0" indent="0" algn="l">
              <a:lnSpc>
                <a:spcPct val="104000"/>
              </a:lnSpc>
              <a:buNone/>
            </a:pPr>
            <a:r>
              <a:rPr lang="en-US" sz="1050" b="1" dirty="0">
                <a:solidFill>
                  <a:srgbClr val="49495A"/>
                </a:solidFill>
                <a:latin typeface="Times New Roman" panose="02020603050405020304" pitchFamily="18" charset="0"/>
                <a:ea typeface="Libre Baskerville" pitchFamily="34" charset="-122"/>
                <a:cs typeface="Times New Roman" panose="02020603050405020304" pitchFamily="18" charset="0"/>
              </a:rPr>
              <a:t>Unrealistic Budgets &amp; Timelines</a:t>
            </a:r>
            <a:endParaRPr lang="en-US" sz="1050" b="1" dirty="0">
              <a:latin typeface="Times New Roman" panose="02020603050405020304" pitchFamily="18" charset="0"/>
              <a:cs typeface="Times New Roman" panose="02020603050405020304" pitchFamily="18" charset="0"/>
            </a:endParaRPr>
          </a:p>
        </p:txBody>
      </p:sp>
      <p:sp>
        <p:nvSpPr>
          <p:cNvPr id="29" name="Text 27"/>
          <p:cNvSpPr/>
          <p:nvPr/>
        </p:nvSpPr>
        <p:spPr>
          <a:xfrm>
            <a:off x="903387" y="3553123"/>
            <a:ext cx="7661225" cy="116384"/>
          </a:xfrm>
          <a:prstGeom prst="rect">
            <a:avLst/>
          </a:prstGeom>
          <a:noFill/>
          <a:ln/>
        </p:spPr>
        <p:txBody>
          <a:bodyPr wrap="none" lIns="0" tIns="0" rIns="0" bIns="0" rtlCol="0" anchor="t"/>
          <a:lstStyle/>
          <a:p>
            <a:pPr marL="0" indent="0" algn="l">
              <a:lnSpc>
                <a:spcPct val="109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Overpromising at the start leads to underdelivering later. Pressure to start leads to shortcuts that cause failures.</a:t>
            </a:r>
            <a:endParaRPr lang="en-US" sz="1000" dirty="0">
              <a:latin typeface="Times New Roman" panose="02020603050405020304" pitchFamily="18" charset="0"/>
              <a:cs typeface="Times New Roman" panose="02020603050405020304" pitchFamily="18" charset="0"/>
            </a:endParaRPr>
          </a:p>
        </p:txBody>
      </p:sp>
      <p:sp>
        <p:nvSpPr>
          <p:cNvPr id="30" name="Shape 28"/>
          <p:cNvSpPr/>
          <p:nvPr/>
        </p:nvSpPr>
        <p:spPr>
          <a:xfrm>
            <a:off x="480640" y="3872880"/>
            <a:ext cx="8182719" cy="535558"/>
          </a:xfrm>
          <a:prstGeom prst="roundRect">
            <a:avLst>
              <a:gd name="adj" fmla="val 2500"/>
            </a:avLst>
          </a:prstGeom>
          <a:solidFill>
            <a:srgbClr val="FBFAFF"/>
          </a:solidFill>
          <a:ln w="9525">
            <a:solidFill>
              <a:srgbClr val="D0CED9"/>
            </a:solidFill>
            <a:prstDash val="solid"/>
          </a:ln>
        </p:spPr>
        <p:txBody>
          <a:bodyPr/>
          <a:lstStyle/>
          <a:p>
            <a:endParaRPr lang="en-GH" sz="2800">
              <a:latin typeface="Times New Roman" panose="02020603050405020304" pitchFamily="18" charset="0"/>
              <a:cs typeface="Times New Roman" panose="02020603050405020304" pitchFamily="18" charset="0"/>
            </a:endParaRPr>
          </a:p>
        </p:txBody>
      </p:sp>
      <p:sp>
        <p:nvSpPr>
          <p:cNvPr id="31" name="Shape 29"/>
          <p:cNvSpPr/>
          <p:nvPr/>
        </p:nvSpPr>
        <p:spPr>
          <a:xfrm>
            <a:off x="490165" y="3882405"/>
            <a:ext cx="357039" cy="516508"/>
          </a:xfrm>
          <a:prstGeom prst="roundRect">
            <a:avLst>
              <a:gd name="adj" fmla="val 549"/>
            </a:avLst>
          </a:prstGeom>
          <a:solidFill>
            <a:srgbClr val="EAE8F3"/>
          </a:solidFill>
          <a:ln/>
        </p:spPr>
        <p:txBody>
          <a:bodyPr/>
          <a:lstStyle/>
          <a:p>
            <a:endParaRPr lang="en-GH" sz="2800">
              <a:latin typeface="Times New Roman" panose="02020603050405020304" pitchFamily="18" charset="0"/>
              <a:cs typeface="Times New Roman" panose="02020603050405020304" pitchFamily="18" charset="0"/>
            </a:endParaRPr>
          </a:p>
        </p:txBody>
      </p:sp>
      <p:sp>
        <p:nvSpPr>
          <p:cNvPr id="32" name="Text 30"/>
          <p:cNvSpPr/>
          <p:nvPr/>
        </p:nvSpPr>
        <p:spPr>
          <a:xfrm>
            <a:off x="601712" y="4056980"/>
            <a:ext cx="133871" cy="167357"/>
          </a:xfrm>
          <a:prstGeom prst="rect">
            <a:avLst/>
          </a:prstGeom>
          <a:noFill/>
          <a:ln/>
        </p:spPr>
        <p:txBody>
          <a:bodyPr wrap="none" lIns="0" tIns="0" rIns="0" bIns="0" rtlCol="0" anchor="ctr"/>
          <a:lstStyle/>
          <a:p>
            <a:pPr marL="0" indent="0" algn="ctr">
              <a:lnSpc>
                <a:spcPct val="100000"/>
              </a:lnSpc>
              <a:buNone/>
            </a:pPr>
            <a:r>
              <a:rPr lang="en-US" sz="1400" dirty="0">
                <a:solidFill>
                  <a:srgbClr val="49495A"/>
                </a:solidFill>
                <a:latin typeface="Times New Roman" panose="02020603050405020304" pitchFamily="18" charset="0"/>
                <a:ea typeface="Libre Baskerville" pitchFamily="34" charset="-122"/>
                <a:cs typeface="Times New Roman" panose="02020603050405020304" pitchFamily="18" charset="0"/>
              </a:rPr>
              <a:t>6</a:t>
            </a:r>
            <a:endParaRPr lang="en-US" sz="1400" dirty="0">
              <a:latin typeface="Times New Roman" panose="02020603050405020304" pitchFamily="18" charset="0"/>
              <a:cs typeface="Times New Roman" panose="02020603050405020304" pitchFamily="18" charset="0"/>
            </a:endParaRPr>
          </a:p>
        </p:txBody>
      </p:sp>
      <p:sp>
        <p:nvSpPr>
          <p:cNvPr id="33" name="Text 31"/>
          <p:cNvSpPr/>
          <p:nvPr/>
        </p:nvSpPr>
        <p:spPr>
          <a:xfrm>
            <a:off x="903387" y="3971627"/>
            <a:ext cx="1473696" cy="139526"/>
          </a:xfrm>
          <a:prstGeom prst="rect">
            <a:avLst/>
          </a:prstGeom>
          <a:noFill/>
          <a:ln/>
        </p:spPr>
        <p:txBody>
          <a:bodyPr wrap="none" lIns="0" tIns="0" rIns="0" bIns="0" rtlCol="0" anchor="t"/>
          <a:lstStyle/>
          <a:p>
            <a:pPr marL="0" indent="0" algn="l">
              <a:lnSpc>
                <a:spcPct val="104000"/>
              </a:lnSpc>
              <a:buNone/>
            </a:pPr>
            <a:r>
              <a:rPr lang="en-US" sz="1050" b="1" dirty="0">
                <a:solidFill>
                  <a:srgbClr val="49495A"/>
                </a:solidFill>
                <a:latin typeface="Times New Roman" panose="02020603050405020304" pitchFamily="18" charset="0"/>
                <a:ea typeface="Libre Baskerville" pitchFamily="34" charset="-122"/>
                <a:cs typeface="Times New Roman" panose="02020603050405020304" pitchFamily="18" charset="0"/>
              </a:rPr>
              <a:t>No Vendor Accountability</a:t>
            </a:r>
            <a:endParaRPr lang="en-US" sz="1050" b="1" dirty="0">
              <a:latin typeface="Times New Roman" panose="02020603050405020304" pitchFamily="18" charset="0"/>
              <a:cs typeface="Times New Roman" panose="02020603050405020304" pitchFamily="18" charset="0"/>
            </a:endParaRPr>
          </a:p>
        </p:txBody>
      </p:sp>
      <p:sp>
        <p:nvSpPr>
          <p:cNvPr id="34" name="Text 32"/>
          <p:cNvSpPr/>
          <p:nvPr/>
        </p:nvSpPr>
        <p:spPr>
          <a:xfrm>
            <a:off x="903387" y="4144863"/>
            <a:ext cx="7661225" cy="116384"/>
          </a:xfrm>
          <a:prstGeom prst="rect">
            <a:avLst/>
          </a:prstGeom>
          <a:noFill/>
          <a:ln/>
        </p:spPr>
        <p:txBody>
          <a:bodyPr wrap="none" lIns="0" tIns="0" rIns="0" bIns="0" rtlCol="0" anchor="t"/>
          <a:lstStyle/>
          <a:p>
            <a:pPr marL="0" indent="0" algn="l">
              <a:lnSpc>
                <a:spcPct val="109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Open-chequebook relationships with suppliers rarely end well. Contracts must define deliverables and consequences.</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2"/>
          <p:cNvSpPr/>
          <p:nvPr/>
        </p:nvSpPr>
        <p:spPr>
          <a:xfrm>
            <a:off x="496119" y="1030039"/>
            <a:ext cx="5006132" cy="442987"/>
          </a:xfrm>
          <a:prstGeom prst="rect">
            <a:avLst/>
          </a:prstGeom>
          <a:noFill/>
          <a:ln/>
        </p:spPr>
        <p:txBody>
          <a:bodyPr wrap="none" lIns="0" tIns="0" rIns="0" bIns="0" rtlCol="0" anchor="t"/>
          <a:lstStyle/>
          <a:p>
            <a:pPr marL="0" indent="0" algn="l">
              <a:lnSpc>
                <a:spcPct val="104000"/>
              </a:lnSpc>
              <a:buNone/>
            </a:pPr>
            <a:r>
              <a:rPr lang="en-US" sz="2750" dirty="0">
                <a:solidFill>
                  <a:srgbClr val="403CCF"/>
                </a:solidFill>
                <a:latin typeface="Times New Roman" panose="02020603050405020304" pitchFamily="18" charset="0"/>
                <a:ea typeface="Libre Baskerville" pitchFamily="34" charset="-122"/>
                <a:cs typeface="Times New Roman" panose="02020603050405020304" pitchFamily="18" charset="0"/>
              </a:rPr>
              <a:t>Why AMG Must Act Now</a:t>
            </a:r>
            <a:endParaRPr lang="en-US" sz="2750" dirty="0">
              <a:latin typeface="Times New Roman" panose="02020603050405020304" pitchFamily="18" charset="0"/>
              <a:cs typeface="Times New Roman" panose="02020603050405020304" pitchFamily="18" charset="0"/>
            </a:endParaRPr>
          </a:p>
        </p:txBody>
      </p:sp>
      <p:sp>
        <p:nvSpPr>
          <p:cNvPr id="5" name="Shape 3"/>
          <p:cNvSpPr/>
          <p:nvPr/>
        </p:nvSpPr>
        <p:spPr>
          <a:xfrm>
            <a:off x="496119" y="1685627"/>
            <a:ext cx="2622724" cy="1989013"/>
          </a:xfrm>
          <a:prstGeom prst="roundRect">
            <a:avLst>
              <a:gd name="adj" fmla="val 1069"/>
            </a:avLst>
          </a:prstGeom>
          <a:solidFill>
            <a:srgbClr val="FBFAFF"/>
          </a:solidFill>
          <a:ln w="19050">
            <a:solidFill>
              <a:srgbClr val="D0CED9"/>
            </a:solidFill>
            <a:prstDash val="solid"/>
          </a:ln>
        </p:spPr>
        <p:txBody>
          <a:bodyPr/>
          <a:lstStyle/>
          <a:p>
            <a:endParaRPr lang="en-GH">
              <a:latin typeface="Times New Roman" panose="02020603050405020304" pitchFamily="18" charset="0"/>
              <a:cs typeface="Times New Roman" panose="02020603050405020304" pitchFamily="18" charset="0"/>
            </a:endParaRPr>
          </a:p>
        </p:txBody>
      </p:sp>
      <p:sp>
        <p:nvSpPr>
          <p:cNvPr id="6" name="Text 4"/>
          <p:cNvSpPr/>
          <p:nvPr/>
        </p:nvSpPr>
        <p:spPr>
          <a:xfrm>
            <a:off x="656927" y="1846436"/>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1E3A5F"/>
                </a:solidFill>
                <a:latin typeface="Times New Roman" panose="02020603050405020304" pitchFamily="18" charset="0"/>
                <a:ea typeface="Libre Baskerville" pitchFamily="34" charset="-122"/>
                <a:cs typeface="Times New Roman" panose="02020603050405020304" pitchFamily="18" charset="0"/>
              </a:rPr>
              <a:t>Margin Erosion</a:t>
            </a:r>
            <a:endParaRPr lang="en-US" sz="1350" dirty="0">
              <a:latin typeface="Times New Roman" panose="02020603050405020304" pitchFamily="18" charset="0"/>
              <a:cs typeface="Times New Roman" panose="02020603050405020304" pitchFamily="18" charset="0"/>
            </a:endParaRPr>
          </a:p>
        </p:txBody>
      </p:sp>
      <p:sp>
        <p:nvSpPr>
          <p:cNvPr id="7" name="Text 5"/>
          <p:cNvSpPr/>
          <p:nvPr/>
        </p:nvSpPr>
        <p:spPr>
          <a:xfrm>
            <a:off x="656927" y="2152948"/>
            <a:ext cx="2301106"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9495A"/>
                </a:solidFill>
                <a:latin typeface="Times New Roman" panose="02020603050405020304" pitchFamily="18" charset="0"/>
                <a:ea typeface="Open Sans" pitchFamily="34" charset="-122"/>
                <a:cs typeface="Times New Roman" panose="02020603050405020304" pitchFamily="18" charset="0"/>
              </a:rPr>
              <a:t>80% of custom orders experience margin erosion. No reliable contribution margin view per job exists. Engineering complexity and BOM errors go undetected until it's too late to act.</a:t>
            </a:r>
            <a:endParaRPr lang="en-US" sz="1100" dirty="0">
              <a:latin typeface="Times New Roman" panose="02020603050405020304" pitchFamily="18" charset="0"/>
              <a:cs typeface="Times New Roman" panose="02020603050405020304" pitchFamily="18" charset="0"/>
            </a:endParaRPr>
          </a:p>
        </p:txBody>
      </p:sp>
      <p:sp>
        <p:nvSpPr>
          <p:cNvPr id="8" name="Shape 6"/>
          <p:cNvSpPr/>
          <p:nvPr/>
        </p:nvSpPr>
        <p:spPr>
          <a:xfrm>
            <a:off x="3260601" y="1685627"/>
            <a:ext cx="2622724" cy="1989013"/>
          </a:xfrm>
          <a:prstGeom prst="roundRect">
            <a:avLst>
              <a:gd name="adj" fmla="val 1069"/>
            </a:avLst>
          </a:prstGeom>
          <a:solidFill>
            <a:srgbClr val="FBFAFF"/>
          </a:solidFill>
          <a:ln w="19050">
            <a:solidFill>
              <a:srgbClr val="D0CED9"/>
            </a:solidFill>
            <a:prstDash val="solid"/>
          </a:ln>
        </p:spPr>
        <p:txBody>
          <a:bodyPr/>
          <a:lstStyle/>
          <a:p>
            <a:endParaRPr lang="en-GH">
              <a:latin typeface="Times New Roman" panose="02020603050405020304" pitchFamily="18" charset="0"/>
              <a:cs typeface="Times New Roman" panose="02020603050405020304" pitchFamily="18" charset="0"/>
            </a:endParaRPr>
          </a:p>
        </p:txBody>
      </p:sp>
      <p:sp>
        <p:nvSpPr>
          <p:cNvPr id="9" name="Text 7"/>
          <p:cNvSpPr/>
          <p:nvPr/>
        </p:nvSpPr>
        <p:spPr>
          <a:xfrm>
            <a:off x="3421410" y="1846436"/>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1E3A5F"/>
                </a:solidFill>
                <a:latin typeface="Times New Roman" panose="02020603050405020304" pitchFamily="18" charset="0"/>
                <a:ea typeface="Libre Baskerville" pitchFamily="34" charset="-122"/>
                <a:cs typeface="Times New Roman" panose="02020603050405020304" pitchFamily="18" charset="0"/>
              </a:rPr>
              <a:t>Operational Risk</a:t>
            </a:r>
            <a:endParaRPr lang="en-US" sz="1350" dirty="0">
              <a:latin typeface="Times New Roman" panose="02020603050405020304" pitchFamily="18" charset="0"/>
              <a:cs typeface="Times New Roman" panose="02020603050405020304" pitchFamily="18" charset="0"/>
            </a:endParaRPr>
          </a:p>
        </p:txBody>
      </p:sp>
      <p:sp>
        <p:nvSpPr>
          <p:cNvPr id="10" name="Text 8"/>
          <p:cNvSpPr/>
          <p:nvPr/>
        </p:nvSpPr>
        <p:spPr>
          <a:xfrm>
            <a:off x="3421410" y="2152948"/>
            <a:ext cx="2301106"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9495A"/>
                </a:solidFill>
                <a:latin typeface="Times New Roman" panose="02020603050405020304" pitchFamily="18" charset="0"/>
                <a:ea typeface="Open Sans" pitchFamily="34" charset="-122"/>
                <a:cs typeface="Times New Roman" panose="02020603050405020304" pitchFamily="18" charset="0"/>
              </a:rPr>
              <a:t>The nightly BOM sync between the legacy ERP and Engineering database fails regularly, causing manufacturing delays, rework, material waste, and missed customer ship dates.</a:t>
            </a:r>
            <a:endParaRPr lang="en-US" sz="1100" dirty="0">
              <a:latin typeface="Times New Roman" panose="02020603050405020304" pitchFamily="18" charset="0"/>
              <a:cs typeface="Times New Roman" panose="02020603050405020304" pitchFamily="18" charset="0"/>
            </a:endParaRPr>
          </a:p>
        </p:txBody>
      </p:sp>
      <p:sp>
        <p:nvSpPr>
          <p:cNvPr id="11" name="Shape 9"/>
          <p:cNvSpPr/>
          <p:nvPr/>
        </p:nvSpPr>
        <p:spPr>
          <a:xfrm>
            <a:off x="6025083" y="1685627"/>
            <a:ext cx="2622724" cy="1989013"/>
          </a:xfrm>
          <a:prstGeom prst="roundRect">
            <a:avLst>
              <a:gd name="adj" fmla="val 1069"/>
            </a:avLst>
          </a:prstGeom>
          <a:solidFill>
            <a:srgbClr val="FBFAFF"/>
          </a:solidFill>
          <a:ln w="19050">
            <a:solidFill>
              <a:srgbClr val="D0CED9"/>
            </a:solidFill>
            <a:prstDash val="solid"/>
          </a:ln>
        </p:spPr>
        <p:txBody>
          <a:bodyPr/>
          <a:lstStyle/>
          <a:p>
            <a:endParaRPr lang="en-GH">
              <a:latin typeface="Times New Roman" panose="02020603050405020304" pitchFamily="18" charset="0"/>
              <a:cs typeface="Times New Roman" panose="02020603050405020304" pitchFamily="18" charset="0"/>
            </a:endParaRPr>
          </a:p>
        </p:txBody>
      </p:sp>
      <p:sp>
        <p:nvSpPr>
          <p:cNvPr id="12" name="Text 10"/>
          <p:cNvSpPr/>
          <p:nvPr/>
        </p:nvSpPr>
        <p:spPr>
          <a:xfrm>
            <a:off x="6185892" y="1846436"/>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1E3A5F"/>
                </a:solidFill>
                <a:latin typeface="Times New Roman" panose="02020603050405020304" pitchFamily="18" charset="0"/>
                <a:ea typeface="Libre Baskerville" pitchFamily="34" charset="-122"/>
                <a:cs typeface="Times New Roman" panose="02020603050405020304" pitchFamily="18" charset="0"/>
              </a:rPr>
              <a:t>Blind Reporting</a:t>
            </a:r>
            <a:endParaRPr lang="en-US" sz="1350" dirty="0">
              <a:latin typeface="Times New Roman" panose="02020603050405020304" pitchFamily="18" charset="0"/>
              <a:cs typeface="Times New Roman" panose="02020603050405020304" pitchFamily="18" charset="0"/>
            </a:endParaRPr>
          </a:p>
        </p:txBody>
      </p:sp>
      <p:sp>
        <p:nvSpPr>
          <p:cNvPr id="13" name="Text 11"/>
          <p:cNvSpPr/>
          <p:nvPr/>
        </p:nvSpPr>
        <p:spPr>
          <a:xfrm>
            <a:off x="6185892" y="2152948"/>
            <a:ext cx="2301106"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49495A"/>
                </a:solidFill>
                <a:latin typeface="Times New Roman" panose="02020603050405020304" pitchFamily="18" charset="0"/>
                <a:ea typeface="Open Sans" pitchFamily="34" charset="-122"/>
                <a:cs typeface="Times New Roman" panose="02020603050405020304" pitchFamily="18" charset="0"/>
              </a:rPr>
              <a:t>Finance operates on Excel extracts from a 20-year-old system. Labor tracking is unreliable. Leadership cannot see job profitability and cannot close books with confidence.</a:t>
            </a:r>
            <a:endParaRPr lang="en-US" sz="1100" dirty="0">
              <a:latin typeface="Times New Roman" panose="02020603050405020304" pitchFamily="18" charset="0"/>
              <a:cs typeface="Times New Roman" panose="02020603050405020304" pitchFamily="18" charset="0"/>
            </a:endParaRPr>
          </a:p>
        </p:txBody>
      </p:sp>
      <p:sp>
        <p:nvSpPr>
          <p:cNvPr id="14" name="Shape 12"/>
          <p:cNvSpPr/>
          <p:nvPr/>
        </p:nvSpPr>
        <p:spPr>
          <a:xfrm>
            <a:off x="496119" y="3834110"/>
            <a:ext cx="8151763" cy="602382"/>
          </a:xfrm>
          <a:prstGeom prst="roundRect">
            <a:avLst>
              <a:gd name="adj" fmla="val 3530"/>
            </a:avLst>
          </a:prstGeom>
          <a:solidFill>
            <a:srgbClr val="FFB3B4"/>
          </a:solidFill>
          <a:ln/>
        </p:spPr>
        <p:txBody>
          <a:bodyPr/>
          <a:lstStyle/>
          <a:p>
            <a:endParaRPr lang="en-GH">
              <a:latin typeface="Times New Roman" panose="02020603050405020304" pitchFamily="18" charset="0"/>
              <a:cs typeface="Times New Roman" panose="02020603050405020304" pitchFamily="18" charset="0"/>
            </a:endParaRPr>
          </a:p>
        </p:txBody>
      </p:sp>
      <p:sp>
        <p:nvSpPr>
          <p:cNvPr id="16" name="Text 13"/>
          <p:cNvSpPr/>
          <p:nvPr/>
        </p:nvSpPr>
        <p:spPr>
          <a:xfrm>
            <a:off x="956816" y="4011290"/>
            <a:ext cx="8006507" cy="226814"/>
          </a:xfrm>
          <a:prstGeom prst="rect">
            <a:avLst/>
          </a:prstGeom>
          <a:noFill/>
          <a:ln/>
        </p:spPr>
        <p:txBody>
          <a:bodyPr wrap="none" lIns="0" tIns="0" rIns="0" bIns="0" rtlCol="0" anchor="t"/>
          <a:lstStyle/>
          <a:p>
            <a:pPr marL="0" indent="0" algn="l">
              <a:lnSpc>
                <a:spcPct val="133000"/>
              </a:lnSpc>
              <a:buNone/>
            </a:pPr>
            <a:r>
              <a:rPr lang="en-US" sz="1100" b="1" dirty="0">
                <a:solidFill>
                  <a:srgbClr val="000000"/>
                </a:solidFill>
                <a:latin typeface="Times New Roman" panose="02020603050405020304" pitchFamily="18" charset="0"/>
                <a:ea typeface="Open Sans" pitchFamily="34" charset="-122"/>
                <a:cs typeface="Times New Roman" panose="02020603050405020304" pitchFamily="18" charset="0"/>
              </a:rPr>
              <a:t>The Board has mandated a 12-month go-live. The cost of inaction exceeds the cost of transformation.</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2"/>
          <p:cNvSpPr/>
          <p:nvPr/>
        </p:nvSpPr>
        <p:spPr>
          <a:xfrm>
            <a:off x="496119" y="895052"/>
            <a:ext cx="7669485" cy="442987"/>
          </a:xfrm>
          <a:prstGeom prst="rect">
            <a:avLst/>
          </a:prstGeom>
          <a:noFill/>
          <a:ln/>
        </p:spPr>
        <p:txBody>
          <a:bodyPr wrap="none" lIns="0" tIns="0" rIns="0" bIns="0" rtlCol="0" anchor="t"/>
          <a:lstStyle/>
          <a:p>
            <a:pPr marL="0" indent="0" algn="l">
              <a:lnSpc>
                <a:spcPct val="104000"/>
              </a:lnSpc>
              <a:buNone/>
            </a:pPr>
            <a:r>
              <a:rPr lang="en-US" sz="2750" dirty="0">
                <a:solidFill>
                  <a:srgbClr val="403CCF"/>
                </a:solidFill>
                <a:latin typeface="Times New Roman" panose="02020603050405020304" pitchFamily="18" charset="0"/>
                <a:ea typeface="Libre Baskerville" pitchFamily="34" charset="-122"/>
                <a:cs typeface="Times New Roman" panose="02020603050405020304" pitchFamily="18" charset="0"/>
              </a:rPr>
              <a:t>Where AMG Is vs. Where It Needs to Be</a:t>
            </a:r>
            <a:endParaRPr lang="en-US" sz="2750" dirty="0">
              <a:latin typeface="Times New Roman" panose="02020603050405020304" pitchFamily="18" charset="0"/>
              <a:cs typeface="Times New Roman" panose="02020603050405020304" pitchFamily="18" charset="0"/>
            </a:endParaRPr>
          </a:p>
        </p:txBody>
      </p:sp>
      <p:sp>
        <p:nvSpPr>
          <p:cNvPr id="5" name="Text 3"/>
          <p:cNvSpPr/>
          <p:nvPr/>
        </p:nvSpPr>
        <p:spPr>
          <a:xfrm>
            <a:off x="496119" y="1692399"/>
            <a:ext cx="2676748" cy="221456"/>
          </a:xfrm>
          <a:prstGeom prst="rect">
            <a:avLst/>
          </a:prstGeom>
          <a:noFill/>
          <a:ln/>
        </p:spPr>
        <p:txBody>
          <a:bodyPr wrap="none" lIns="0" tIns="0" rIns="0" bIns="0" rtlCol="0" anchor="t"/>
          <a:lstStyle/>
          <a:p>
            <a:pPr marL="0" indent="0" algn="l">
              <a:lnSpc>
                <a:spcPct val="104000"/>
              </a:lnSpc>
              <a:buNone/>
            </a:pPr>
            <a:r>
              <a:rPr lang="en-US" sz="1350" dirty="0">
                <a:solidFill>
                  <a:srgbClr val="403CCF"/>
                </a:solidFill>
                <a:latin typeface="Times New Roman" panose="02020603050405020304" pitchFamily="18" charset="0"/>
                <a:ea typeface="Libre Baskerville" pitchFamily="34" charset="-122"/>
                <a:cs typeface="Times New Roman" panose="02020603050405020304" pitchFamily="18" charset="0"/>
              </a:rPr>
              <a:t> Where AMG Is Today</a:t>
            </a:r>
            <a:endParaRPr lang="en-US" sz="1350" dirty="0">
              <a:latin typeface="Times New Roman" panose="02020603050405020304" pitchFamily="18" charset="0"/>
              <a:cs typeface="Times New Roman" panose="02020603050405020304" pitchFamily="18" charset="0"/>
            </a:endParaRPr>
          </a:p>
        </p:txBody>
      </p:sp>
      <p:sp>
        <p:nvSpPr>
          <p:cNvPr id="6" name="Text 4"/>
          <p:cNvSpPr/>
          <p:nvPr/>
        </p:nvSpPr>
        <p:spPr>
          <a:xfrm>
            <a:off x="496119" y="2055614"/>
            <a:ext cx="3902943" cy="2012752"/>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100" dirty="0">
                <a:solidFill>
                  <a:srgbClr val="49495A"/>
                </a:solidFill>
                <a:latin typeface="Times New Roman" panose="02020603050405020304" pitchFamily="18" charset="0"/>
                <a:ea typeface="Open Sans" pitchFamily="34" charset="-122"/>
                <a:cs typeface="Times New Roman" panose="02020603050405020304" pitchFamily="18" charset="0"/>
              </a:rPr>
              <a:t>Manual, complex 'unique' processes riddled with inefficiencies</a:t>
            </a:r>
            <a:endParaRPr lang="en-US" sz="11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1100" dirty="0">
                <a:solidFill>
                  <a:srgbClr val="49495A"/>
                </a:solidFill>
                <a:latin typeface="Times New Roman" panose="02020603050405020304" pitchFamily="18" charset="0"/>
                <a:ea typeface="Open Sans" pitchFamily="34" charset="-122"/>
                <a:cs typeface="Times New Roman" panose="02020603050405020304" pitchFamily="18" charset="0"/>
              </a:rPr>
              <a:t>Disparate applications hindering reporting, insights and analytics</a:t>
            </a:r>
            <a:endParaRPr lang="en-US" sz="11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1100" dirty="0">
                <a:solidFill>
                  <a:srgbClr val="49495A"/>
                </a:solidFill>
                <a:latin typeface="Times New Roman" panose="02020603050405020304" pitchFamily="18" charset="0"/>
                <a:ea typeface="Open Sans" pitchFamily="34" charset="-122"/>
                <a:cs typeface="Times New Roman" panose="02020603050405020304" pitchFamily="18" charset="0"/>
              </a:rPr>
              <a:t>Limited data model and poor master data governance</a:t>
            </a:r>
            <a:endParaRPr lang="en-US" sz="11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1100" dirty="0">
                <a:solidFill>
                  <a:srgbClr val="49495A"/>
                </a:solidFill>
                <a:latin typeface="Times New Roman" panose="02020603050405020304" pitchFamily="18" charset="0"/>
                <a:ea typeface="Open Sans" pitchFamily="34" charset="-122"/>
                <a:cs typeface="Times New Roman" panose="02020603050405020304" pitchFamily="18" charset="0"/>
              </a:rPr>
              <a:t>Task-focused workforce with limited digital capabilities</a:t>
            </a:r>
            <a:endParaRPr lang="en-US" sz="11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1100" dirty="0">
                <a:solidFill>
                  <a:srgbClr val="49495A"/>
                </a:solidFill>
                <a:latin typeface="Times New Roman" panose="02020603050405020304" pitchFamily="18" charset="0"/>
                <a:ea typeface="Open Sans" pitchFamily="34" charset="-122"/>
                <a:cs typeface="Times New Roman" panose="02020603050405020304" pitchFamily="18" charset="0"/>
              </a:rPr>
              <a:t>Fragile BOM sync causing manufacturing delays and margin erosion</a:t>
            </a:r>
            <a:endParaRPr lang="en-US" sz="1100" dirty="0">
              <a:latin typeface="Times New Roman" panose="02020603050405020304" pitchFamily="18" charset="0"/>
              <a:cs typeface="Times New Roman" panose="02020603050405020304" pitchFamily="18" charset="0"/>
            </a:endParaRPr>
          </a:p>
        </p:txBody>
      </p:sp>
      <p:sp>
        <p:nvSpPr>
          <p:cNvPr id="7" name="Text 5"/>
          <p:cNvSpPr/>
          <p:nvPr/>
        </p:nvSpPr>
        <p:spPr>
          <a:xfrm>
            <a:off x="4749701" y="1692399"/>
            <a:ext cx="2992189" cy="221456"/>
          </a:xfrm>
          <a:prstGeom prst="rect">
            <a:avLst/>
          </a:prstGeom>
          <a:noFill/>
          <a:ln/>
        </p:spPr>
        <p:txBody>
          <a:bodyPr wrap="none" lIns="0" tIns="0" rIns="0" bIns="0" rtlCol="0" anchor="t"/>
          <a:lstStyle/>
          <a:p>
            <a:pPr marL="0" indent="0" algn="l">
              <a:lnSpc>
                <a:spcPct val="104000"/>
              </a:lnSpc>
              <a:buNone/>
            </a:pPr>
            <a:r>
              <a:rPr lang="en-US" sz="1350" dirty="0">
                <a:solidFill>
                  <a:srgbClr val="403CCF"/>
                </a:solidFill>
                <a:latin typeface="Times New Roman" panose="02020603050405020304" pitchFamily="18" charset="0"/>
                <a:ea typeface="Libre Baskerville" pitchFamily="34" charset="-122"/>
                <a:cs typeface="Times New Roman" panose="02020603050405020304" pitchFamily="18" charset="0"/>
              </a:rPr>
              <a:t>Where AMG Needs to Be</a:t>
            </a:r>
            <a:endParaRPr lang="en-US" sz="1350" dirty="0">
              <a:latin typeface="Times New Roman" panose="02020603050405020304" pitchFamily="18" charset="0"/>
              <a:cs typeface="Times New Roman" panose="02020603050405020304" pitchFamily="18" charset="0"/>
            </a:endParaRPr>
          </a:p>
        </p:txBody>
      </p:sp>
      <p:sp>
        <p:nvSpPr>
          <p:cNvPr id="8" name="Text 6"/>
          <p:cNvSpPr/>
          <p:nvPr/>
        </p:nvSpPr>
        <p:spPr>
          <a:xfrm>
            <a:off x="4749701" y="2055614"/>
            <a:ext cx="3902943" cy="2466380"/>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100" dirty="0">
                <a:solidFill>
                  <a:srgbClr val="49495A"/>
                </a:solidFill>
                <a:latin typeface="Times New Roman" panose="02020603050405020304" pitchFamily="18" charset="0"/>
                <a:ea typeface="Open Sans" pitchFamily="34" charset="-122"/>
                <a:cs typeface="Times New Roman" panose="02020603050405020304" pitchFamily="18" charset="0"/>
              </a:rPr>
              <a:t>Standardised, end-to-end processes enabling efficiency and scale</a:t>
            </a:r>
            <a:endParaRPr lang="en-US" sz="11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1100" dirty="0">
                <a:solidFill>
                  <a:srgbClr val="49495A"/>
                </a:solidFill>
                <a:latin typeface="Times New Roman" panose="02020603050405020304" pitchFamily="18" charset="0"/>
                <a:ea typeface="Open Sans" pitchFamily="34" charset="-122"/>
                <a:cs typeface="Times New Roman" panose="02020603050405020304" pitchFamily="18" charset="0"/>
              </a:rPr>
              <a:t>Unified platform with real-time reporting and margin visibility</a:t>
            </a:r>
            <a:endParaRPr lang="en-US" sz="11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1100" dirty="0">
                <a:solidFill>
                  <a:srgbClr val="49495A"/>
                </a:solidFill>
                <a:latin typeface="Times New Roman" panose="02020603050405020304" pitchFamily="18" charset="0"/>
                <a:ea typeface="Open Sans" pitchFamily="34" charset="-122"/>
                <a:cs typeface="Times New Roman" panose="02020603050405020304" pitchFamily="18" charset="0"/>
              </a:rPr>
              <a:t>Strong data governance anchored to a single source of truth</a:t>
            </a:r>
            <a:endParaRPr lang="en-US" sz="11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1100" dirty="0">
                <a:solidFill>
                  <a:srgbClr val="49495A"/>
                </a:solidFill>
                <a:latin typeface="Times New Roman" panose="02020603050405020304" pitchFamily="18" charset="0"/>
                <a:ea typeface="Open Sans" pitchFamily="34" charset="-122"/>
                <a:cs typeface="Times New Roman" panose="02020603050405020304" pitchFamily="18" charset="0"/>
              </a:rPr>
              <a:t>Digitally capable workforce driving innovation and value</a:t>
            </a:r>
            <a:endParaRPr lang="en-US" sz="1100" dirty="0">
              <a:latin typeface="Times New Roman" panose="02020603050405020304" pitchFamily="18" charset="0"/>
              <a:cs typeface="Times New Roman" panose="02020603050405020304" pitchFamily="18" charset="0"/>
            </a:endParaRPr>
          </a:p>
          <a:p>
            <a:pPr marL="342900" indent="-342900" algn="l">
              <a:lnSpc>
                <a:spcPct val="133000"/>
              </a:lnSpc>
              <a:buSzPct val="100000"/>
              <a:buChar char="•"/>
            </a:pPr>
            <a:r>
              <a:rPr lang="en-US" sz="1100" dirty="0">
                <a:solidFill>
                  <a:srgbClr val="49495A"/>
                </a:solidFill>
                <a:latin typeface="Times New Roman" panose="02020603050405020304" pitchFamily="18" charset="0"/>
                <a:ea typeface="Open Sans" pitchFamily="34" charset="-122"/>
                <a:cs typeface="Times New Roman" panose="02020603050405020304" pitchFamily="18" charset="0"/>
              </a:rPr>
              <a:t>Integrated Engineering and ERP eliminating BOM errors from Day 1</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ext 2"/>
          <p:cNvSpPr/>
          <p:nvPr/>
        </p:nvSpPr>
        <p:spPr>
          <a:xfrm>
            <a:off x="496119" y="850478"/>
            <a:ext cx="8151763" cy="753070"/>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1E3A5F"/>
                </a:solidFill>
                <a:latin typeface="Times New Roman" panose="02020603050405020304" pitchFamily="18" charset="0"/>
                <a:ea typeface="Libre Baskerville" pitchFamily="34" charset="-122"/>
                <a:cs typeface="Times New Roman" panose="02020603050405020304" pitchFamily="18" charset="0"/>
              </a:rPr>
              <a:t>Three Non-Negotiable Principles Guiding Every Decision</a:t>
            </a:r>
            <a:endParaRPr lang="en-US" sz="2400" dirty="0">
              <a:latin typeface="Times New Roman" panose="02020603050405020304" pitchFamily="18" charset="0"/>
              <a:cs typeface="Times New Roman" panose="02020603050405020304" pitchFamily="18" charset="0"/>
            </a:endParaRPr>
          </a:p>
        </p:txBody>
      </p:sp>
      <p:sp>
        <p:nvSpPr>
          <p:cNvPr id="5" name="Shape 3"/>
          <p:cNvSpPr/>
          <p:nvPr/>
        </p:nvSpPr>
        <p:spPr>
          <a:xfrm>
            <a:off x="496119" y="1757139"/>
            <a:ext cx="2648992" cy="1955527"/>
          </a:xfrm>
          <a:prstGeom prst="roundRect">
            <a:avLst>
              <a:gd name="adj" fmla="val 3507"/>
            </a:avLst>
          </a:prstGeom>
          <a:solidFill>
            <a:srgbClr val="FBFAFF"/>
          </a:solidFill>
          <a:ln w="14288">
            <a:solidFill>
              <a:srgbClr val="D0CED9"/>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stretch>
            <a:fillRect/>
          </a:stretch>
        </p:blipFill>
        <p:spPr>
          <a:xfrm>
            <a:off x="481831" y="1757139"/>
            <a:ext cx="57150" cy="1955527"/>
          </a:xfrm>
          <a:prstGeom prst="rect">
            <a:avLst/>
          </a:prstGeom>
        </p:spPr>
      </p:pic>
      <p:sp>
        <p:nvSpPr>
          <p:cNvPr id="7" name="Text 4"/>
          <p:cNvSpPr/>
          <p:nvPr/>
        </p:nvSpPr>
        <p:spPr>
          <a:xfrm>
            <a:off x="673745" y="1891903"/>
            <a:ext cx="2200201" cy="188268"/>
          </a:xfrm>
          <a:prstGeom prst="rect">
            <a:avLst/>
          </a:prstGeom>
          <a:noFill/>
          <a:ln/>
        </p:spPr>
        <p:txBody>
          <a:bodyPr wrap="none" lIns="0" tIns="0" rIns="0" bIns="0" rtlCol="0" anchor="t"/>
          <a:lstStyle/>
          <a:p>
            <a:pPr marL="0" indent="0" algn="l">
              <a:lnSpc>
                <a:spcPct val="104000"/>
              </a:lnSpc>
              <a:buNone/>
            </a:pPr>
            <a:r>
              <a:rPr lang="en-US" sz="1200" dirty="0">
                <a:solidFill>
                  <a:srgbClr val="0D7E80"/>
                </a:solidFill>
                <a:latin typeface="Times New Roman" panose="02020603050405020304" pitchFamily="18" charset="0"/>
                <a:ea typeface="Libre Baskerville" pitchFamily="34" charset="-122"/>
                <a:cs typeface="Times New Roman" panose="02020603050405020304" pitchFamily="18" charset="0"/>
              </a:rPr>
              <a:t>Operational Continuity First</a:t>
            </a:r>
            <a:endParaRPr lang="en-US" sz="1200" dirty="0">
              <a:latin typeface="Times New Roman" panose="02020603050405020304" pitchFamily="18" charset="0"/>
              <a:cs typeface="Times New Roman" panose="02020603050405020304" pitchFamily="18" charset="0"/>
            </a:endParaRPr>
          </a:p>
        </p:txBody>
      </p:sp>
      <p:sp>
        <p:nvSpPr>
          <p:cNvPr id="8" name="Text 5"/>
          <p:cNvSpPr/>
          <p:nvPr/>
        </p:nvSpPr>
        <p:spPr>
          <a:xfrm>
            <a:off x="673745" y="2141562"/>
            <a:ext cx="2336602" cy="1248073"/>
          </a:xfrm>
          <a:prstGeom prst="rect">
            <a:avLst/>
          </a:prstGeom>
          <a:noFill/>
          <a:ln/>
        </p:spPr>
        <p:txBody>
          <a:bodyPr wrap="square" lIns="0" tIns="0" rIns="0" bIns="0" rtlCol="0" anchor="t">
            <a:normAutofit/>
          </a:bodyPr>
          <a:lstStyle/>
          <a:p>
            <a:pPr marL="0" indent="0" algn="l">
              <a:lnSpc>
                <a:spcPct val="123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No disruption to order fulfilment, customer commitments, or monthly financial close. Every scope and timing decision is evaluated against this principle first. Cutover only happens after parallel runs confirm full parity with the legacy system.</a:t>
            </a:r>
            <a:endParaRPr lang="en-US" sz="1000" dirty="0">
              <a:latin typeface="Times New Roman" panose="02020603050405020304" pitchFamily="18" charset="0"/>
              <a:cs typeface="Times New Roman" panose="02020603050405020304" pitchFamily="18" charset="0"/>
            </a:endParaRPr>
          </a:p>
        </p:txBody>
      </p:sp>
      <p:sp>
        <p:nvSpPr>
          <p:cNvPr id="9" name="Shape 6"/>
          <p:cNvSpPr/>
          <p:nvPr/>
        </p:nvSpPr>
        <p:spPr>
          <a:xfrm>
            <a:off x="3247504" y="1757139"/>
            <a:ext cx="2648992" cy="1955527"/>
          </a:xfrm>
          <a:prstGeom prst="roundRect">
            <a:avLst>
              <a:gd name="adj" fmla="val 3507"/>
            </a:avLst>
          </a:prstGeom>
          <a:solidFill>
            <a:srgbClr val="FBFAFF"/>
          </a:solidFill>
          <a:ln w="14288">
            <a:solidFill>
              <a:srgbClr val="D0CED9"/>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pic>
        <p:nvPicPr>
          <p:cNvPr id="10" name="Image 1" descr="preencoded.png"/>
          <p:cNvPicPr>
            <a:picLocks noChangeAspect="1"/>
          </p:cNvPicPr>
          <p:nvPr/>
        </p:nvPicPr>
        <p:blipFill>
          <a:blip r:embed="rId3"/>
          <a:stretch>
            <a:fillRect/>
          </a:stretch>
        </p:blipFill>
        <p:spPr>
          <a:xfrm>
            <a:off x="3233217" y="1757139"/>
            <a:ext cx="57150" cy="1955527"/>
          </a:xfrm>
          <a:prstGeom prst="rect">
            <a:avLst/>
          </a:prstGeom>
        </p:spPr>
      </p:pic>
      <p:sp>
        <p:nvSpPr>
          <p:cNvPr id="11" name="Text 7"/>
          <p:cNvSpPr/>
          <p:nvPr/>
        </p:nvSpPr>
        <p:spPr>
          <a:xfrm>
            <a:off x="3425130" y="1891903"/>
            <a:ext cx="2336602" cy="376535"/>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E3A5F"/>
                </a:solidFill>
                <a:latin typeface="Times New Roman" panose="02020603050405020304" pitchFamily="18" charset="0"/>
                <a:ea typeface="Libre Baskerville" pitchFamily="34" charset="-122"/>
                <a:cs typeface="Times New Roman" panose="02020603050405020304" pitchFamily="18" charset="0"/>
              </a:rPr>
              <a:t>Margin Recovery as the North Star</a:t>
            </a:r>
            <a:endParaRPr lang="en-US" sz="1200" dirty="0">
              <a:latin typeface="Times New Roman" panose="02020603050405020304" pitchFamily="18" charset="0"/>
              <a:cs typeface="Times New Roman" panose="02020603050405020304" pitchFamily="18" charset="0"/>
            </a:endParaRPr>
          </a:p>
        </p:txBody>
      </p:sp>
      <p:sp>
        <p:nvSpPr>
          <p:cNvPr id="12" name="Text 8"/>
          <p:cNvSpPr/>
          <p:nvPr/>
        </p:nvSpPr>
        <p:spPr>
          <a:xfrm>
            <a:off x="3425130" y="2329830"/>
            <a:ext cx="2336602" cy="1248073"/>
          </a:xfrm>
          <a:prstGeom prst="rect">
            <a:avLst/>
          </a:prstGeom>
          <a:noFill/>
          <a:ln/>
        </p:spPr>
        <p:txBody>
          <a:bodyPr wrap="square" lIns="0" tIns="0" rIns="0" bIns="0" rtlCol="0" anchor="t">
            <a:normAutofit/>
          </a:bodyPr>
          <a:lstStyle/>
          <a:p>
            <a:pPr marL="0" indent="0" algn="l">
              <a:lnSpc>
                <a:spcPct val="123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The entire program exists to stop 80% of orders losing money. Every module selected for Day-1 go-live must contribute directly to contribution margin visibility. Job costing is not optional — it is the primary deliverable of the transformation.</a:t>
            </a:r>
            <a:endParaRPr lang="en-US" sz="1000" dirty="0">
              <a:latin typeface="Times New Roman" panose="02020603050405020304" pitchFamily="18" charset="0"/>
              <a:cs typeface="Times New Roman" panose="02020603050405020304" pitchFamily="18" charset="0"/>
            </a:endParaRPr>
          </a:p>
        </p:txBody>
      </p:sp>
      <p:sp>
        <p:nvSpPr>
          <p:cNvPr id="13" name="Shape 9"/>
          <p:cNvSpPr/>
          <p:nvPr/>
        </p:nvSpPr>
        <p:spPr>
          <a:xfrm>
            <a:off x="5998890" y="1757139"/>
            <a:ext cx="2648992" cy="1955527"/>
          </a:xfrm>
          <a:prstGeom prst="roundRect">
            <a:avLst>
              <a:gd name="adj" fmla="val 3507"/>
            </a:avLst>
          </a:prstGeom>
          <a:solidFill>
            <a:srgbClr val="FBFAFF"/>
          </a:solidFill>
          <a:ln w="14288">
            <a:solidFill>
              <a:srgbClr val="D0CED9"/>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pic>
        <p:nvPicPr>
          <p:cNvPr id="14" name="Image 2" descr="preencoded.png"/>
          <p:cNvPicPr>
            <a:picLocks noChangeAspect="1"/>
          </p:cNvPicPr>
          <p:nvPr/>
        </p:nvPicPr>
        <p:blipFill>
          <a:blip r:embed="rId3"/>
          <a:stretch>
            <a:fillRect/>
          </a:stretch>
        </p:blipFill>
        <p:spPr>
          <a:xfrm>
            <a:off x="5984602" y="1757139"/>
            <a:ext cx="57150" cy="1955527"/>
          </a:xfrm>
          <a:prstGeom prst="rect">
            <a:avLst/>
          </a:prstGeom>
        </p:spPr>
      </p:pic>
      <p:sp>
        <p:nvSpPr>
          <p:cNvPr id="15" name="Text 10"/>
          <p:cNvSpPr/>
          <p:nvPr/>
        </p:nvSpPr>
        <p:spPr>
          <a:xfrm>
            <a:off x="6176516" y="1891903"/>
            <a:ext cx="2336602" cy="376535"/>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D97706"/>
                </a:solidFill>
                <a:latin typeface="Times New Roman" panose="02020603050405020304" pitchFamily="18" charset="0"/>
                <a:ea typeface="Libre Baskerville" pitchFamily="34" charset="-122"/>
                <a:cs typeface="Times New Roman" panose="02020603050405020304" pitchFamily="18" charset="0"/>
              </a:rPr>
              <a:t>Scope Discipline Above All Else</a:t>
            </a:r>
            <a:endParaRPr lang="en-US" sz="1200" dirty="0">
              <a:latin typeface="Times New Roman" panose="02020603050405020304" pitchFamily="18" charset="0"/>
              <a:cs typeface="Times New Roman" panose="02020603050405020304" pitchFamily="18" charset="0"/>
            </a:endParaRPr>
          </a:p>
        </p:txBody>
      </p:sp>
      <p:sp>
        <p:nvSpPr>
          <p:cNvPr id="16" name="Text 11"/>
          <p:cNvSpPr/>
          <p:nvPr/>
        </p:nvSpPr>
        <p:spPr>
          <a:xfrm>
            <a:off x="6176516" y="2329830"/>
            <a:ext cx="2336602" cy="1248073"/>
          </a:xfrm>
          <a:prstGeom prst="rect">
            <a:avLst/>
          </a:prstGeom>
          <a:noFill/>
          <a:ln/>
        </p:spPr>
        <p:txBody>
          <a:bodyPr wrap="square" lIns="0" tIns="0" rIns="0" bIns="0" rtlCol="0" anchor="t">
            <a:normAutofit/>
          </a:bodyPr>
          <a:lstStyle/>
          <a:p>
            <a:pPr marL="0" indent="0" algn="l">
              <a:lnSpc>
                <a:spcPct val="123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Fewer than 15 customisations at go-live. Every scope addition must pass a three-question test: Is it required for Day-1 operations? Does a standard configuration exist? What is the ongoing maintenance cost? The Steering Committee holds veto power.</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4" name="Text 2"/>
          <p:cNvSpPr/>
          <p:nvPr/>
        </p:nvSpPr>
        <p:spPr>
          <a:xfrm>
            <a:off x="496119" y="699715"/>
            <a:ext cx="8535516" cy="332259"/>
          </a:xfrm>
          <a:prstGeom prst="rect">
            <a:avLst/>
          </a:prstGeom>
          <a:noFill/>
          <a:ln/>
        </p:spPr>
        <p:txBody>
          <a:bodyPr wrap="none" lIns="0" tIns="0" rIns="0" bIns="0" rtlCol="0" anchor="t"/>
          <a:lstStyle/>
          <a:p>
            <a:pPr marL="0" indent="0" algn="l">
              <a:lnSpc>
                <a:spcPct val="104000"/>
              </a:lnSpc>
              <a:buNone/>
            </a:pPr>
            <a:r>
              <a:rPr lang="en-US" sz="2800" dirty="0">
                <a:solidFill>
                  <a:srgbClr val="403CCF"/>
                </a:solidFill>
                <a:latin typeface="Times New Roman" panose="02020603050405020304" pitchFamily="18" charset="0"/>
                <a:ea typeface="Libre Baskerville" pitchFamily="34" charset="-122"/>
                <a:cs typeface="Times New Roman" panose="02020603050405020304" pitchFamily="18" charset="0"/>
              </a:rPr>
              <a:t>Four-Phase Delivery Roadmap</a:t>
            </a:r>
            <a:endParaRPr lang="en-US" sz="2800" dirty="0">
              <a:latin typeface="Times New Roman" panose="02020603050405020304" pitchFamily="18" charset="0"/>
              <a:cs typeface="Times New Roman" panose="02020603050405020304" pitchFamily="18" charset="0"/>
            </a:endParaRPr>
          </a:p>
        </p:txBody>
      </p:sp>
      <p:sp>
        <p:nvSpPr>
          <p:cNvPr id="5" name="Shape 3"/>
          <p:cNvSpPr/>
          <p:nvPr/>
        </p:nvSpPr>
        <p:spPr>
          <a:xfrm>
            <a:off x="496119" y="1151558"/>
            <a:ext cx="4035996" cy="1478756"/>
          </a:xfrm>
          <a:prstGeom prst="roundRect">
            <a:avLst>
              <a:gd name="adj" fmla="val 1079"/>
            </a:avLst>
          </a:prstGeom>
          <a:solidFill>
            <a:srgbClr val="EAE8F3"/>
          </a:solidFill>
          <a:ln/>
        </p:spPr>
        <p:txBody>
          <a:bodyPr/>
          <a:lstStyle/>
          <a:p>
            <a:endParaRPr lang="en-GH" sz="2800">
              <a:latin typeface="Times New Roman" panose="02020603050405020304" pitchFamily="18" charset="0"/>
              <a:cs typeface="Times New Roman" panose="02020603050405020304" pitchFamily="18" charset="0"/>
            </a:endParaRPr>
          </a:p>
        </p:txBody>
      </p:sp>
      <p:sp>
        <p:nvSpPr>
          <p:cNvPr id="6" name="Text 4"/>
          <p:cNvSpPr/>
          <p:nvPr/>
        </p:nvSpPr>
        <p:spPr>
          <a:xfrm>
            <a:off x="602382" y="1257821"/>
            <a:ext cx="1427783" cy="166092"/>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Times New Roman" panose="02020603050405020304" pitchFamily="18" charset="0"/>
                <a:ea typeface="Libre Baskerville" pitchFamily="34" charset="-122"/>
                <a:cs typeface="Times New Roman" panose="02020603050405020304" pitchFamily="18" charset="0"/>
              </a:rPr>
              <a:t>Phase 0 · Foundation</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602382" y="1471687"/>
            <a:ext cx="3823469" cy="148828"/>
          </a:xfrm>
          <a:prstGeom prst="rect">
            <a:avLst/>
          </a:prstGeom>
          <a:noFill/>
          <a:ln/>
        </p:spPr>
        <p:txBody>
          <a:bodyPr wrap="none" lIns="0" tIns="0" rIns="0" bIns="0" rtlCol="0" anchor="t"/>
          <a:lstStyle/>
          <a:p>
            <a:pPr marL="0" indent="0" algn="l">
              <a:lnSpc>
                <a:spcPct val="117000"/>
              </a:lnSpc>
              <a:buNone/>
            </a:pPr>
            <a:r>
              <a:rPr lang="en-US" sz="1050" b="1" dirty="0">
                <a:solidFill>
                  <a:srgbClr val="49495A"/>
                </a:solidFill>
                <a:latin typeface="Times New Roman" panose="02020603050405020304" pitchFamily="18" charset="0"/>
                <a:ea typeface="Open Sans" pitchFamily="34" charset="-122"/>
                <a:cs typeface="Times New Roman" panose="02020603050405020304" pitchFamily="18" charset="0"/>
              </a:rPr>
              <a:t>M1–2</a:t>
            </a:r>
            <a:endParaRPr lang="en-US" sz="1050" dirty="0">
              <a:latin typeface="Times New Roman" panose="02020603050405020304" pitchFamily="18" charset="0"/>
              <a:cs typeface="Times New Roman" panose="02020603050405020304" pitchFamily="18" charset="0"/>
            </a:endParaRPr>
          </a:p>
        </p:txBody>
      </p:sp>
      <p:sp>
        <p:nvSpPr>
          <p:cNvPr id="8" name="Text 6"/>
          <p:cNvSpPr/>
          <p:nvPr/>
        </p:nvSpPr>
        <p:spPr>
          <a:xfrm>
            <a:off x="602382" y="1668289"/>
            <a:ext cx="3823469" cy="855762"/>
          </a:xfrm>
          <a:prstGeom prst="rect">
            <a:avLst/>
          </a:prstGeom>
          <a:noFill/>
          <a:ln/>
        </p:spPr>
        <p:txBody>
          <a:bodyPr wrap="square" lIns="0" tIns="0" rIns="0" bIns="0" rtlCol="0" anchor="t">
            <a:noAutofit/>
          </a:bodyPr>
          <a:lstStyle/>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Vendor selection &amp; contracting</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BOM audit &amp; data cleanse</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Project governance established</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Parallel reporting layer live</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Change management plan developed</a:t>
            </a:r>
            <a:endParaRPr lang="en-US" sz="1050" dirty="0">
              <a:latin typeface="Times New Roman" panose="02020603050405020304" pitchFamily="18" charset="0"/>
              <a:cs typeface="Times New Roman" panose="02020603050405020304" pitchFamily="18" charset="0"/>
            </a:endParaRPr>
          </a:p>
        </p:txBody>
      </p:sp>
      <p:sp>
        <p:nvSpPr>
          <p:cNvPr id="9" name="Shape 7"/>
          <p:cNvSpPr/>
          <p:nvPr/>
        </p:nvSpPr>
        <p:spPr>
          <a:xfrm>
            <a:off x="4611812" y="1151558"/>
            <a:ext cx="4036070" cy="1478756"/>
          </a:xfrm>
          <a:prstGeom prst="roundRect">
            <a:avLst>
              <a:gd name="adj" fmla="val 1079"/>
            </a:avLst>
          </a:prstGeom>
          <a:solidFill>
            <a:srgbClr val="EAE8F3"/>
          </a:solidFill>
          <a:ln/>
        </p:spPr>
        <p:txBody>
          <a:bodyPr/>
          <a:lstStyle/>
          <a:p>
            <a:endParaRPr lang="en-GH" sz="2800">
              <a:latin typeface="Times New Roman" panose="02020603050405020304" pitchFamily="18" charset="0"/>
              <a:cs typeface="Times New Roman" panose="02020603050405020304" pitchFamily="18" charset="0"/>
            </a:endParaRPr>
          </a:p>
        </p:txBody>
      </p:sp>
      <p:sp>
        <p:nvSpPr>
          <p:cNvPr id="10" name="Text 8"/>
          <p:cNvSpPr/>
          <p:nvPr/>
        </p:nvSpPr>
        <p:spPr>
          <a:xfrm>
            <a:off x="4718075" y="1257821"/>
            <a:ext cx="1531590" cy="166092"/>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Times New Roman" panose="02020603050405020304" pitchFamily="18" charset="0"/>
                <a:ea typeface="Libre Baskerville" pitchFamily="34" charset="-122"/>
                <a:cs typeface="Times New Roman" panose="02020603050405020304" pitchFamily="18" charset="0"/>
              </a:rPr>
              <a:t>Phase 1 · Core Go-Live</a:t>
            </a:r>
            <a:endParaRPr lang="en-US" sz="1200" dirty="0">
              <a:latin typeface="Times New Roman" panose="02020603050405020304" pitchFamily="18" charset="0"/>
              <a:cs typeface="Times New Roman" panose="02020603050405020304" pitchFamily="18" charset="0"/>
            </a:endParaRPr>
          </a:p>
        </p:txBody>
      </p:sp>
      <p:sp>
        <p:nvSpPr>
          <p:cNvPr id="11" name="Text 9"/>
          <p:cNvSpPr/>
          <p:nvPr/>
        </p:nvSpPr>
        <p:spPr>
          <a:xfrm>
            <a:off x="4718075" y="1471687"/>
            <a:ext cx="3823543" cy="148828"/>
          </a:xfrm>
          <a:prstGeom prst="rect">
            <a:avLst/>
          </a:prstGeom>
          <a:noFill/>
          <a:ln/>
        </p:spPr>
        <p:txBody>
          <a:bodyPr wrap="none" lIns="0" tIns="0" rIns="0" bIns="0" rtlCol="0" anchor="t"/>
          <a:lstStyle/>
          <a:p>
            <a:pPr marL="0" indent="0" algn="l">
              <a:lnSpc>
                <a:spcPct val="117000"/>
              </a:lnSpc>
              <a:buNone/>
            </a:pPr>
            <a:r>
              <a:rPr lang="en-US" sz="1050" b="1" dirty="0">
                <a:solidFill>
                  <a:srgbClr val="49495A"/>
                </a:solidFill>
                <a:latin typeface="Times New Roman" panose="02020603050405020304" pitchFamily="18" charset="0"/>
                <a:ea typeface="Open Sans" pitchFamily="34" charset="-122"/>
                <a:cs typeface="Times New Roman" panose="02020603050405020304" pitchFamily="18" charset="0"/>
              </a:rPr>
              <a:t>M3–12</a:t>
            </a:r>
            <a:endParaRPr lang="en-US" sz="1050" dirty="0">
              <a:latin typeface="Times New Roman" panose="02020603050405020304" pitchFamily="18" charset="0"/>
              <a:cs typeface="Times New Roman" panose="02020603050405020304" pitchFamily="18" charset="0"/>
            </a:endParaRPr>
          </a:p>
        </p:txBody>
      </p:sp>
      <p:sp>
        <p:nvSpPr>
          <p:cNvPr id="12" name="Text 10"/>
          <p:cNvSpPr/>
          <p:nvPr/>
        </p:nvSpPr>
        <p:spPr>
          <a:xfrm>
            <a:off x="4718075" y="1668289"/>
            <a:ext cx="3823543" cy="855762"/>
          </a:xfrm>
          <a:prstGeom prst="rect">
            <a:avLst/>
          </a:prstGeom>
          <a:noFill/>
          <a:ln/>
        </p:spPr>
        <p:txBody>
          <a:bodyPr wrap="square" lIns="0" tIns="0" rIns="0" bIns="0" rtlCol="0" anchor="t">
            <a:noAutofit/>
          </a:bodyPr>
          <a:lstStyle/>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Finance + multi-entity consolidation</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Unified Engineering / BOM</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Manufacturing execution &amp; MRP</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Project / job costing</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Procurement &amp; multi-location inventory</a:t>
            </a:r>
            <a:endParaRPr lang="en-US" sz="1050" dirty="0">
              <a:latin typeface="Times New Roman" panose="02020603050405020304" pitchFamily="18" charset="0"/>
              <a:cs typeface="Times New Roman" panose="02020603050405020304" pitchFamily="18" charset="0"/>
            </a:endParaRPr>
          </a:p>
        </p:txBody>
      </p:sp>
      <p:sp>
        <p:nvSpPr>
          <p:cNvPr id="13" name="Shape 11"/>
          <p:cNvSpPr/>
          <p:nvPr/>
        </p:nvSpPr>
        <p:spPr>
          <a:xfrm>
            <a:off x="496119" y="2710011"/>
            <a:ext cx="4035996" cy="1478756"/>
          </a:xfrm>
          <a:prstGeom prst="roundRect">
            <a:avLst>
              <a:gd name="adj" fmla="val 1079"/>
            </a:avLst>
          </a:prstGeom>
          <a:solidFill>
            <a:srgbClr val="EAE8F3"/>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14" name="Text 12"/>
          <p:cNvSpPr/>
          <p:nvPr/>
        </p:nvSpPr>
        <p:spPr>
          <a:xfrm>
            <a:off x="602382" y="2816275"/>
            <a:ext cx="1329035" cy="166092"/>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Times New Roman" panose="02020603050405020304" pitchFamily="18" charset="0"/>
                <a:ea typeface="Libre Baskerville" pitchFamily="34" charset="-122"/>
                <a:cs typeface="Times New Roman" panose="02020603050405020304" pitchFamily="18" charset="0"/>
              </a:rPr>
              <a:t>Phase 2 · Stabilise</a:t>
            </a:r>
            <a:endParaRPr lang="en-US" sz="1200" dirty="0">
              <a:latin typeface="Times New Roman" panose="02020603050405020304" pitchFamily="18" charset="0"/>
              <a:cs typeface="Times New Roman" panose="02020603050405020304" pitchFamily="18" charset="0"/>
            </a:endParaRPr>
          </a:p>
        </p:txBody>
      </p:sp>
      <p:sp>
        <p:nvSpPr>
          <p:cNvPr id="15" name="Text 13"/>
          <p:cNvSpPr/>
          <p:nvPr/>
        </p:nvSpPr>
        <p:spPr>
          <a:xfrm>
            <a:off x="602382" y="3030141"/>
            <a:ext cx="3823469" cy="148828"/>
          </a:xfrm>
          <a:prstGeom prst="rect">
            <a:avLst/>
          </a:prstGeom>
          <a:noFill/>
          <a:ln/>
        </p:spPr>
        <p:txBody>
          <a:bodyPr wrap="none" lIns="0" tIns="0" rIns="0" bIns="0" rtlCol="0" anchor="t"/>
          <a:lstStyle/>
          <a:p>
            <a:pPr marL="0" indent="0" algn="l">
              <a:lnSpc>
                <a:spcPct val="117000"/>
              </a:lnSpc>
              <a:buNone/>
            </a:pPr>
            <a:r>
              <a:rPr lang="en-US" sz="1050" b="1" dirty="0">
                <a:solidFill>
                  <a:srgbClr val="49495A"/>
                </a:solidFill>
                <a:latin typeface="Times New Roman" panose="02020603050405020304" pitchFamily="18" charset="0"/>
                <a:ea typeface="Open Sans" pitchFamily="34" charset="-122"/>
                <a:cs typeface="Times New Roman" panose="02020603050405020304" pitchFamily="18" charset="0"/>
              </a:rPr>
              <a:t>M12–15</a:t>
            </a:r>
            <a:endParaRPr lang="en-US" sz="1050" dirty="0">
              <a:latin typeface="Times New Roman" panose="02020603050405020304" pitchFamily="18" charset="0"/>
              <a:cs typeface="Times New Roman" panose="02020603050405020304" pitchFamily="18" charset="0"/>
            </a:endParaRPr>
          </a:p>
        </p:txBody>
      </p:sp>
      <p:sp>
        <p:nvSpPr>
          <p:cNvPr id="16" name="Text 14"/>
          <p:cNvSpPr/>
          <p:nvPr/>
        </p:nvSpPr>
        <p:spPr>
          <a:xfrm>
            <a:off x="602382" y="3226743"/>
            <a:ext cx="3823469" cy="855762"/>
          </a:xfrm>
          <a:prstGeom prst="rect">
            <a:avLst/>
          </a:prstGeom>
          <a:noFill/>
          <a:ln/>
        </p:spPr>
        <p:txBody>
          <a:bodyPr wrap="square" lIns="0" tIns="0" rIns="0" bIns="0" rtlCol="0" anchor="t">
            <a:noAutofit/>
          </a:bodyPr>
          <a:lstStyle/>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Hypercare &amp; issue resolution</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KPI dashboard validation</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User adoption measurement</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CRM integration scoping</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Process improvement cycle</a:t>
            </a:r>
            <a:endParaRPr lang="en-US" sz="1050" dirty="0">
              <a:latin typeface="Times New Roman" panose="02020603050405020304" pitchFamily="18" charset="0"/>
              <a:cs typeface="Times New Roman" panose="02020603050405020304" pitchFamily="18" charset="0"/>
            </a:endParaRPr>
          </a:p>
        </p:txBody>
      </p:sp>
      <p:sp>
        <p:nvSpPr>
          <p:cNvPr id="17" name="Shape 15"/>
          <p:cNvSpPr/>
          <p:nvPr/>
        </p:nvSpPr>
        <p:spPr>
          <a:xfrm>
            <a:off x="4611812" y="2710011"/>
            <a:ext cx="4036070" cy="1478756"/>
          </a:xfrm>
          <a:prstGeom prst="roundRect">
            <a:avLst>
              <a:gd name="adj" fmla="val 1079"/>
            </a:avLst>
          </a:prstGeom>
          <a:solidFill>
            <a:srgbClr val="EAE8F3"/>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18" name="Text 16"/>
          <p:cNvSpPr/>
          <p:nvPr/>
        </p:nvSpPr>
        <p:spPr>
          <a:xfrm>
            <a:off x="4718075" y="2816275"/>
            <a:ext cx="1329035" cy="166092"/>
          </a:xfrm>
          <a:prstGeom prst="rect">
            <a:avLst/>
          </a:prstGeom>
          <a:noFill/>
          <a:ln/>
        </p:spPr>
        <p:txBody>
          <a:bodyPr wrap="none" lIns="0" tIns="0" rIns="0" bIns="0" rtlCol="0" anchor="t"/>
          <a:lstStyle/>
          <a:p>
            <a:pPr marL="0" indent="0" algn="l">
              <a:lnSpc>
                <a:spcPct val="104000"/>
              </a:lnSpc>
              <a:buNone/>
            </a:pPr>
            <a:r>
              <a:rPr lang="en-US" sz="1200" dirty="0">
                <a:solidFill>
                  <a:srgbClr val="49495A"/>
                </a:solidFill>
                <a:latin typeface="Times New Roman" panose="02020603050405020304" pitchFamily="18" charset="0"/>
                <a:ea typeface="Libre Baskerville" pitchFamily="34" charset="-122"/>
                <a:cs typeface="Times New Roman" panose="02020603050405020304" pitchFamily="18" charset="0"/>
              </a:rPr>
              <a:t>Phase 3 · Extend</a:t>
            </a:r>
            <a:endParaRPr lang="en-US" sz="1200" dirty="0">
              <a:latin typeface="Times New Roman" panose="02020603050405020304" pitchFamily="18" charset="0"/>
              <a:cs typeface="Times New Roman" panose="02020603050405020304" pitchFamily="18" charset="0"/>
            </a:endParaRPr>
          </a:p>
        </p:txBody>
      </p:sp>
      <p:sp>
        <p:nvSpPr>
          <p:cNvPr id="19" name="Text 17"/>
          <p:cNvSpPr/>
          <p:nvPr/>
        </p:nvSpPr>
        <p:spPr>
          <a:xfrm>
            <a:off x="4718075" y="3030141"/>
            <a:ext cx="3823543" cy="148828"/>
          </a:xfrm>
          <a:prstGeom prst="rect">
            <a:avLst/>
          </a:prstGeom>
          <a:noFill/>
          <a:ln/>
        </p:spPr>
        <p:txBody>
          <a:bodyPr wrap="none" lIns="0" tIns="0" rIns="0" bIns="0" rtlCol="0" anchor="t"/>
          <a:lstStyle/>
          <a:p>
            <a:pPr marL="0" indent="0" algn="l">
              <a:lnSpc>
                <a:spcPct val="117000"/>
              </a:lnSpc>
              <a:buNone/>
            </a:pPr>
            <a:r>
              <a:rPr lang="en-US" sz="1050" b="1" dirty="0">
                <a:solidFill>
                  <a:srgbClr val="49495A"/>
                </a:solidFill>
                <a:latin typeface="Times New Roman" panose="02020603050405020304" pitchFamily="18" charset="0"/>
                <a:ea typeface="Open Sans" pitchFamily="34" charset="-122"/>
                <a:cs typeface="Times New Roman" panose="02020603050405020304" pitchFamily="18" charset="0"/>
              </a:rPr>
              <a:t>M15+</a:t>
            </a:r>
            <a:endParaRPr lang="en-US" sz="1050" dirty="0">
              <a:latin typeface="Times New Roman" panose="02020603050405020304" pitchFamily="18" charset="0"/>
              <a:cs typeface="Times New Roman" panose="02020603050405020304" pitchFamily="18" charset="0"/>
            </a:endParaRPr>
          </a:p>
        </p:txBody>
      </p:sp>
      <p:sp>
        <p:nvSpPr>
          <p:cNvPr id="20" name="Text 18"/>
          <p:cNvSpPr/>
          <p:nvPr/>
        </p:nvSpPr>
        <p:spPr>
          <a:xfrm>
            <a:off x="4718075" y="3226743"/>
            <a:ext cx="3823543" cy="855762"/>
          </a:xfrm>
          <a:prstGeom prst="rect">
            <a:avLst/>
          </a:prstGeom>
          <a:noFill/>
          <a:ln/>
        </p:spPr>
        <p:txBody>
          <a:bodyPr wrap="square" lIns="0" tIns="0" rIns="0" bIns="0" rtlCol="0" anchor="t">
            <a:noAutofit/>
          </a:bodyPr>
          <a:lstStyle/>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CRM integration</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HRIS / Payroll migration</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Advanced analytics &amp; BI</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EDI &amp; customer portal</a:t>
            </a:r>
            <a:endParaRPr lang="en-US" sz="105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Continuous improvement</a:t>
            </a:r>
            <a:endParaRPr lang="en-US" sz="1050" dirty="0">
              <a:latin typeface="Times New Roman" panose="02020603050405020304" pitchFamily="18" charset="0"/>
              <a:cs typeface="Times New Roman" panose="02020603050405020304" pitchFamily="18" charset="0"/>
            </a:endParaRPr>
          </a:p>
        </p:txBody>
      </p:sp>
      <p:sp>
        <p:nvSpPr>
          <p:cNvPr id="21" name="Shape 19"/>
          <p:cNvSpPr/>
          <p:nvPr/>
        </p:nvSpPr>
        <p:spPr>
          <a:xfrm>
            <a:off x="496119" y="4278437"/>
            <a:ext cx="8151763" cy="379958"/>
          </a:xfrm>
          <a:prstGeom prst="roundRect">
            <a:avLst>
              <a:gd name="adj" fmla="val 4198"/>
            </a:avLst>
          </a:prstGeom>
          <a:solidFill>
            <a:srgbClr val="B6FCB8"/>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23" name="Text 20"/>
          <p:cNvSpPr/>
          <p:nvPr/>
        </p:nvSpPr>
        <p:spPr>
          <a:xfrm>
            <a:off x="841549" y="4384700"/>
            <a:ext cx="8157270" cy="148828"/>
          </a:xfrm>
          <a:prstGeom prst="rect">
            <a:avLst/>
          </a:prstGeom>
          <a:noFill/>
          <a:ln/>
        </p:spPr>
        <p:txBody>
          <a:bodyPr wrap="none" lIns="0" tIns="0" rIns="0" bIns="0" rtlCol="0" anchor="t"/>
          <a:lstStyle/>
          <a:p>
            <a:pPr marL="0" indent="0" algn="l">
              <a:lnSpc>
                <a:spcPct val="117000"/>
              </a:lnSpc>
              <a:buNone/>
            </a:pPr>
            <a:r>
              <a:rPr lang="en-US" sz="1000" dirty="0">
                <a:solidFill>
                  <a:srgbClr val="000000"/>
                </a:solidFill>
                <a:latin typeface="Times New Roman" panose="02020603050405020304" pitchFamily="18" charset="0"/>
                <a:ea typeface="Open Sans" pitchFamily="34" charset="-122"/>
                <a:cs typeface="Times New Roman" panose="02020603050405020304" pitchFamily="18" charset="0"/>
              </a:rPr>
              <a:t>✓ Target Go-Live: Month 12</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496119" y="769962"/>
            <a:ext cx="6162377" cy="398711"/>
          </a:xfrm>
          <a:prstGeom prst="rect">
            <a:avLst/>
          </a:prstGeom>
          <a:noFill/>
          <a:ln/>
        </p:spPr>
        <p:txBody>
          <a:bodyPr wrap="none" lIns="0" tIns="0" rIns="0" bIns="0" rtlCol="0" anchor="t"/>
          <a:lstStyle/>
          <a:p>
            <a:pPr marL="0" indent="0" algn="l">
              <a:lnSpc>
                <a:spcPct val="104000"/>
              </a:lnSpc>
              <a:buNone/>
            </a:pPr>
            <a:r>
              <a:rPr lang="en-US" sz="2800" dirty="0">
                <a:solidFill>
                  <a:srgbClr val="403CCF"/>
                </a:solidFill>
                <a:latin typeface="Times New Roman" panose="02020603050405020304" pitchFamily="18" charset="0"/>
                <a:ea typeface="Libre Baskerville" pitchFamily="34" charset="-122"/>
                <a:cs typeface="Times New Roman" panose="02020603050405020304" pitchFamily="18" charset="0"/>
              </a:rPr>
              <a:t>Top 5 Program Risks &amp; Mitigations</a:t>
            </a:r>
            <a:endParaRPr lang="en-US" sz="2800" dirty="0">
              <a:latin typeface="Times New Roman" panose="02020603050405020304" pitchFamily="18" charset="0"/>
              <a:cs typeface="Times New Roman" panose="02020603050405020304" pitchFamily="18" charset="0"/>
            </a:endParaRPr>
          </a:p>
        </p:txBody>
      </p:sp>
      <p:sp>
        <p:nvSpPr>
          <p:cNvPr id="5" name="Shape 3"/>
          <p:cNvSpPr/>
          <p:nvPr/>
        </p:nvSpPr>
        <p:spPr>
          <a:xfrm>
            <a:off x="496119" y="1340867"/>
            <a:ext cx="8151763" cy="3025825"/>
          </a:xfrm>
          <a:prstGeom prst="roundRect">
            <a:avLst>
              <a:gd name="adj" fmla="val 633"/>
            </a:avLst>
          </a:prstGeom>
          <a:noFill/>
          <a:ln w="4763">
            <a:solidFill>
              <a:srgbClr val="000000">
                <a:alpha val="8000"/>
              </a:srgbClr>
            </a:solidFill>
            <a:prstDash val="solid"/>
          </a:ln>
        </p:spPr>
        <p:txBody>
          <a:bodyPr/>
          <a:lstStyle/>
          <a:p>
            <a:endParaRPr lang="en-GH"/>
          </a:p>
        </p:txBody>
      </p:sp>
      <p:sp>
        <p:nvSpPr>
          <p:cNvPr id="6" name="Shape 4"/>
          <p:cNvSpPr/>
          <p:nvPr/>
        </p:nvSpPr>
        <p:spPr>
          <a:xfrm>
            <a:off x="500881" y="1345629"/>
            <a:ext cx="8142238" cy="341114"/>
          </a:xfrm>
          <a:prstGeom prst="rect">
            <a:avLst/>
          </a:prstGeom>
          <a:solidFill>
            <a:srgbClr val="FFFFFF">
              <a:alpha val="4000"/>
            </a:srgbClr>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7" name="Text 5"/>
          <p:cNvSpPr/>
          <p:nvPr/>
        </p:nvSpPr>
        <p:spPr>
          <a:xfrm>
            <a:off x="628576" y="1419225"/>
            <a:ext cx="851074" cy="193923"/>
          </a:xfrm>
          <a:prstGeom prst="rect">
            <a:avLst/>
          </a:prstGeom>
          <a:noFill/>
          <a:ln/>
        </p:spPr>
        <p:txBody>
          <a:bodyPr wrap="none" lIns="0" tIns="0" rIns="0" bIns="0" rtlCol="0" anchor="t"/>
          <a:lstStyle/>
          <a:p>
            <a:pPr marL="0" indent="0" algn="l">
              <a:lnSpc>
                <a:spcPct val="127000"/>
              </a:lnSpc>
              <a:buNone/>
            </a:pPr>
            <a:r>
              <a:rPr lang="en-US" sz="1050" b="1" dirty="0">
                <a:solidFill>
                  <a:srgbClr val="49495A"/>
                </a:solidFill>
                <a:latin typeface="Times New Roman" panose="02020603050405020304" pitchFamily="18" charset="0"/>
                <a:ea typeface="Open Sans" pitchFamily="34" charset="-122"/>
                <a:cs typeface="Times New Roman" panose="02020603050405020304" pitchFamily="18" charset="0"/>
              </a:rPr>
              <a:t>Risk</a:t>
            </a:r>
            <a:endParaRPr lang="en-US" sz="1050" dirty="0">
              <a:latin typeface="Times New Roman" panose="02020603050405020304" pitchFamily="18" charset="0"/>
              <a:cs typeface="Times New Roman" panose="02020603050405020304" pitchFamily="18" charset="0"/>
            </a:endParaRPr>
          </a:p>
        </p:txBody>
      </p:sp>
      <p:sp>
        <p:nvSpPr>
          <p:cNvPr id="8" name="Text 6"/>
          <p:cNvSpPr/>
          <p:nvPr/>
        </p:nvSpPr>
        <p:spPr>
          <a:xfrm>
            <a:off x="1282303" y="1419225"/>
            <a:ext cx="2965698" cy="193923"/>
          </a:xfrm>
          <a:prstGeom prst="rect">
            <a:avLst/>
          </a:prstGeom>
          <a:noFill/>
          <a:ln/>
        </p:spPr>
        <p:txBody>
          <a:bodyPr wrap="none" lIns="0" tIns="0" rIns="0" bIns="0" rtlCol="0" anchor="t"/>
          <a:lstStyle/>
          <a:p>
            <a:pPr marL="0" indent="0" algn="l">
              <a:lnSpc>
                <a:spcPct val="127000"/>
              </a:lnSpc>
              <a:buNone/>
            </a:pPr>
            <a:r>
              <a:rPr lang="en-US" sz="1050" b="1" dirty="0">
                <a:solidFill>
                  <a:srgbClr val="49495A"/>
                </a:solidFill>
                <a:latin typeface="Times New Roman" panose="02020603050405020304" pitchFamily="18" charset="0"/>
                <a:ea typeface="Open Sans" pitchFamily="34" charset="-122"/>
                <a:cs typeface="Times New Roman" panose="02020603050405020304" pitchFamily="18" charset="0"/>
              </a:rPr>
              <a:t>Description</a:t>
            </a:r>
            <a:endParaRPr lang="en-US" sz="1050" dirty="0">
              <a:latin typeface="Times New Roman" panose="02020603050405020304" pitchFamily="18" charset="0"/>
              <a:cs typeface="Times New Roman" panose="02020603050405020304" pitchFamily="18" charset="0"/>
            </a:endParaRPr>
          </a:p>
        </p:txBody>
      </p:sp>
      <p:sp>
        <p:nvSpPr>
          <p:cNvPr id="9" name="Text 7"/>
          <p:cNvSpPr/>
          <p:nvPr/>
        </p:nvSpPr>
        <p:spPr>
          <a:xfrm>
            <a:off x="4050655" y="1419225"/>
            <a:ext cx="1011510" cy="193923"/>
          </a:xfrm>
          <a:prstGeom prst="rect">
            <a:avLst/>
          </a:prstGeom>
          <a:noFill/>
          <a:ln/>
        </p:spPr>
        <p:txBody>
          <a:bodyPr wrap="none" lIns="0" tIns="0" rIns="0" bIns="0" rtlCol="0" anchor="t"/>
          <a:lstStyle/>
          <a:p>
            <a:pPr marL="0" indent="0" algn="l">
              <a:lnSpc>
                <a:spcPct val="127000"/>
              </a:lnSpc>
              <a:buNone/>
            </a:pPr>
            <a:r>
              <a:rPr lang="en-US" sz="1050" b="1" dirty="0">
                <a:solidFill>
                  <a:srgbClr val="49495A"/>
                </a:solidFill>
                <a:latin typeface="Times New Roman" panose="02020603050405020304" pitchFamily="18" charset="0"/>
                <a:ea typeface="Open Sans" pitchFamily="34" charset="-122"/>
                <a:cs typeface="Times New Roman" panose="02020603050405020304" pitchFamily="18" charset="0"/>
              </a:rPr>
              <a:t>Severity</a:t>
            </a:r>
            <a:endParaRPr lang="en-US" sz="1050" dirty="0">
              <a:latin typeface="Times New Roman" panose="02020603050405020304" pitchFamily="18" charset="0"/>
              <a:cs typeface="Times New Roman" panose="02020603050405020304" pitchFamily="18" charset="0"/>
            </a:endParaRPr>
          </a:p>
        </p:txBody>
      </p:sp>
      <p:sp>
        <p:nvSpPr>
          <p:cNvPr id="10" name="Text 8"/>
          <p:cNvSpPr/>
          <p:nvPr/>
        </p:nvSpPr>
        <p:spPr>
          <a:xfrm>
            <a:off x="4864819" y="1419225"/>
            <a:ext cx="4107954" cy="193923"/>
          </a:xfrm>
          <a:prstGeom prst="rect">
            <a:avLst/>
          </a:prstGeom>
          <a:noFill/>
          <a:ln/>
        </p:spPr>
        <p:txBody>
          <a:bodyPr wrap="none" lIns="0" tIns="0" rIns="0" bIns="0" rtlCol="0" anchor="t"/>
          <a:lstStyle/>
          <a:p>
            <a:pPr marL="0" indent="0" algn="l">
              <a:lnSpc>
                <a:spcPct val="127000"/>
              </a:lnSpc>
              <a:buNone/>
            </a:pPr>
            <a:r>
              <a:rPr lang="en-US" sz="1050" b="1" dirty="0">
                <a:solidFill>
                  <a:srgbClr val="49495A"/>
                </a:solidFill>
                <a:latin typeface="Times New Roman" panose="02020603050405020304" pitchFamily="18" charset="0"/>
                <a:ea typeface="Open Sans" pitchFamily="34" charset="-122"/>
                <a:cs typeface="Times New Roman" panose="02020603050405020304" pitchFamily="18" charset="0"/>
              </a:rPr>
              <a:t>Mitigation</a:t>
            </a:r>
            <a:endParaRPr lang="en-US" sz="1050" dirty="0">
              <a:latin typeface="Times New Roman" panose="02020603050405020304" pitchFamily="18" charset="0"/>
              <a:cs typeface="Times New Roman" panose="02020603050405020304" pitchFamily="18" charset="0"/>
            </a:endParaRPr>
          </a:p>
        </p:txBody>
      </p:sp>
      <p:sp>
        <p:nvSpPr>
          <p:cNvPr id="11" name="Shape 9"/>
          <p:cNvSpPr/>
          <p:nvPr/>
        </p:nvSpPr>
        <p:spPr>
          <a:xfrm>
            <a:off x="500881" y="1686744"/>
            <a:ext cx="8142238" cy="535037"/>
          </a:xfrm>
          <a:prstGeom prst="rect">
            <a:avLst/>
          </a:prstGeom>
          <a:solidFill>
            <a:srgbClr val="000000">
              <a:alpha val="4000"/>
            </a:srgbClr>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12" name="Text 10"/>
          <p:cNvSpPr/>
          <p:nvPr/>
        </p:nvSpPr>
        <p:spPr>
          <a:xfrm>
            <a:off x="628576" y="1760339"/>
            <a:ext cx="851074" cy="193923"/>
          </a:xfrm>
          <a:prstGeom prst="rect">
            <a:avLst/>
          </a:prstGeom>
          <a:noFill/>
          <a:ln/>
        </p:spPr>
        <p:txBody>
          <a:bodyPr wrap="none" lIns="0" tIns="0" rIns="0" bIns="0" rtlCol="0" anchor="t"/>
          <a:lstStyle/>
          <a:p>
            <a:pPr marL="0" indent="0" algn="l">
              <a:lnSpc>
                <a:spcPct val="127000"/>
              </a:lnSpc>
              <a:buNone/>
            </a:pPr>
            <a:r>
              <a:rPr lang="en-US" sz="1050" b="1" dirty="0">
                <a:solidFill>
                  <a:srgbClr val="49495A"/>
                </a:solidFill>
                <a:latin typeface="Times New Roman" panose="02020603050405020304" pitchFamily="18" charset="0"/>
                <a:ea typeface="Open Sans" pitchFamily="34" charset="-122"/>
                <a:cs typeface="Times New Roman" panose="02020603050405020304" pitchFamily="18" charset="0"/>
              </a:rPr>
              <a:t>R1</a:t>
            </a:r>
            <a:endParaRPr lang="en-US" sz="1050" dirty="0">
              <a:latin typeface="Times New Roman" panose="02020603050405020304" pitchFamily="18" charset="0"/>
              <a:cs typeface="Times New Roman" panose="02020603050405020304" pitchFamily="18" charset="0"/>
            </a:endParaRPr>
          </a:p>
        </p:txBody>
      </p:sp>
      <p:sp>
        <p:nvSpPr>
          <p:cNvPr id="13" name="Text 11"/>
          <p:cNvSpPr/>
          <p:nvPr/>
        </p:nvSpPr>
        <p:spPr>
          <a:xfrm>
            <a:off x="1282303" y="1760339"/>
            <a:ext cx="2508498" cy="387846"/>
          </a:xfrm>
          <a:prstGeom prst="rect">
            <a:avLst/>
          </a:prstGeom>
          <a:noFill/>
          <a:ln/>
        </p:spPr>
        <p:txBody>
          <a:bodyPr wrap="square" lIns="0" tIns="0" rIns="0" bIns="0" rtlCol="0" anchor="t">
            <a:noAutofit/>
          </a:bodyPr>
          <a:lstStyle/>
          <a:p>
            <a:pPr marL="0" indent="0" algn="l">
              <a:lnSpc>
                <a:spcPct val="127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BOM data quality — inaccurate BOMs corrupt the new system from Day 1</a:t>
            </a:r>
            <a:endParaRPr lang="en-US" sz="1050" dirty="0">
              <a:latin typeface="Times New Roman" panose="02020603050405020304" pitchFamily="18" charset="0"/>
              <a:cs typeface="Times New Roman" panose="02020603050405020304" pitchFamily="18" charset="0"/>
            </a:endParaRPr>
          </a:p>
        </p:txBody>
      </p:sp>
      <p:sp>
        <p:nvSpPr>
          <p:cNvPr id="14" name="Text 12"/>
          <p:cNvSpPr/>
          <p:nvPr/>
        </p:nvSpPr>
        <p:spPr>
          <a:xfrm>
            <a:off x="4050655" y="1760339"/>
            <a:ext cx="1011510" cy="193923"/>
          </a:xfrm>
          <a:prstGeom prst="rect">
            <a:avLst/>
          </a:prstGeom>
          <a:noFill/>
          <a:ln/>
        </p:spPr>
        <p:txBody>
          <a:bodyPr wrap="none" lIns="0" tIns="0" rIns="0" bIns="0" rtlCol="0" anchor="t"/>
          <a:lstStyle/>
          <a:p>
            <a:pPr marL="0" indent="0" algn="l">
              <a:lnSpc>
                <a:spcPct val="127000"/>
              </a:lnSpc>
              <a:buNone/>
            </a:pPr>
            <a:r>
              <a:rPr lang="en-US" sz="1050" b="1" dirty="0">
                <a:solidFill>
                  <a:srgbClr val="C00000"/>
                </a:solidFill>
                <a:latin typeface="Times New Roman" panose="02020603050405020304" pitchFamily="18" charset="0"/>
                <a:ea typeface="Open Sans" pitchFamily="34" charset="-122"/>
                <a:cs typeface="Times New Roman" panose="02020603050405020304" pitchFamily="18" charset="0"/>
              </a:rPr>
              <a:t>HIGH</a:t>
            </a:r>
            <a:endParaRPr lang="en-US" sz="1050" dirty="0">
              <a:latin typeface="Times New Roman" panose="02020603050405020304" pitchFamily="18" charset="0"/>
              <a:cs typeface="Times New Roman" panose="02020603050405020304" pitchFamily="18" charset="0"/>
            </a:endParaRPr>
          </a:p>
        </p:txBody>
      </p:sp>
      <p:sp>
        <p:nvSpPr>
          <p:cNvPr id="15" name="Text 13"/>
          <p:cNvSpPr/>
          <p:nvPr/>
        </p:nvSpPr>
        <p:spPr>
          <a:xfrm>
            <a:off x="4864819" y="1760339"/>
            <a:ext cx="3650754" cy="387846"/>
          </a:xfrm>
          <a:prstGeom prst="rect">
            <a:avLst/>
          </a:prstGeom>
          <a:noFill/>
          <a:ln/>
        </p:spPr>
        <p:txBody>
          <a:bodyPr wrap="square" lIns="0" tIns="0" rIns="0" bIns="0" rtlCol="0" anchor="t">
            <a:noAutofit/>
          </a:bodyPr>
          <a:lstStyle/>
          <a:p>
            <a:pPr marL="0" indent="0" algn="l">
              <a:lnSpc>
                <a:spcPct val="127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Mandatory BOM audit in Phase 0; Engineering sign-off required; BOM freeze during cutover window</a:t>
            </a:r>
            <a:endParaRPr lang="en-US" sz="1050" dirty="0">
              <a:latin typeface="Times New Roman" panose="02020603050405020304" pitchFamily="18" charset="0"/>
              <a:cs typeface="Times New Roman" panose="02020603050405020304" pitchFamily="18" charset="0"/>
            </a:endParaRPr>
          </a:p>
        </p:txBody>
      </p:sp>
      <p:sp>
        <p:nvSpPr>
          <p:cNvPr id="16" name="Shape 14"/>
          <p:cNvSpPr/>
          <p:nvPr/>
        </p:nvSpPr>
        <p:spPr>
          <a:xfrm>
            <a:off x="500881" y="2221781"/>
            <a:ext cx="8142238" cy="535037"/>
          </a:xfrm>
          <a:prstGeom prst="rect">
            <a:avLst/>
          </a:prstGeom>
          <a:solidFill>
            <a:srgbClr val="FFFFFF">
              <a:alpha val="4000"/>
            </a:srgbClr>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17" name="Text 15"/>
          <p:cNvSpPr/>
          <p:nvPr/>
        </p:nvSpPr>
        <p:spPr>
          <a:xfrm>
            <a:off x="628576" y="2295376"/>
            <a:ext cx="851074" cy="193923"/>
          </a:xfrm>
          <a:prstGeom prst="rect">
            <a:avLst/>
          </a:prstGeom>
          <a:noFill/>
          <a:ln/>
        </p:spPr>
        <p:txBody>
          <a:bodyPr wrap="none" lIns="0" tIns="0" rIns="0" bIns="0" rtlCol="0" anchor="t"/>
          <a:lstStyle/>
          <a:p>
            <a:pPr marL="0" indent="0" algn="l">
              <a:lnSpc>
                <a:spcPct val="127000"/>
              </a:lnSpc>
              <a:buNone/>
            </a:pPr>
            <a:r>
              <a:rPr lang="en-US" sz="1050" b="1" dirty="0">
                <a:solidFill>
                  <a:srgbClr val="49495A"/>
                </a:solidFill>
                <a:latin typeface="Times New Roman" panose="02020603050405020304" pitchFamily="18" charset="0"/>
                <a:ea typeface="Open Sans" pitchFamily="34" charset="-122"/>
                <a:cs typeface="Times New Roman" panose="02020603050405020304" pitchFamily="18" charset="0"/>
              </a:rPr>
              <a:t>R2</a:t>
            </a:r>
            <a:endParaRPr lang="en-US" sz="1050" dirty="0">
              <a:latin typeface="Times New Roman" panose="02020603050405020304" pitchFamily="18" charset="0"/>
              <a:cs typeface="Times New Roman" panose="02020603050405020304" pitchFamily="18" charset="0"/>
            </a:endParaRPr>
          </a:p>
        </p:txBody>
      </p:sp>
      <p:sp>
        <p:nvSpPr>
          <p:cNvPr id="18" name="Text 16"/>
          <p:cNvSpPr/>
          <p:nvPr/>
        </p:nvSpPr>
        <p:spPr>
          <a:xfrm>
            <a:off x="1282303" y="2295376"/>
            <a:ext cx="2508498" cy="387846"/>
          </a:xfrm>
          <a:prstGeom prst="rect">
            <a:avLst/>
          </a:prstGeom>
          <a:noFill/>
          <a:ln/>
        </p:spPr>
        <p:txBody>
          <a:bodyPr wrap="square" lIns="0" tIns="0" rIns="0" bIns="0" rtlCol="0" anchor="t">
            <a:noAutofit/>
          </a:bodyPr>
          <a:lstStyle/>
          <a:p>
            <a:pPr marL="0" indent="0" algn="l">
              <a:lnSpc>
                <a:spcPct val="127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Scope creep — departmental wish lists push the timeline beyond 12 months</a:t>
            </a:r>
            <a:endParaRPr lang="en-US" sz="1050" dirty="0">
              <a:latin typeface="Times New Roman" panose="02020603050405020304" pitchFamily="18" charset="0"/>
              <a:cs typeface="Times New Roman" panose="02020603050405020304" pitchFamily="18" charset="0"/>
            </a:endParaRPr>
          </a:p>
        </p:txBody>
      </p:sp>
      <p:sp>
        <p:nvSpPr>
          <p:cNvPr id="19" name="Text 17"/>
          <p:cNvSpPr/>
          <p:nvPr/>
        </p:nvSpPr>
        <p:spPr>
          <a:xfrm>
            <a:off x="4050655" y="2295376"/>
            <a:ext cx="1011510" cy="193923"/>
          </a:xfrm>
          <a:prstGeom prst="rect">
            <a:avLst/>
          </a:prstGeom>
          <a:noFill/>
          <a:ln/>
        </p:spPr>
        <p:txBody>
          <a:bodyPr wrap="none" lIns="0" tIns="0" rIns="0" bIns="0" rtlCol="0" anchor="t"/>
          <a:lstStyle/>
          <a:p>
            <a:pPr marL="0" indent="0" algn="l">
              <a:lnSpc>
                <a:spcPct val="127000"/>
              </a:lnSpc>
              <a:buNone/>
            </a:pPr>
            <a:r>
              <a:rPr lang="en-US" sz="1050" b="1" dirty="0">
                <a:solidFill>
                  <a:srgbClr val="C00000"/>
                </a:solidFill>
                <a:latin typeface="Times New Roman" panose="02020603050405020304" pitchFamily="18" charset="0"/>
                <a:ea typeface="Open Sans" pitchFamily="34" charset="-122"/>
                <a:cs typeface="Times New Roman" panose="02020603050405020304" pitchFamily="18" charset="0"/>
              </a:rPr>
              <a:t>HIGH</a:t>
            </a:r>
            <a:endParaRPr lang="en-US" sz="1050" dirty="0">
              <a:latin typeface="Times New Roman" panose="02020603050405020304" pitchFamily="18" charset="0"/>
              <a:cs typeface="Times New Roman" panose="02020603050405020304" pitchFamily="18" charset="0"/>
            </a:endParaRPr>
          </a:p>
        </p:txBody>
      </p:sp>
      <p:sp>
        <p:nvSpPr>
          <p:cNvPr id="20" name="Text 18"/>
          <p:cNvSpPr/>
          <p:nvPr/>
        </p:nvSpPr>
        <p:spPr>
          <a:xfrm>
            <a:off x="4864819" y="2295376"/>
            <a:ext cx="3650754" cy="387846"/>
          </a:xfrm>
          <a:prstGeom prst="rect">
            <a:avLst/>
          </a:prstGeom>
          <a:noFill/>
          <a:ln/>
        </p:spPr>
        <p:txBody>
          <a:bodyPr wrap="square" lIns="0" tIns="0" rIns="0" bIns="0" rtlCol="0" anchor="t">
            <a:noAutofit/>
          </a:bodyPr>
          <a:lstStyle/>
          <a:p>
            <a:pPr marL="0" indent="0" algn="l">
              <a:lnSpc>
                <a:spcPct val="127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Exec Steering Committee veto power; formal change control; CFO + COO approval for all additions</a:t>
            </a:r>
            <a:endParaRPr lang="en-US" sz="1050" dirty="0">
              <a:latin typeface="Times New Roman" panose="02020603050405020304" pitchFamily="18" charset="0"/>
              <a:cs typeface="Times New Roman" panose="02020603050405020304" pitchFamily="18" charset="0"/>
            </a:endParaRPr>
          </a:p>
        </p:txBody>
      </p:sp>
      <p:sp>
        <p:nvSpPr>
          <p:cNvPr id="21" name="Shape 19"/>
          <p:cNvSpPr/>
          <p:nvPr/>
        </p:nvSpPr>
        <p:spPr>
          <a:xfrm>
            <a:off x="500881" y="2756818"/>
            <a:ext cx="8142238" cy="535037"/>
          </a:xfrm>
          <a:prstGeom prst="rect">
            <a:avLst/>
          </a:prstGeom>
          <a:solidFill>
            <a:srgbClr val="000000">
              <a:alpha val="4000"/>
            </a:srgbClr>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22" name="Text 20"/>
          <p:cNvSpPr/>
          <p:nvPr/>
        </p:nvSpPr>
        <p:spPr>
          <a:xfrm>
            <a:off x="628576" y="2830413"/>
            <a:ext cx="851074" cy="193923"/>
          </a:xfrm>
          <a:prstGeom prst="rect">
            <a:avLst/>
          </a:prstGeom>
          <a:noFill/>
          <a:ln/>
        </p:spPr>
        <p:txBody>
          <a:bodyPr wrap="none" lIns="0" tIns="0" rIns="0" bIns="0" rtlCol="0" anchor="t"/>
          <a:lstStyle/>
          <a:p>
            <a:pPr marL="0" indent="0" algn="l">
              <a:lnSpc>
                <a:spcPct val="127000"/>
              </a:lnSpc>
              <a:buNone/>
            </a:pPr>
            <a:r>
              <a:rPr lang="en-US" sz="1050" b="1" dirty="0">
                <a:solidFill>
                  <a:srgbClr val="49495A"/>
                </a:solidFill>
                <a:latin typeface="Times New Roman" panose="02020603050405020304" pitchFamily="18" charset="0"/>
                <a:ea typeface="Open Sans" pitchFamily="34" charset="-122"/>
                <a:cs typeface="Times New Roman" panose="02020603050405020304" pitchFamily="18" charset="0"/>
              </a:rPr>
              <a:t>R3</a:t>
            </a:r>
            <a:endParaRPr lang="en-US" sz="1050" dirty="0">
              <a:latin typeface="Times New Roman" panose="02020603050405020304" pitchFamily="18" charset="0"/>
              <a:cs typeface="Times New Roman" panose="02020603050405020304" pitchFamily="18" charset="0"/>
            </a:endParaRPr>
          </a:p>
        </p:txBody>
      </p:sp>
      <p:sp>
        <p:nvSpPr>
          <p:cNvPr id="23" name="Text 21"/>
          <p:cNvSpPr/>
          <p:nvPr/>
        </p:nvSpPr>
        <p:spPr>
          <a:xfrm>
            <a:off x="1282303" y="2830413"/>
            <a:ext cx="2508498" cy="387846"/>
          </a:xfrm>
          <a:prstGeom prst="rect">
            <a:avLst/>
          </a:prstGeom>
          <a:noFill/>
          <a:ln/>
        </p:spPr>
        <p:txBody>
          <a:bodyPr wrap="square" lIns="0" tIns="0" rIns="0" bIns="0" rtlCol="0" anchor="t">
            <a:noAutofit/>
          </a:bodyPr>
          <a:lstStyle/>
          <a:p>
            <a:pPr marL="0" indent="0" algn="l">
              <a:lnSpc>
                <a:spcPct val="127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Key-person dependency — 3–4 people hold all institutional ERP knowledge</a:t>
            </a:r>
            <a:endParaRPr lang="en-US" sz="1050" dirty="0">
              <a:latin typeface="Times New Roman" panose="02020603050405020304" pitchFamily="18" charset="0"/>
              <a:cs typeface="Times New Roman" panose="02020603050405020304" pitchFamily="18" charset="0"/>
            </a:endParaRPr>
          </a:p>
        </p:txBody>
      </p:sp>
      <p:sp>
        <p:nvSpPr>
          <p:cNvPr id="24" name="Text 22"/>
          <p:cNvSpPr/>
          <p:nvPr/>
        </p:nvSpPr>
        <p:spPr>
          <a:xfrm>
            <a:off x="4050655" y="2830413"/>
            <a:ext cx="1011510" cy="193923"/>
          </a:xfrm>
          <a:prstGeom prst="rect">
            <a:avLst/>
          </a:prstGeom>
          <a:noFill/>
          <a:ln/>
        </p:spPr>
        <p:txBody>
          <a:bodyPr wrap="none" lIns="0" tIns="0" rIns="0" bIns="0" rtlCol="0" anchor="t"/>
          <a:lstStyle/>
          <a:p>
            <a:pPr marL="0" indent="0" algn="l">
              <a:lnSpc>
                <a:spcPct val="127000"/>
              </a:lnSpc>
              <a:buNone/>
            </a:pPr>
            <a:r>
              <a:rPr lang="en-US" sz="1050" b="1" dirty="0">
                <a:solidFill>
                  <a:srgbClr val="FFA44F"/>
                </a:solidFill>
                <a:latin typeface="Times New Roman" panose="02020603050405020304" pitchFamily="18" charset="0"/>
                <a:ea typeface="Open Sans" pitchFamily="34" charset="-122"/>
                <a:cs typeface="Times New Roman" panose="02020603050405020304" pitchFamily="18" charset="0"/>
              </a:rPr>
              <a:t>MED</a:t>
            </a:r>
            <a:endParaRPr lang="en-US" sz="1050" dirty="0">
              <a:latin typeface="Times New Roman" panose="02020603050405020304" pitchFamily="18" charset="0"/>
              <a:cs typeface="Times New Roman" panose="02020603050405020304" pitchFamily="18" charset="0"/>
            </a:endParaRPr>
          </a:p>
        </p:txBody>
      </p:sp>
      <p:sp>
        <p:nvSpPr>
          <p:cNvPr id="25" name="Text 23"/>
          <p:cNvSpPr/>
          <p:nvPr/>
        </p:nvSpPr>
        <p:spPr>
          <a:xfrm>
            <a:off x="4864819" y="2830413"/>
            <a:ext cx="3650754" cy="387846"/>
          </a:xfrm>
          <a:prstGeom prst="rect">
            <a:avLst/>
          </a:prstGeom>
          <a:noFill/>
          <a:ln/>
        </p:spPr>
        <p:txBody>
          <a:bodyPr wrap="square" lIns="0" tIns="0" rIns="0" bIns="0" rtlCol="0" anchor="t">
            <a:noAutofit/>
          </a:bodyPr>
          <a:lstStyle/>
          <a:p>
            <a:pPr marL="0" indent="0" algn="l">
              <a:lnSpc>
                <a:spcPct val="127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Structured knowledge transfer in Phase 0; shadow training programme; strong vendor hypercare SLA</a:t>
            </a:r>
            <a:endParaRPr lang="en-US" sz="1050" dirty="0">
              <a:latin typeface="Times New Roman" panose="02020603050405020304" pitchFamily="18" charset="0"/>
              <a:cs typeface="Times New Roman" panose="02020603050405020304" pitchFamily="18" charset="0"/>
            </a:endParaRPr>
          </a:p>
        </p:txBody>
      </p:sp>
      <p:sp>
        <p:nvSpPr>
          <p:cNvPr id="26" name="Shape 24"/>
          <p:cNvSpPr/>
          <p:nvPr/>
        </p:nvSpPr>
        <p:spPr>
          <a:xfrm>
            <a:off x="500881" y="3291855"/>
            <a:ext cx="8142238" cy="535037"/>
          </a:xfrm>
          <a:prstGeom prst="rect">
            <a:avLst/>
          </a:prstGeom>
          <a:solidFill>
            <a:srgbClr val="FFFFFF">
              <a:alpha val="4000"/>
            </a:srgbClr>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27" name="Text 25"/>
          <p:cNvSpPr/>
          <p:nvPr/>
        </p:nvSpPr>
        <p:spPr>
          <a:xfrm>
            <a:off x="628576" y="3365450"/>
            <a:ext cx="851074" cy="193923"/>
          </a:xfrm>
          <a:prstGeom prst="rect">
            <a:avLst/>
          </a:prstGeom>
          <a:noFill/>
          <a:ln/>
        </p:spPr>
        <p:txBody>
          <a:bodyPr wrap="none" lIns="0" tIns="0" rIns="0" bIns="0" rtlCol="0" anchor="t"/>
          <a:lstStyle/>
          <a:p>
            <a:pPr marL="0" indent="0" algn="l">
              <a:lnSpc>
                <a:spcPct val="127000"/>
              </a:lnSpc>
              <a:buNone/>
            </a:pPr>
            <a:r>
              <a:rPr lang="en-US" sz="1050" b="1" dirty="0">
                <a:solidFill>
                  <a:srgbClr val="49495A"/>
                </a:solidFill>
                <a:latin typeface="Times New Roman" panose="02020603050405020304" pitchFamily="18" charset="0"/>
                <a:ea typeface="Open Sans" pitchFamily="34" charset="-122"/>
                <a:cs typeface="Times New Roman" panose="02020603050405020304" pitchFamily="18" charset="0"/>
              </a:rPr>
              <a:t>R4</a:t>
            </a:r>
            <a:endParaRPr lang="en-US" sz="1050" dirty="0">
              <a:latin typeface="Times New Roman" panose="02020603050405020304" pitchFamily="18" charset="0"/>
              <a:cs typeface="Times New Roman" panose="02020603050405020304" pitchFamily="18" charset="0"/>
            </a:endParaRPr>
          </a:p>
        </p:txBody>
      </p:sp>
      <p:sp>
        <p:nvSpPr>
          <p:cNvPr id="28" name="Text 26"/>
          <p:cNvSpPr/>
          <p:nvPr/>
        </p:nvSpPr>
        <p:spPr>
          <a:xfrm>
            <a:off x="1282303" y="3365450"/>
            <a:ext cx="2508498" cy="387846"/>
          </a:xfrm>
          <a:prstGeom prst="rect">
            <a:avLst/>
          </a:prstGeom>
          <a:noFill/>
          <a:ln/>
        </p:spPr>
        <p:txBody>
          <a:bodyPr wrap="square" lIns="0" tIns="0" rIns="0" bIns="0" rtlCol="0" anchor="t">
            <a:noAutofit/>
          </a:bodyPr>
          <a:lstStyle/>
          <a:p>
            <a:pPr marL="0" indent="0" algn="l">
              <a:lnSpc>
                <a:spcPct val="127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Cutover integration failure — data loss during the dual-system transition period</a:t>
            </a:r>
            <a:endParaRPr lang="en-US" sz="1050" dirty="0">
              <a:latin typeface="Times New Roman" panose="02020603050405020304" pitchFamily="18" charset="0"/>
              <a:cs typeface="Times New Roman" panose="02020603050405020304" pitchFamily="18" charset="0"/>
            </a:endParaRPr>
          </a:p>
        </p:txBody>
      </p:sp>
      <p:sp>
        <p:nvSpPr>
          <p:cNvPr id="29" name="Text 27"/>
          <p:cNvSpPr/>
          <p:nvPr/>
        </p:nvSpPr>
        <p:spPr>
          <a:xfrm>
            <a:off x="4050655" y="3365450"/>
            <a:ext cx="1011510" cy="193923"/>
          </a:xfrm>
          <a:prstGeom prst="rect">
            <a:avLst/>
          </a:prstGeom>
          <a:noFill/>
          <a:ln/>
        </p:spPr>
        <p:txBody>
          <a:bodyPr wrap="none" lIns="0" tIns="0" rIns="0" bIns="0" rtlCol="0" anchor="t"/>
          <a:lstStyle/>
          <a:p>
            <a:pPr marL="0" indent="0" algn="l">
              <a:lnSpc>
                <a:spcPct val="127000"/>
              </a:lnSpc>
              <a:buNone/>
            </a:pPr>
            <a:r>
              <a:rPr lang="en-US" sz="1050" b="1" dirty="0">
                <a:solidFill>
                  <a:srgbClr val="C00000"/>
                </a:solidFill>
                <a:latin typeface="Times New Roman" panose="02020603050405020304" pitchFamily="18" charset="0"/>
                <a:ea typeface="Open Sans" pitchFamily="34" charset="-122"/>
                <a:cs typeface="Times New Roman" panose="02020603050405020304" pitchFamily="18" charset="0"/>
              </a:rPr>
              <a:t>HIGH</a:t>
            </a:r>
            <a:endParaRPr lang="en-US" sz="1050" dirty="0">
              <a:latin typeface="Times New Roman" panose="02020603050405020304" pitchFamily="18" charset="0"/>
              <a:cs typeface="Times New Roman" panose="02020603050405020304" pitchFamily="18" charset="0"/>
            </a:endParaRPr>
          </a:p>
        </p:txBody>
      </p:sp>
      <p:sp>
        <p:nvSpPr>
          <p:cNvPr id="30" name="Text 28"/>
          <p:cNvSpPr/>
          <p:nvPr/>
        </p:nvSpPr>
        <p:spPr>
          <a:xfrm>
            <a:off x="4864819" y="3365450"/>
            <a:ext cx="3650754" cy="387846"/>
          </a:xfrm>
          <a:prstGeom prst="rect">
            <a:avLst/>
          </a:prstGeom>
          <a:noFill/>
          <a:ln/>
        </p:spPr>
        <p:txBody>
          <a:bodyPr wrap="square" lIns="0" tIns="0" rIns="0" bIns="0" rtlCol="0" anchor="t">
            <a:noAutofit/>
          </a:bodyPr>
          <a:lstStyle/>
          <a:p>
            <a:pPr marL="0" indent="0" algn="l">
              <a:lnSpc>
                <a:spcPct val="127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Parallel run for 2+ pay periods and 1 full month-end close before legacy decommission</a:t>
            </a:r>
            <a:endParaRPr lang="en-US" sz="1050" dirty="0">
              <a:latin typeface="Times New Roman" panose="02020603050405020304" pitchFamily="18" charset="0"/>
              <a:cs typeface="Times New Roman" panose="02020603050405020304" pitchFamily="18" charset="0"/>
            </a:endParaRPr>
          </a:p>
        </p:txBody>
      </p:sp>
      <p:sp>
        <p:nvSpPr>
          <p:cNvPr id="31" name="Shape 29"/>
          <p:cNvSpPr/>
          <p:nvPr/>
        </p:nvSpPr>
        <p:spPr>
          <a:xfrm>
            <a:off x="500881" y="3826892"/>
            <a:ext cx="8142238" cy="535037"/>
          </a:xfrm>
          <a:prstGeom prst="rect">
            <a:avLst/>
          </a:prstGeom>
          <a:solidFill>
            <a:srgbClr val="000000">
              <a:alpha val="4000"/>
            </a:srgbClr>
          </a:solidFill>
          <a:ln/>
        </p:spPr>
        <p:txBody>
          <a:bodyPr/>
          <a:lstStyle/>
          <a:p>
            <a:endParaRPr lang="en-GH"/>
          </a:p>
        </p:txBody>
      </p:sp>
      <p:sp>
        <p:nvSpPr>
          <p:cNvPr id="32" name="Text 30"/>
          <p:cNvSpPr/>
          <p:nvPr/>
        </p:nvSpPr>
        <p:spPr>
          <a:xfrm>
            <a:off x="628576" y="3900488"/>
            <a:ext cx="851074" cy="193923"/>
          </a:xfrm>
          <a:prstGeom prst="rect">
            <a:avLst/>
          </a:prstGeom>
          <a:noFill/>
          <a:ln/>
        </p:spPr>
        <p:txBody>
          <a:bodyPr wrap="none" lIns="0" tIns="0" rIns="0" bIns="0" rtlCol="0" anchor="t"/>
          <a:lstStyle/>
          <a:p>
            <a:pPr marL="0" indent="0" algn="l">
              <a:lnSpc>
                <a:spcPct val="127000"/>
              </a:lnSpc>
              <a:buNone/>
            </a:pPr>
            <a:r>
              <a:rPr lang="en-US" sz="1050" b="1" dirty="0">
                <a:solidFill>
                  <a:srgbClr val="49495A"/>
                </a:solidFill>
                <a:latin typeface="Times New Roman" panose="02020603050405020304" pitchFamily="18" charset="0"/>
                <a:ea typeface="Open Sans" pitchFamily="34" charset="-122"/>
                <a:cs typeface="Times New Roman" panose="02020603050405020304" pitchFamily="18" charset="0"/>
              </a:rPr>
              <a:t>R5</a:t>
            </a:r>
            <a:endParaRPr lang="en-US" sz="1050" dirty="0">
              <a:latin typeface="Times New Roman" panose="02020603050405020304" pitchFamily="18" charset="0"/>
              <a:cs typeface="Times New Roman" panose="02020603050405020304" pitchFamily="18" charset="0"/>
            </a:endParaRPr>
          </a:p>
        </p:txBody>
      </p:sp>
      <p:sp>
        <p:nvSpPr>
          <p:cNvPr id="33" name="Text 31"/>
          <p:cNvSpPr/>
          <p:nvPr/>
        </p:nvSpPr>
        <p:spPr>
          <a:xfrm>
            <a:off x="1282303" y="3900488"/>
            <a:ext cx="2508498" cy="387846"/>
          </a:xfrm>
          <a:prstGeom prst="rect">
            <a:avLst/>
          </a:prstGeom>
          <a:noFill/>
          <a:ln/>
        </p:spPr>
        <p:txBody>
          <a:bodyPr wrap="square" lIns="0" tIns="0" rIns="0" bIns="0" rtlCol="0" anchor="t">
            <a:noAutofit/>
          </a:bodyPr>
          <a:lstStyle/>
          <a:p>
            <a:pPr marL="0" indent="0" algn="l">
              <a:lnSpc>
                <a:spcPct val="127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User adoption failure — teams revert to Excel workarounds after go-live</a:t>
            </a:r>
            <a:endParaRPr lang="en-US" sz="1050" dirty="0">
              <a:latin typeface="Times New Roman" panose="02020603050405020304" pitchFamily="18" charset="0"/>
              <a:cs typeface="Times New Roman" panose="02020603050405020304" pitchFamily="18" charset="0"/>
            </a:endParaRPr>
          </a:p>
        </p:txBody>
      </p:sp>
      <p:sp>
        <p:nvSpPr>
          <p:cNvPr id="34" name="Text 32"/>
          <p:cNvSpPr/>
          <p:nvPr/>
        </p:nvSpPr>
        <p:spPr>
          <a:xfrm>
            <a:off x="4050655" y="3900488"/>
            <a:ext cx="1011510" cy="193923"/>
          </a:xfrm>
          <a:prstGeom prst="rect">
            <a:avLst/>
          </a:prstGeom>
          <a:noFill/>
          <a:ln/>
        </p:spPr>
        <p:txBody>
          <a:bodyPr wrap="none" lIns="0" tIns="0" rIns="0" bIns="0" rtlCol="0" anchor="t"/>
          <a:lstStyle/>
          <a:p>
            <a:pPr marL="0" indent="0" algn="l">
              <a:lnSpc>
                <a:spcPct val="127000"/>
              </a:lnSpc>
              <a:buNone/>
            </a:pPr>
            <a:r>
              <a:rPr lang="en-US" sz="1050" b="1" dirty="0">
                <a:solidFill>
                  <a:srgbClr val="FFA44F"/>
                </a:solidFill>
                <a:latin typeface="Times New Roman" panose="02020603050405020304" pitchFamily="18" charset="0"/>
                <a:ea typeface="Open Sans" pitchFamily="34" charset="-122"/>
                <a:cs typeface="Times New Roman" panose="02020603050405020304" pitchFamily="18" charset="0"/>
              </a:rPr>
              <a:t>MED</a:t>
            </a:r>
            <a:endParaRPr lang="en-US" sz="1050" dirty="0">
              <a:latin typeface="Times New Roman" panose="02020603050405020304" pitchFamily="18" charset="0"/>
              <a:cs typeface="Times New Roman" panose="02020603050405020304" pitchFamily="18" charset="0"/>
            </a:endParaRPr>
          </a:p>
        </p:txBody>
      </p:sp>
      <p:sp>
        <p:nvSpPr>
          <p:cNvPr id="35" name="Text 33"/>
          <p:cNvSpPr/>
          <p:nvPr/>
        </p:nvSpPr>
        <p:spPr>
          <a:xfrm>
            <a:off x="4864819" y="3900488"/>
            <a:ext cx="3650754" cy="387846"/>
          </a:xfrm>
          <a:prstGeom prst="rect">
            <a:avLst/>
          </a:prstGeom>
          <a:noFill/>
          <a:ln/>
        </p:spPr>
        <p:txBody>
          <a:bodyPr wrap="square" lIns="0" tIns="0" rIns="0" bIns="0" rtlCol="0" anchor="t">
            <a:normAutofit/>
          </a:bodyPr>
          <a:lstStyle/>
          <a:p>
            <a:pPr marL="0" indent="0" algn="l">
              <a:lnSpc>
                <a:spcPct val="127000"/>
              </a:lnSpc>
              <a:buNone/>
            </a:pPr>
            <a:r>
              <a:rPr lang="en-US" sz="1050" dirty="0">
                <a:solidFill>
                  <a:srgbClr val="49495A"/>
                </a:solidFill>
                <a:latin typeface="Times New Roman" panose="02020603050405020304" pitchFamily="18" charset="0"/>
                <a:ea typeface="Open Sans" pitchFamily="34" charset="-122"/>
                <a:cs typeface="Times New Roman" panose="02020603050405020304" pitchFamily="18" charset="0"/>
              </a:rPr>
              <a:t>Change management starts Month 1; role-based training; super-user network at all 5 locations</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4" name="Text 2"/>
          <p:cNvSpPr/>
          <p:nvPr/>
        </p:nvSpPr>
        <p:spPr>
          <a:xfrm>
            <a:off x="496119" y="826591"/>
            <a:ext cx="6333381" cy="332259"/>
          </a:xfrm>
          <a:prstGeom prst="rect">
            <a:avLst/>
          </a:prstGeom>
          <a:noFill/>
          <a:ln/>
        </p:spPr>
        <p:txBody>
          <a:bodyPr wrap="none" lIns="0" tIns="0" rIns="0" bIns="0" rtlCol="0" anchor="t"/>
          <a:lstStyle/>
          <a:p>
            <a:pPr marL="0" indent="0" algn="l">
              <a:lnSpc>
                <a:spcPct val="104000"/>
              </a:lnSpc>
              <a:buNone/>
            </a:pPr>
            <a:r>
              <a:rPr lang="en-US" sz="2400" dirty="0">
                <a:solidFill>
                  <a:srgbClr val="403CCF"/>
                </a:solidFill>
                <a:latin typeface="Times New Roman" panose="02020603050405020304" pitchFamily="18" charset="0"/>
                <a:ea typeface="Libre Baskerville" pitchFamily="34" charset="-122"/>
                <a:cs typeface="Times New Roman" panose="02020603050405020304" pitchFamily="18" charset="0"/>
              </a:rPr>
              <a:t>Day-1 Scope: What's In vs. Deliberately Out</a:t>
            </a:r>
            <a:endParaRPr lang="en-US" sz="2400" dirty="0">
              <a:latin typeface="Times New Roman" panose="02020603050405020304" pitchFamily="18" charset="0"/>
              <a:cs typeface="Times New Roman" panose="02020603050405020304" pitchFamily="18" charset="0"/>
            </a:endParaRPr>
          </a:p>
        </p:txBody>
      </p:sp>
      <p:sp>
        <p:nvSpPr>
          <p:cNvPr id="5" name="Shape 3"/>
          <p:cNvSpPr/>
          <p:nvPr/>
        </p:nvSpPr>
        <p:spPr>
          <a:xfrm>
            <a:off x="419546" y="1278434"/>
            <a:ext cx="4099322" cy="3253085"/>
          </a:xfrm>
          <a:prstGeom prst="roundRect">
            <a:avLst>
              <a:gd name="adj" fmla="val 490"/>
            </a:avLst>
          </a:prstGeom>
          <a:solidFill>
            <a:srgbClr val="2E7D52"/>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6" name="Text 4"/>
          <p:cNvSpPr/>
          <p:nvPr/>
        </p:nvSpPr>
        <p:spPr>
          <a:xfrm>
            <a:off x="525810" y="1358131"/>
            <a:ext cx="1824856" cy="166092"/>
          </a:xfrm>
          <a:prstGeom prst="rect">
            <a:avLst/>
          </a:prstGeom>
          <a:noFill/>
          <a:ln/>
        </p:spPr>
        <p:txBody>
          <a:bodyPr wrap="none" lIns="0" tIns="0" rIns="0" bIns="0" rtlCol="0" anchor="t"/>
          <a:lstStyle/>
          <a:p>
            <a:pPr marL="0" indent="0" algn="l">
              <a:lnSpc>
                <a:spcPct val="104000"/>
              </a:lnSpc>
              <a:buNone/>
            </a:pPr>
            <a:r>
              <a:rPr lang="en-US" sz="1050" dirty="0">
                <a:solidFill>
                  <a:srgbClr val="FFFFFF"/>
                </a:solidFill>
                <a:latin typeface="Times New Roman" panose="02020603050405020304" pitchFamily="18" charset="0"/>
                <a:ea typeface="Libre Baskerville" pitchFamily="34" charset="-122"/>
                <a:cs typeface="Times New Roman" panose="02020603050405020304" pitchFamily="18" charset="0"/>
              </a:rPr>
              <a:t>✓ Day-1 Must-Haves</a:t>
            </a:r>
            <a:endParaRPr lang="en-US" sz="1050" dirty="0">
              <a:latin typeface="Times New Roman" panose="02020603050405020304" pitchFamily="18" charset="0"/>
              <a:cs typeface="Times New Roman" panose="02020603050405020304" pitchFamily="18" charset="0"/>
            </a:endParaRPr>
          </a:p>
        </p:txBody>
      </p:sp>
      <p:sp>
        <p:nvSpPr>
          <p:cNvPr id="7" name="Text 5"/>
          <p:cNvSpPr/>
          <p:nvPr/>
        </p:nvSpPr>
        <p:spPr>
          <a:xfrm>
            <a:off x="525810" y="1603921"/>
            <a:ext cx="3886795" cy="1004590"/>
          </a:xfrm>
          <a:prstGeom prst="rect">
            <a:avLst/>
          </a:prstGeom>
          <a:noFill/>
          <a:ln/>
        </p:spPr>
        <p:txBody>
          <a:bodyPr wrap="square" lIns="0" tIns="0" rIns="0" bIns="0" rtlCol="0" anchor="t">
            <a:noAutofit/>
          </a:bodyPr>
          <a:lstStyle/>
          <a:p>
            <a:pPr marL="342900" indent="-342900" algn="l">
              <a:lnSpc>
                <a:spcPct val="117000"/>
              </a:lnSpc>
              <a:buSzPct val="100000"/>
              <a:buChar char="•"/>
            </a:pPr>
            <a:r>
              <a:rPr lang="en-US" sz="1100" dirty="0">
                <a:solidFill>
                  <a:srgbClr val="FFFFFF"/>
                </a:solidFill>
                <a:latin typeface="Times New Roman" panose="02020603050405020304" pitchFamily="18" charset="0"/>
                <a:ea typeface="Open Sans" pitchFamily="34" charset="-122"/>
                <a:cs typeface="Times New Roman" panose="02020603050405020304" pitchFamily="18" charset="0"/>
              </a:rPr>
              <a:t>Financial Accounting &amp; Multi-Entity Consolidation (US + Canada)</a:t>
            </a:r>
            <a:endParaRPr lang="en-US" sz="110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100" dirty="0">
                <a:solidFill>
                  <a:srgbClr val="FFFFFF"/>
                </a:solidFill>
                <a:latin typeface="Times New Roman" panose="02020603050405020304" pitchFamily="18" charset="0"/>
                <a:ea typeface="Open Sans" pitchFamily="34" charset="-122"/>
                <a:cs typeface="Times New Roman" panose="02020603050405020304" pitchFamily="18" charset="0"/>
              </a:rPr>
              <a:t>Unified Engineering / BOM Management — eliminates the broken nightly sync</a:t>
            </a:r>
            <a:endParaRPr lang="en-US" sz="110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100" dirty="0">
                <a:solidFill>
                  <a:srgbClr val="FFFFFF"/>
                </a:solidFill>
                <a:latin typeface="Times New Roman" panose="02020603050405020304" pitchFamily="18" charset="0"/>
                <a:ea typeface="Open Sans" pitchFamily="34" charset="-122"/>
                <a:cs typeface="Times New Roman" panose="02020603050405020304" pitchFamily="18" charset="0"/>
              </a:rPr>
              <a:t>Manufacturing Execution &amp; MRP — work orders, shop floor, labour actuals</a:t>
            </a:r>
            <a:endParaRPr lang="en-US" sz="110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100" dirty="0">
                <a:solidFill>
                  <a:srgbClr val="FFFFFF"/>
                </a:solidFill>
                <a:latin typeface="Times New Roman" panose="02020603050405020304" pitchFamily="18" charset="0"/>
                <a:ea typeface="Open Sans" pitchFamily="34" charset="-122"/>
                <a:cs typeface="Times New Roman" panose="02020603050405020304" pitchFamily="18" charset="0"/>
              </a:rPr>
              <a:t>Procurement &amp; Multi-Location Inventory Management</a:t>
            </a:r>
            <a:endParaRPr lang="en-US" sz="1100" dirty="0">
              <a:latin typeface="Times New Roman" panose="02020603050405020304" pitchFamily="18" charset="0"/>
              <a:cs typeface="Times New Roman" panose="02020603050405020304" pitchFamily="18" charset="0"/>
            </a:endParaRPr>
          </a:p>
          <a:p>
            <a:pPr marL="342900" indent="-342900" algn="l">
              <a:lnSpc>
                <a:spcPct val="117000"/>
              </a:lnSpc>
              <a:buSzPct val="100000"/>
              <a:buChar char="•"/>
            </a:pPr>
            <a:r>
              <a:rPr lang="en-US" sz="1100" dirty="0">
                <a:solidFill>
                  <a:srgbClr val="FFFFFF"/>
                </a:solidFill>
                <a:latin typeface="Times New Roman" panose="02020603050405020304" pitchFamily="18" charset="0"/>
                <a:ea typeface="Open Sans" pitchFamily="34" charset="-122"/>
                <a:cs typeface="Times New Roman" panose="02020603050405020304" pitchFamily="18" charset="0"/>
              </a:rPr>
              <a:t>Project / Job Costing — the primary tool for margin recovery</a:t>
            </a:r>
            <a:endParaRPr lang="en-US" sz="1100" dirty="0">
              <a:latin typeface="Times New Roman" panose="02020603050405020304" pitchFamily="18" charset="0"/>
              <a:cs typeface="Times New Roman" panose="02020603050405020304" pitchFamily="18" charset="0"/>
            </a:endParaRPr>
          </a:p>
        </p:txBody>
      </p:sp>
      <p:sp>
        <p:nvSpPr>
          <p:cNvPr id="8" name="Text 6"/>
          <p:cNvSpPr/>
          <p:nvPr/>
        </p:nvSpPr>
        <p:spPr>
          <a:xfrm>
            <a:off x="4706466" y="1358131"/>
            <a:ext cx="2111722" cy="166092"/>
          </a:xfrm>
          <a:prstGeom prst="rect">
            <a:avLst/>
          </a:prstGeom>
          <a:noFill/>
          <a:ln/>
        </p:spPr>
        <p:txBody>
          <a:bodyPr wrap="none" lIns="0" tIns="0" rIns="0" bIns="0" rtlCol="0" anchor="t"/>
          <a:lstStyle/>
          <a:p>
            <a:pPr marL="0" indent="0" algn="l">
              <a:lnSpc>
                <a:spcPct val="104000"/>
              </a:lnSpc>
              <a:buNone/>
            </a:pPr>
            <a:r>
              <a:rPr lang="en-US" sz="1050" dirty="0">
                <a:solidFill>
                  <a:srgbClr val="403CCF"/>
                </a:solidFill>
                <a:latin typeface="Times New Roman" panose="02020603050405020304" pitchFamily="18" charset="0"/>
                <a:ea typeface="Libre Baskerville" pitchFamily="34" charset="-122"/>
                <a:cs typeface="Times New Roman" panose="02020603050405020304" pitchFamily="18" charset="0"/>
              </a:rPr>
              <a:t>→ Deliberately Deferred</a:t>
            </a:r>
            <a:endParaRPr lang="en-US" sz="1050" dirty="0">
              <a:latin typeface="Times New Roman" panose="02020603050405020304" pitchFamily="18" charset="0"/>
              <a:cs typeface="Times New Roman" panose="02020603050405020304" pitchFamily="18" charset="0"/>
            </a:endParaRPr>
          </a:p>
        </p:txBody>
      </p:sp>
      <p:sp>
        <p:nvSpPr>
          <p:cNvPr id="9" name="Shape 7"/>
          <p:cNvSpPr/>
          <p:nvPr/>
        </p:nvSpPr>
        <p:spPr>
          <a:xfrm>
            <a:off x="4706466" y="1613892"/>
            <a:ext cx="1933203" cy="1099468"/>
          </a:xfrm>
          <a:prstGeom prst="roundRect">
            <a:avLst>
              <a:gd name="adj" fmla="val 1451"/>
            </a:avLst>
          </a:prstGeom>
          <a:solidFill>
            <a:srgbClr val="FBFAFF"/>
          </a:solidFill>
          <a:ln w="14288">
            <a:solidFill>
              <a:srgbClr val="D0CED9"/>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sp>
        <p:nvSpPr>
          <p:cNvPr id="10" name="Text 8"/>
          <p:cNvSpPr/>
          <p:nvPr/>
        </p:nvSpPr>
        <p:spPr>
          <a:xfrm>
            <a:off x="4827017" y="1734443"/>
            <a:ext cx="1329035" cy="166092"/>
          </a:xfrm>
          <a:prstGeom prst="rect">
            <a:avLst/>
          </a:prstGeom>
          <a:noFill/>
          <a:ln/>
        </p:spPr>
        <p:txBody>
          <a:bodyPr wrap="none" lIns="0" tIns="0" rIns="0" bIns="0" rtlCol="0" anchor="t"/>
          <a:lstStyle/>
          <a:p>
            <a:pPr marL="0" indent="0" algn="l">
              <a:lnSpc>
                <a:spcPct val="104000"/>
              </a:lnSpc>
              <a:buNone/>
            </a:pPr>
            <a:r>
              <a:rPr lang="en-US" sz="1050" dirty="0">
                <a:solidFill>
                  <a:srgbClr val="49495A"/>
                </a:solidFill>
                <a:latin typeface="Times New Roman" panose="02020603050405020304" pitchFamily="18" charset="0"/>
                <a:ea typeface="Libre Baskerville" pitchFamily="34" charset="-122"/>
                <a:cs typeface="Times New Roman" panose="02020603050405020304" pitchFamily="18" charset="0"/>
              </a:rPr>
              <a:t>CRM Integration</a:t>
            </a:r>
            <a:endParaRPr lang="en-US" sz="1050" dirty="0">
              <a:latin typeface="Times New Roman" panose="02020603050405020304" pitchFamily="18" charset="0"/>
              <a:cs typeface="Times New Roman" panose="02020603050405020304" pitchFamily="18" charset="0"/>
            </a:endParaRPr>
          </a:p>
        </p:txBody>
      </p:sp>
      <p:sp>
        <p:nvSpPr>
          <p:cNvPr id="11" name="Text 9"/>
          <p:cNvSpPr/>
          <p:nvPr/>
        </p:nvSpPr>
        <p:spPr>
          <a:xfrm>
            <a:off x="4827017" y="1980233"/>
            <a:ext cx="1692101" cy="297656"/>
          </a:xfrm>
          <a:prstGeom prst="rect">
            <a:avLst/>
          </a:prstGeom>
          <a:noFill/>
          <a:ln/>
        </p:spPr>
        <p:txBody>
          <a:bodyPr wrap="square" lIns="0" tIns="0" rIns="0" bIns="0" rtlCol="0" anchor="t">
            <a:noAutofit/>
          </a:bodyPr>
          <a:lstStyle/>
          <a:p>
            <a:pPr marL="0" indent="0" algn="l">
              <a:lnSpc>
                <a:spcPct val="117000"/>
              </a:lnSpc>
              <a:buNone/>
            </a:pPr>
            <a:r>
              <a:rPr lang="en-US" sz="900" dirty="0">
                <a:solidFill>
                  <a:srgbClr val="49495A"/>
                </a:solidFill>
                <a:latin typeface="Times New Roman" panose="02020603050405020304" pitchFamily="18" charset="0"/>
                <a:ea typeface="Open Sans" pitchFamily="34" charset="-122"/>
                <a:cs typeface="Times New Roman" panose="02020603050405020304" pitchFamily="18" charset="0"/>
              </a:rPr>
              <a:t>Cloud CRM continues standalone; integrated in Phase 3</a:t>
            </a:r>
            <a:endParaRPr lang="en-US" sz="900" dirty="0">
              <a:latin typeface="Times New Roman" panose="02020603050405020304" pitchFamily="18" charset="0"/>
              <a:cs typeface="Times New Roman" panose="02020603050405020304" pitchFamily="18" charset="0"/>
            </a:endParaRPr>
          </a:p>
        </p:txBody>
      </p:sp>
      <p:sp>
        <p:nvSpPr>
          <p:cNvPr id="12" name="Shape 10"/>
          <p:cNvSpPr/>
          <p:nvPr/>
        </p:nvSpPr>
        <p:spPr>
          <a:xfrm>
            <a:off x="6719367" y="1613892"/>
            <a:ext cx="1933277" cy="1099468"/>
          </a:xfrm>
          <a:prstGeom prst="roundRect">
            <a:avLst>
              <a:gd name="adj" fmla="val 1451"/>
            </a:avLst>
          </a:prstGeom>
          <a:solidFill>
            <a:srgbClr val="FBFAFF"/>
          </a:solidFill>
          <a:ln w="14288">
            <a:solidFill>
              <a:srgbClr val="D0CED9"/>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sp>
        <p:nvSpPr>
          <p:cNvPr id="13" name="Text 11"/>
          <p:cNvSpPr/>
          <p:nvPr/>
        </p:nvSpPr>
        <p:spPr>
          <a:xfrm>
            <a:off x="6839917" y="1734443"/>
            <a:ext cx="1692176" cy="332184"/>
          </a:xfrm>
          <a:prstGeom prst="rect">
            <a:avLst/>
          </a:prstGeom>
          <a:noFill/>
          <a:ln/>
        </p:spPr>
        <p:txBody>
          <a:bodyPr wrap="square" lIns="0" tIns="0" rIns="0" bIns="0" rtlCol="0" anchor="t">
            <a:normAutofit/>
          </a:bodyPr>
          <a:lstStyle/>
          <a:p>
            <a:pPr marL="0" indent="0" algn="l">
              <a:lnSpc>
                <a:spcPct val="104000"/>
              </a:lnSpc>
              <a:buNone/>
            </a:pPr>
            <a:r>
              <a:rPr lang="en-US" sz="1050" dirty="0">
                <a:solidFill>
                  <a:srgbClr val="49495A"/>
                </a:solidFill>
                <a:latin typeface="Times New Roman" panose="02020603050405020304" pitchFamily="18" charset="0"/>
                <a:ea typeface="Libre Baskerville" pitchFamily="34" charset="-122"/>
                <a:cs typeface="Times New Roman" panose="02020603050405020304" pitchFamily="18" charset="0"/>
              </a:rPr>
              <a:t>HRIS / Payroll Migration</a:t>
            </a:r>
            <a:endParaRPr lang="en-US" sz="1050" dirty="0">
              <a:latin typeface="Times New Roman" panose="02020603050405020304" pitchFamily="18" charset="0"/>
              <a:cs typeface="Times New Roman" panose="02020603050405020304" pitchFamily="18" charset="0"/>
            </a:endParaRPr>
          </a:p>
        </p:txBody>
      </p:sp>
      <p:sp>
        <p:nvSpPr>
          <p:cNvPr id="14" name="Text 12"/>
          <p:cNvSpPr/>
          <p:nvPr/>
        </p:nvSpPr>
        <p:spPr>
          <a:xfrm>
            <a:off x="6839917" y="2146325"/>
            <a:ext cx="1692176" cy="446484"/>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49495A"/>
                </a:solidFill>
                <a:latin typeface="Times New Roman" panose="02020603050405020304" pitchFamily="18" charset="0"/>
                <a:ea typeface="Open Sans" pitchFamily="34" charset="-122"/>
                <a:cs typeface="Times New Roman" panose="02020603050405020304" pitchFamily="18" charset="0"/>
              </a:rPr>
              <a:t>Zero-tolerance disruption area; migrate only after core ERP is stable</a:t>
            </a:r>
            <a:endParaRPr lang="en-US" sz="900" dirty="0">
              <a:latin typeface="Times New Roman" panose="02020603050405020304" pitchFamily="18" charset="0"/>
              <a:cs typeface="Times New Roman" panose="02020603050405020304" pitchFamily="18" charset="0"/>
            </a:endParaRPr>
          </a:p>
        </p:txBody>
      </p:sp>
      <p:sp>
        <p:nvSpPr>
          <p:cNvPr id="15" name="Shape 13"/>
          <p:cNvSpPr/>
          <p:nvPr/>
        </p:nvSpPr>
        <p:spPr>
          <a:xfrm>
            <a:off x="4706466" y="2793057"/>
            <a:ext cx="1933203" cy="933376"/>
          </a:xfrm>
          <a:prstGeom prst="roundRect">
            <a:avLst>
              <a:gd name="adj" fmla="val 1709"/>
            </a:avLst>
          </a:prstGeom>
          <a:solidFill>
            <a:srgbClr val="FBFAFF"/>
          </a:solidFill>
          <a:ln w="14288">
            <a:solidFill>
              <a:srgbClr val="D0CED9"/>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sp>
        <p:nvSpPr>
          <p:cNvPr id="16" name="Text 14"/>
          <p:cNvSpPr/>
          <p:nvPr/>
        </p:nvSpPr>
        <p:spPr>
          <a:xfrm>
            <a:off x="4827017" y="2913608"/>
            <a:ext cx="1674912" cy="166092"/>
          </a:xfrm>
          <a:prstGeom prst="rect">
            <a:avLst/>
          </a:prstGeom>
          <a:noFill/>
          <a:ln/>
        </p:spPr>
        <p:txBody>
          <a:bodyPr wrap="none" lIns="0" tIns="0" rIns="0" bIns="0" rtlCol="0" anchor="t"/>
          <a:lstStyle/>
          <a:p>
            <a:pPr marL="0" indent="0" algn="l">
              <a:lnSpc>
                <a:spcPct val="104000"/>
              </a:lnSpc>
              <a:buNone/>
            </a:pPr>
            <a:r>
              <a:rPr lang="en-US" sz="1050" dirty="0">
                <a:solidFill>
                  <a:srgbClr val="49495A"/>
                </a:solidFill>
                <a:latin typeface="Times New Roman" panose="02020603050405020304" pitchFamily="18" charset="0"/>
                <a:ea typeface="Libre Baskerville" pitchFamily="34" charset="-122"/>
                <a:cs typeface="Times New Roman" panose="02020603050405020304" pitchFamily="18" charset="0"/>
              </a:rPr>
              <a:t>Advanced BI &amp; Analytics</a:t>
            </a:r>
            <a:endParaRPr lang="en-US" sz="1050" dirty="0">
              <a:latin typeface="Times New Roman" panose="02020603050405020304" pitchFamily="18" charset="0"/>
              <a:cs typeface="Times New Roman" panose="02020603050405020304" pitchFamily="18" charset="0"/>
            </a:endParaRPr>
          </a:p>
        </p:txBody>
      </p:sp>
      <p:sp>
        <p:nvSpPr>
          <p:cNvPr id="17" name="Text 15"/>
          <p:cNvSpPr/>
          <p:nvPr/>
        </p:nvSpPr>
        <p:spPr>
          <a:xfrm>
            <a:off x="4827017" y="3159398"/>
            <a:ext cx="1692101" cy="446484"/>
          </a:xfrm>
          <a:prstGeom prst="rect">
            <a:avLst/>
          </a:prstGeom>
          <a:noFill/>
          <a:ln/>
        </p:spPr>
        <p:txBody>
          <a:bodyPr wrap="square" lIns="0" tIns="0" rIns="0" bIns="0" rtlCol="0" anchor="t">
            <a:normAutofit/>
          </a:bodyPr>
          <a:lstStyle/>
          <a:p>
            <a:pPr marL="0" indent="0" algn="l">
              <a:lnSpc>
                <a:spcPct val="117000"/>
              </a:lnSpc>
              <a:buNone/>
            </a:pPr>
            <a:r>
              <a:rPr lang="en-US" sz="900" dirty="0">
                <a:solidFill>
                  <a:srgbClr val="49495A"/>
                </a:solidFill>
                <a:latin typeface="Times New Roman" panose="02020603050405020304" pitchFamily="18" charset="0"/>
                <a:ea typeface="Open Sans" pitchFamily="34" charset="-122"/>
                <a:cs typeface="Times New Roman" panose="02020603050405020304" pitchFamily="18" charset="0"/>
              </a:rPr>
              <a:t>Base KPI reporting live Day 1; full analytics suite deferred to Phase 3</a:t>
            </a:r>
            <a:endParaRPr lang="en-US" sz="900" dirty="0">
              <a:latin typeface="Times New Roman" panose="02020603050405020304" pitchFamily="18" charset="0"/>
              <a:cs typeface="Times New Roman" panose="02020603050405020304" pitchFamily="18" charset="0"/>
            </a:endParaRPr>
          </a:p>
        </p:txBody>
      </p:sp>
      <p:sp>
        <p:nvSpPr>
          <p:cNvPr id="18" name="Shape 16"/>
          <p:cNvSpPr/>
          <p:nvPr/>
        </p:nvSpPr>
        <p:spPr>
          <a:xfrm>
            <a:off x="6719367" y="2793057"/>
            <a:ext cx="1933277" cy="933376"/>
          </a:xfrm>
          <a:prstGeom prst="roundRect">
            <a:avLst>
              <a:gd name="adj" fmla="val 1709"/>
            </a:avLst>
          </a:prstGeom>
          <a:solidFill>
            <a:srgbClr val="FBFAFF"/>
          </a:solidFill>
          <a:ln w="14288">
            <a:solidFill>
              <a:srgbClr val="D0CED9"/>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sp>
        <p:nvSpPr>
          <p:cNvPr id="19" name="Text 17"/>
          <p:cNvSpPr/>
          <p:nvPr/>
        </p:nvSpPr>
        <p:spPr>
          <a:xfrm>
            <a:off x="6839917" y="2913608"/>
            <a:ext cx="1574229" cy="166092"/>
          </a:xfrm>
          <a:prstGeom prst="rect">
            <a:avLst/>
          </a:prstGeom>
          <a:noFill/>
          <a:ln/>
        </p:spPr>
        <p:txBody>
          <a:bodyPr wrap="none" lIns="0" tIns="0" rIns="0" bIns="0" rtlCol="0" anchor="t"/>
          <a:lstStyle/>
          <a:p>
            <a:pPr marL="0" indent="0" algn="l">
              <a:lnSpc>
                <a:spcPct val="104000"/>
              </a:lnSpc>
              <a:buNone/>
            </a:pPr>
            <a:r>
              <a:rPr lang="en-US" sz="1050" dirty="0">
                <a:solidFill>
                  <a:srgbClr val="49495A"/>
                </a:solidFill>
                <a:latin typeface="Times New Roman" panose="02020603050405020304" pitchFamily="18" charset="0"/>
                <a:ea typeface="Libre Baskerville" pitchFamily="34" charset="-122"/>
                <a:cs typeface="Times New Roman" panose="02020603050405020304" pitchFamily="18" charset="0"/>
              </a:rPr>
              <a:t>EDI &amp; Customer Portal</a:t>
            </a:r>
            <a:endParaRPr lang="en-US" sz="1050" dirty="0">
              <a:latin typeface="Times New Roman" panose="02020603050405020304" pitchFamily="18" charset="0"/>
              <a:cs typeface="Times New Roman" panose="02020603050405020304" pitchFamily="18" charset="0"/>
            </a:endParaRPr>
          </a:p>
        </p:txBody>
      </p:sp>
      <p:sp>
        <p:nvSpPr>
          <p:cNvPr id="20" name="Text 18"/>
          <p:cNvSpPr/>
          <p:nvPr/>
        </p:nvSpPr>
        <p:spPr>
          <a:xfrm>
            <a:off x="6839917" y="3159398"/>
            <a:ext cx="1692176" cy="297656"/>
          </a:xfrm>
          <a:prstGeom prst="rect">
            <a:avLst/>
          </a:prstGeom>
          <a:noFill/>
          <a:ln/>
        </p:spPr>
        <p:txBody>
          <a:bodyPr wrap="square" lIns="0" tIns="0" rIns="0" bIns="0" rtlCol="0" anchor="t">
            <a:noAutofit/>
          </a:bodyPr>
          <a:lstStyle/>
          <a:p>
            <a:pPr marL="0" indent="0" algn="l">
              <a:lnSpc>
                <a:spcPct val="117000"/>
              </a:lnSpc>
              <a:buNone/>
            </a:pPr>
            <a:r>
              <a:rPr lang="en-US" sz="900" dirty="0">
                <a:solidFill>
                  <a:srgbClr val="49495A"/>
                </a:solidFill>
                <a:latin typeface="Times New Roman" panose="02020603050405020304" pitchFamily="18" charset="0"/>
                <a:ea typeface="Open Sans" pitchFamily="34" charset="-122"/>
                <a:cs typeface="Times New Roman" panose="02020603050405020304" pitchFamily="18" charset="0"/>
              </a:rPr>
              <a:t>Manual processes continue through the stabilisation period</a:t>
            </a:r>
            <a:endParaRPr lang="en-US" sz="900" dirty="0">
              <a:latin typeface="Times New Roman" panose="02020603050405020304" pitchFamily="18" charset="0"/>
              <a:cs typeface="Times New Roman" panose="02020603050405020304" pitchFamily="18" charset="0"/>
            </a:endParaRPr>
          </a:p>
        </p:txBody>
      </p:sp>
      <p:sp>
        <p:nvSpPr>
          <p:cNvPr id="21" name="Shape 19"/>
          <p:cNvSpPr/>
          <p:nvPr/>
        </p:nvSpPr>
        <p:spPr>
          <a:xfrm>
            <a:off x="4706466" y="3806130"/>
            <a:ext cx="3946178" cy="635719"/>
          </a:xfrm>
          <a:prstGeom prst="roundRect">
            <a:avLst>
              <a:gd name="adj" fmla="val 2509"/>
            </a:avLst>
          </a:prstGeom>
          <a:solidFill>
            <a:srgbClr val="FBFAFF"/>
          </a:solidFill>
          <a:ln w="14288">
            <a:solidFill>
              <a:srgbClr val="D0CED9"/>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sp>
        <p:nvSpPr>
          <p:cNvPr id="22" name="Text 20"/>
          <p:cNvSpPr/>
          <p:nvPr/>
        </p:nvSpPr>
        <p:spPr>
          <a:xfrm>
            <a:off x="4827017" y="3926681"/>
            <a:ext cx="1819275" cy="166092"/>
          </a:xfrm>
          <a:prstGeom prst="rect">
            <a:avLst/>
          </a:prstGeom>
          <a:noFill/>
          <a:ln/>
        </p:spPr>
        <p:txBody>
          <a:bodyPr wrap="none" lIns="0" tIns="0" rIns="0" bIns="0" rtlCol="0" anchor="t"/>
          <a:lstStyle/>
          <a:p>
            <a:pPr marL="0" indent="0" algn="l">
              <a:lnSpc>
                <a:spcPct val="104000"/>
              </a:lnSpc>
              <a:buNone/>
            </a:pPr>
            <a:r>
              <a:rPr lang="en-US" sz="1050" dirty="0">
                <a:solidFill>
                  <a:srgbClr val="49495A"/>
                </a:solidFill>
                <a:latin typeface="Times New Roman" panose="02020603050405020304" pitchFamily="18" charset="0"/>
                <a:ea typeface="Libre Baskerville" pitchFamily="34" charset="-122"/>
                <a:cs typeface="Times New Roman" panose="02020603050405020304" pitchFamily="18" charset="0"/>
              </a:rPr>
              <a:t>Full Historical Data (7+ yrs)</a:t>
            </a:r>
            <a:endParaRPr lang="en-US" sz="1050" dirty="0">
              <a:latin typeface="Times New Roman" panose="02020603050405020304" pitchFamily="18" charset="0"/>
              <a:cs typeface="Times New Roman" panose="02020603050405020304" pitchFamily="18" charset="0"/>
            </a:endParaRPr>
          </a:p>
        </p:txBody>
      </p:sp>
      <p:sp>
        <p:nvSpPr>
          <p:cNvPr id="23" name="Text 21"/>
          <p:cNvSpPr/>
          <p:nvPr/>
        </p:nvSpPr>
        <p:spPr>
          <a:xfrm>
            <a:off x="4827017" y="4172471"/>
            <a:ext cx="3705076" cy="148828"/>
          </a:xfrm>
          <a:prstGeom prst="rect">
            <a:avLst/>
          </a:prstGeom>
          <a:noFill/>
          <a:ln/>
        </p:spPr>
        <p:txBody>
          <a:bodyPr wrap="none" lIns="0" tIns="0" rIns="0" bIns="0" rtlCol="0" anchor="t"/>
          <a:lstStyle/>
          <a:p>
            <a:pPr marL="0" indent="0" algn="l">
              <a:lnSpc>
                <a:spcPct val="117000"/>
              </a:lnSpc>
              <a:buNone/>
            </a:pPr>
            <a:r>
              <a:rPr lang="en-US" sz="900" dirty="0">
                <a:solidFill>
                  <a:srgbClr val="49495A"/>
                </a:solidFill>
                <a:latin typeface="Times New Roman" panose="02020603050405020304" pitchFamily="18" charset="0"/>
                <a:ea typeface="Open Sans" pitchFamily="34" charset="-122"/>
                <a:cs typeface="Times New Roman" panose="02020603050405020304" pitchFamily="18" charset="0"/>
              </a:rPr>
              <a:t>7+ year archive stays in legacy read-only; 2–3 years migrated</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4" name="Text 2"/>
          <p:cNvSpPr/>
          <p:nvPr/>
        </p:nvSpPr>
        <p:spPr>
          <a:xfrm>
            <a:off x="496119" y="654100"/>
            <a:ext cx="7370415" cy="354360"/>
          </a:xfrm>
          <a:prstGeom prst="rect">
            <a:avLst/>
          </a:prstGeom>
          <a:noFill/>
          <a:ln/>
        </p:spPr>
        <p:txBody>
          <a:bodyPr wrap="none" lIns="0" tIns="0" rIns="0" bIns="0" rtlCol="0" anchor="t"/>
          <a:lstStyle/>
          <a:p>
            <a:pPr marL="0" indent="0" algn="l">
              <a:lnSpc>
                <a:spcPct val="104000"/>
              </a:lnSpc>
              <a:buNone/>
            </a:pPr>
            <a:r>
              <a:rPr lang="en-US" sz="2200" dirty="0">
                <a:solidFill>
                  <a:srgbClr val="403CCF"/>
                </a:solidFill>
                <a:latin typeface="Libre Baskerville" pitchFamily="34" charset="0"/>
                <a:ea typeface="Libre Baskerville" pitchFamily="34" charset="-122"/>
                <a:cs typeface="Libre Baskerville" pitchFamily="34" charset="-120"/>
              </a:rPr>
              <a:t>Implementation Methodology: Vision to Evolve</a:t>
            </a:r>
            <a:endParaRPr lang="en-US" sz="2200" dirty="0"/>
          </a:p>
        </p:txBody>
      </p:sp>
      <p:sp>
        <p:nvSpPr>
          <p:cNvPr id="5" name="Shape 3"/>
          <p:cNvSpPr/>
          <p:nvPr/>
        </p:nvSpPr>
        <p:spPr>
          <a:xfrm>
            <a:off x="496119" y="1144488"/>
            <a:ext cx="2656731" cy="1564779"/>
          </a:xfrm>
          <a:prstGeom prst="roundRect">
            <a:avLst>
              <a:gd name="adj" fmla="val 1087"/>
            </a:avLst>
          </a:prstGeom>
          <a:solidFill>
            <a:srgbClr val="EAE8F3"/>
          </a:solidFill>
          <a:ln/>
        </p:spPr>
        <p:txBody>
          <a:bodyPr/>
          <a:lstStyle/>
          <a:p>
            <a:endParaRPr lang="en-GH" sz="2800">
              <a:latin typeface="Times New Roman" panose="02020603050405020304" pitchFamily="18" charset="0"/>
              <a:cs typeface="Times New Roman" panose="02020603050405020304" pitchFamily="18" charset="0"/>
            </a:endParaRPr>
          </a:p>
        </p:txBody>
      </p:sp>
      <p:sp>
        <p:nvSpPr>
          <p:cNvPr id="6" name="Text 4"/>
          <p:cNvSpPr/>
          <p:nvPr/>
        </p:nvSpPr>
        <p:spPr>
          <a:xfrm>
            <a:off x="609526" y="1257895"/>
            <a:ext cx="1417662" cy="177180"/>
          </a:xfrm>
          <a:prstGeom prst="rect">
            <a:avLst/>
          </a:prstGeom>
          <a:noFill/>
          <a:ln/>
        </p:spPr>
        <p:txBody>
          <a:bodyPr wrap="none" lIns="0" tIns="0" rIns="0" bIns="0" rtlCol="0" anchor="t"/>
          <a:lstStyle/>
          <a:p>
            <a:pPr marL="0" indent="0" algn="l">
              <a:lnSpc>
                <a:spcPct val="104000"/>
              </a:lnSpc>
              <a:buNone/>
            </a:pPr>
            <a:r>
              <a:rPr lang="en-US" sz="1400" dirty="0">
                <a:solidFill>
                  <a:srgbClr val="49495A"/>
                </a:solidFill>
                <a:latin typeface="Times New Roman" panose="02020603050405020304" pitchFamily="18" charset="0"/>
                <a:ea typeface="Libre Baskerville" pitchFamily="34" charset="-122"/>
                <a:cs typeface="Times New Roman" panose="02020603050405020304" pitchFamily="18" charset="0"/>
              </a:rPr>
              <a:t>Vision</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609526" y="1489472"/>
            <a:ext cx="2429917" cy="1106388"/>
          </a:xfrm>
          <a:prstGeom prst="rect">
            <a:avLst/>
          </a:prstGeom>
          <a:noFill/>
          <a:ln/>
        </p:spPr>
        <p:txBody>
          <a:bodyPr wrap="square" lIns="0" tIns="0" rIns="0" bIns="0" rtlCol="0" anchor="t">
            <a:noAutofit/>
          </a:bodyPr>
          <a:lstStyle/>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Define transformation vision &amp; objectives</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Project kick-off and mobilisation</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Conduct workshops to validate business requirements</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Develop change management plan</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Provision ERP instances</a:t>
            </a:r>
            <a:endParaRPr lang="en-US" sz="1000" dirty="0">
              <a:latin typeface="Times New Roman" panose="02020603050405020304" pitchFamily="18" charset="0"/>
              <a:cs typeface="Times New Roman" panose="02020603050405020304" pitchFamily="18" charset="0"/>
            </a:endParaRPr>
          </a:p>
        </p:txBody>
      </p:sp>
      <p:sp>
        <p:nvSpPr>
          <p:cNvPr id="8" name="Shape 6"/>
          <p:cNvSpPr/>
          <p:nvPr/>
        </p:nvSpPr>
        <p:spPr>
          <a:xfrm>
            <a:off x="3243560" y="1144488"/>
            <a:ext cx="2656805" cy="1564779"/>
          </a:xfrm>
          <a:prstGeom prst="roundRect">
            <a:avLst>
              <a:gd name="adj" fmla="val 1087"/>
            </a:avLst>
          </a:prstGeom>
          <a:solidFill>
            <a:srgbClr val="EAE8F3"/>
          </a:solidFill>
          <a:ln/>
        </p:spPr>
        <p:txBody>
          <a:bodyPr/>
          <a:lstStyle/>
          <a:p>
            <a:endParaRPr lang="en-GH" sz="2800">
              <a:latin typeface="Times New Roman" panose="02020603050405020304" pitchFamily="18" charset="0"/>
              <a:cs typeface="Times New Roman" panose="02020603050405020304" pitchFamily="18" charset="0"/>
            </a:endParaRPr>
          </a:p>
        </p:txBody>
      </p:sp>
      <p:sp>
        <p:nvSpPr>
          <p:cNvPr id="9" name="Text 7"/>
          <p:cNvSpPr/>
          <p:nvPr/>
        </p:nvSpPr>
        <p:spPr>
          <a:xfrm>
            <a:off x="3356967" y="1257895"/>
            <a:ext cx="1417662" cy="177180"/>
          </a:xfrm>
          <a:prstGeom prst="rect">
            <a:avLst/>
          </a:prstGeom>
          <a:noFill/>
          <a:ln/>
        </p:spPr>
        <p:txBody>
          <a:bodyPr wrap="none" lIns="0" tIns="0" rIns="0" bIns="0" rtlCol="0" anchor="t"/>
          <a:lstStyle/>
          <a:p>
            <a:pPr marL="0" indent="0" algn="l">
              <a:lnSpc>
                <a:spcPct val="104000"/>
              </a:lnSpc>
              <a:buNone/>
            </a:pPr>
            <a:r>
              <a:rPr lang="en-US" sz="1400" dirty="0">
                <a:solidFill>
                  <a:srgbClr val="49495A"/>
                </a:solidFill>
                <a:latin typeface="Times New Roman" panose="02020603050405020304" pitchFamily="18" charset="0"/>
                <a:ea typeface="Libre Baskerville" pitchFamily="34" charset="-122"/>
                <a:cs typeface="Times New Roman" panose="02020603050405020304" pitchFamily="18" charset="0"/>
              </a:rPr>
              <a:t>Validate</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3356967" y="1489472"/>
            <a:ext cx="2429991" cy="943124"/>
          </a:xfrm>
          <a:prstGeom prst="rect">
            <a:avLst/>
          </a:prstGeom>
          <a:noFill/>
          <a:ln/>
        </p:spPr>
        <p:txBody>
          <a:bodyPr wrap="square" lIns="0" tIns="0" rIns="0" bIns="0" rtlCol="0" anchor="t">
            <a:noAutofit/>
          </a:bodyPr>
          <a:lstStyle/>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Conduct gap analysis</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Develop final solution architecture</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Solution review and sign-off</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Conduct CRP1</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Review and sign-off requirements</a:t>
            </a:r>
            <a:endParaRPr lang="en-US" sz="1000" dirty="0">
              <a:latin typeface="Times New Roman" panose="02020603050405020304" pitchFamily="18" charset="0"/>
              <a:cs typeface="Times New Roman" panose="02020603050405020304" pitchFamily="18" charset="0"/>
            </a:endParaRPr>
          </a:p>
        </p:txBody>
      </p:sp>
      <p:sp>
        <p:nvSpPr>
          <p:cNvPr id="11" name="Shape 9"/>
          <p:cNvSpPr/>
          <p:nvPr/>
        </p:nvSpPr>
        <p:spPr>
          <a:xfrm>
            <a:off x="5991076" y="1144488"/>
            <a:ext cx="2656805" cy="1564779"/>
          </a:xfrm>
          <a:prstGeom prst="roundRect">
            <a:avLst>
              <a:gd name="adj" fmla="val 1087"/>
            </a:avLst>
          </a:prstGeom>
          <a:solidFill>
            <a:srgbClr val="EAE8F3"/>
          </a:solidFill>
          <a:ln/>
        </p:spPr>
        <p:txBody>
          <a:bodyPr/>
          <a:lstStyle/>
          <a:p>
            <a:endParaRPr lang="en-GH" sz="2800">
              <a:latin typeface="Times New Roman" panose="02020603050405020304" pitchFamily="18" charset="0"/>
              <a:cs typeface="Times New Roman" panose="02020603050405020304" pitchFamily="18" charset="0"/>
            </a:endParaRPr>
          </a:p>
        </p:txBody>
      </p:sp>
      <p:sp>
        <p:nvSpPr>
          <p:cNvPr id="12" name="Text 10"/>
          <p:cNvSpPr/>
          <p:nvPr/>
        </p:nvSpPr>
        <p:spPr>
          <a:xfrm>
            <a:off x="6104483" y="1257895"/>
            <a:ext cx="1417662" cy="177180"/>
          </a:xfrm>
          <a:prstGeom prst="rect">
            <a:avLst/>
          </a:prstGeom>
          <a:noFill/>
          <a:ln/>
        </p:spPr>
        <p:txBody>
          <a:bodyPr wrap="none" lIns="0" tIns="0" rIns="0" bIns="0" rtlCol="0" anchor="t"/>
          <a:lstStyle/>
          <a:p>
            <a:pPr marL="0" indent="0" algn="l">
              <a:lnSpc>
                <a:spcPct val="104000"/>
              </a:lnSpc>
              <a:buNone/>
            </a:pPr>
            <a:r>
              <a:rPr lang="en-US" sz="1400" dirty="0">
                <a:solidFill>
                  <a:srgbClr val="49495A"/>
                </a:solidFill>
                <a:latin typeface="Times New Roman" panose="02020603050405020304" pitchFamily="18" charset="0"/>
                <a:ea typeface="Libre Baskerville" pitchFamily="34" charset="-122"/>
                <a:cs typeface="Times New Roman" panose="02020603050405020304" pitchFamily="18" charset="0"/>
              </a:rPr>
              <a:t>Construct &amp; Test</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6104483" y="1489472"/>
            <a:ext cx="2429991" cy="943124"/>
          </a:xfrm>
          <a:prstGeom prst="rect">
            <a:avLst/>
          </a:prstGeom>
          <a:noFill/>
          <a:ln/>
        </p:spPr>
        <p:txBody>
          <a:bodyPr wrap="square" lIns="0" tIns="0" rIns="0" bIns="0" rtlCol="0" anchor="t">
            <a:noAutofit/>
          </a:bodyPr>
          <a:lstStyle/>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Configure applications for UAT</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Build data migration plan</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Develop training manuals</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Conduct end-user training</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Prepare functional &amp; technical specs</a:t>
            </a:r>
            <a:endParaRPr lang="en-US" sz="1000" dirty="0">
              <a:latin typeface="Times New Roman" panose="02020603050405020304" pitchFamily="18" charset="0"/>
              <a:cs typeface="Times New Roman" panose="02020603050405020304" pitchFamily="18" charset="0"/>
            </a:endParaRPr>
          </a:p>
        </p:txBody>
      </p:sp>
      <p:sp>
        <p:nvSpPr>
          <p:cNvPr id="14" name="Shape 12"/>
          <p:cNvSpPr/>
          <p:nvPr/>
        </p:nvSpPr>
        <p:spPr>
          <a:xfrm>
            <a:off x="496119" y="2799978"/>
            <a:ext cx="4030489" cy="1401514"/>
          </a:xfrm>
          <a:prstGeom prst="roundRect">
            <a:avLst>
              <a:gd name="adj" fmla="val 1214"/>
            </a:avLst>
          </a:prstGeom>
          <a:solidFill>
            <a:srgbClr val="EAE8F3"/>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15" name="Text 13"/>
          <p:cNvSpPr/>
          <p:nvPr/>
        </p:nvSpPr>
        <p:spPr>
          <a:xfrm>
            <a:off x="609526" y="2913385"/>
            <a:ext cx="1417662" cy="177180"/>
          </a:xfrm>
          <a:prstGeom prst="rect">
            <a:avLst/>
          </a:prstGeom>
          <a:noFill/>
          <a:ln/>
        </p:spPr>
        <p:txBody>
          <a:bodyPr wrap="none" lIns="0" tIns="0" rIns="0" bIns="0" rtlCol="0" anchor="t"/>
          <a:lstStyle/>
          <a:p>
            <a:pPr marL="0" indent="0" algn="l">
              <a:lnSpc>
                <a:spcPct val="104000"/>
              </a:lnSpc>
              <a:buNone/>
            </a:pPr>
            <a:r>
              <a:rPr lang="en-US" sz="1400" dirty="0">
                <a:solidFill>
                  <a:srgbClr val="49495A"/>
                </a:solidFill>
                <a:latin typeface="Times New Roman" panose="02020603050405020304" pitchFamily="18" charset="0"/>
                <a:ea typeface="Libre Baskerville" pitchFamily="34" charset="-122"/>
                <a:cs typeface="Times New Roman" panose="02020603050405020304" pitchFamily="18" charset="0"/>
              </a:rPr>
              <a:t>Deploy</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609526" y="3144962"/>
            <a:ext cx="3803675" cy="943124"/>
          </a:xfrm>
          <a:prstGeom prst="rect">
            <a:avLst/>
          </a:prstGeom>
          <a:noFill/>
          <a:ln/>
        </p:spPr>
        <p:txBody>
          <a:bodyPr wrap="square" lIns="0" tIns="0" rIns="0" bIns="0" rtlCol="0" anchor="t">
            <a:noAutofit/>
          </a:bodyPr>
          <a:lstStyle/>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Execute full data migration</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Conduct UAT and sign-off</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Deploy cutover production plan</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Establish change management tools</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Go-live readiness checks + Go-Live</a:t>
            </a:r>
            <a:endParaRPr lang="en-US" sz="1000" dirty="0">
              <a:latin typeface="Times New Roman" panose="02020603050405020304" pitchFamily="18" charset="0"/>
              <a:cs typeface="Times New Roman" panose="02020603050405020304" pitchFamily="18" charset="0"/>
            </a:endParaRPr>
          </a:p>
        </p:txBody>
      </p:sp>
      <p:sp>
        <p:nvSpPr>
          <p:cNvPr id="17" name="Shape 15"/>
          <p:cNvSpPr/>
          <p:nvPr/>
        </p:nvSpPr>
        <p:spPr>
          <a:xfrm>
            <a:off x="4617318" y="2799978"/>
            <a:ext cx="4030563" cy="1401514"/>
          </a:xfrm>
          <a:prstGeom prst="roundRect">
            <a:avLst>
              <a:gd name="adj" fmla="val 1214"/>
            </a:avLst>
          </a:prstGeom>
          <a:solidFill>
            <a:srgbClr val="EAE8F3"/>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18" name="Text 16"/>
          <p:cNvSpPr/>
          <p:nvPr/>
        </p:nvSpPr>
        <p:spPr>
          <a:xfrm>
            <a:off x="4730725" y="2913385"/>
            <a:ext cx="1417662" cy="177180"/>
          </a:xfrm>
          <a:prstGeom prst="rect">
            <a:avLst/>
          </a:prstGeom>
          <a:noFill/>
          <a:ln/>
        </p:spPr>
        <p:txBody>
          <a:bodyPr wrap="none" lIns="0" tIns="0" rIns="0" bIns="0" rtlCol="0" anchor="t"/>
          <a:lstStyle/>
          <a:p>
            <a:pPr marL="0" indent="0" algn="l">
              <a:lnSpc>
                <a:spcPct val="104000"/>
              </a:lnSpc>
              <a:buNone/>
            </a:pPr>
            <a:r>
              <a:rPr lang="en-US" sz="1400" dirty="0">
                <a:solidFill>
                  <a:srgbClr val="49495A"/>
                </a:solidFill>
                <a:latin typeface="Times New Roman" panose="02020603050405020304" pitchFamily="18" charset="0"/>
                <a:ea typeface="Libre Baskerville" pitchFamily="34" charset="-122"/>
                <a:cs typeface="Times New Roman" panose="02020603050405020304" pitchFamily="18" charset="0"/>
              </a:rPr>
              <a:t>Evolve</a:t>
            </a:r>
            <a:endParaRPr lang="en-US" sz="1400" dirty="0">
              <a:latin typeface="Times New Roman" panose="02020603050405020304" pitchFamily="18" charset="0"/>
              <a:cs typeface="Times New Roman" panose="02020603050405020304" pitchFamily="18" charset="0"/>
            </a:endParaRPr>
          </a:p>
        </p:txBody>
      </p:sp>
      <p:sp>
        <p:nvSpPr>
          <p:cNvPr id="19" name="Text 17"/>
          <p:cNvSpPr/>
          <p:nvPr/>
        </p:nvSpPr>
        <p:spPr>
          <a:xfrm>
            <a:off x="4730725" y="3144962"/>
            <a:ext cx="3803749" cy="943124"/>
          </a:xfrm>
          <a:prstGeom prst="rect">
            <a:avLst/>
          </a:prstGeom>
          <a:noFill/>
          <a:ln/>
        </p:spPr>
        <p:txBody>
          <a:bodyPr wrap="square" lIns="0" tIns="0" rIns="0" bIns="0" rtlCol="0" anchor="t">
            <a:noAutofit/>
          </a:bodyPr>
          <a:lstStyle/>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Post go-live hypercare support</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Establish continuous improvement</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Transition to managed service</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KPI validation &amp; reporting</a:t>
            </a:r>
            <a:endParaRPr lang="en-US" sz="1000" dirty="0">
              <a:latin typeface="Times New Roman" panose="02020603050405020304" pitchFamily="18" charset="0"/>
              <a:cs typeface="Times New Roman" panose="02020603050405020304" pitchFamily="18" charset="0"/>
            </a:endParaRPr>
          </a:p>
          <a:p>
            <a:pPr marL="342900" indent="-342900" algn="l">
              <a:lnSpc>
                <a:spcPct val="120000"/>
              </a:lnSpc>
              <a:buSzPct val="100000"/>
              <a:buChar char="•"/>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User adoption measurement</a:t>
            </a:r>
            <a:endParaRPr lang="en-US" sz="1000" dirty="0">
              <a:latin typeface="Times New Roman" panose="02020603050405020304" pitchFamily="18" charset="0"/>
              <a:cs typeface="Times New Roman" panose="02020603050405020304" pitchFamily="18" charset="0"/>
            </a:endParaRPr>
          </a:p>
        </p:txBody>
      </p:sp>
      <p:sp>
        <p:nvSpPr>
          <p:cNvPr id="20" name="Shape 18"/>
          <p:cNvSpPr/>
          <p:nvPr/>
        </p:nvSpPr>
        <p:spPr>
          <a:xfrm>
            <a:off x="496119" y="4303514"/>
            <a:ext cx="8151763" cy="420663"/>
          </a:xfrm>
          <a:prstGeom prst="roundRect">
            <a:avLst>
              <a:gd name="adj" fmla="val 4044"/>
            </a:avLst>
          </a:prstGeom>
          <a:solidFill>
            <a:srgbClr val="B6D6FC"/>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22" name="Text 19"/>
          <p:cNvSpPr/>
          <p:nvPr/>
        </p:nvSpPr>
        <p:spPr>
          <a:xfrm>
            <a:off x="864691" y="4422577"/>
            <a:ext cx="8126983" cy="163264"/>
          </a:xfrm>
          <a:prstGeom prst="rect">
            <a:avLst/>
          </a:prstGeom>
          <a:noFill/>
          <a:ln/>
        </p:spPr>
        <p:txBody>
          <a:bodyPr wrap="none" lIns="0" tIns="0" rIns="0" bIns="0" rtlCol="0" anchor="t"/>
          <a:lstStyle/>
          <a:p>
            <a:pPr marL="0" indent="0" algn="l">
              <a:lnSpc>
                <a:spcPct val="120000"/>
              </a:lnSpc>
              <a:buNone/>
            </a:pPr>
            <a:r>
              <a:rPr lang="en-US" sz="1000" b="1" dirty="0">
                <a:solidFill>
                  <a:srgbClr val="000000"/>
                </a:solidFill>
                <a:latin typeface="Times New Roman" panose="02020603050405020304" pitchFamily="18" charset="0"/>
                <a:ea typeface="Open Sans" pitchFamily="34" charset="-122"/>
                <a:cs typeface="Times New Roman" panose="02020603050405020304" pitchFamily="18" charset="0"/>
              </a:rPr>
              <a:t>Each phase has formal sign-off gates. No phase begins until the prior phase deliverables are reviewed, approved, and baselined.</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4" name="Text 2"/>
          <p:cNvSpPr/>
          <p:nvPr/>
        </p:nvSpPr>
        <p:spPr>
          <a:xfrm>
            <a:off x="496119" y="664592"/>
            <a:ext cx="8349481" cy="332259"/>
          </a:xfrm>
          <a:prstGeom prst="rect">
            <a:avLst/>
          </a:prstGeom>
          <a:noFill/>
          <a:ln/>
        </p:spPr>
        <p:txBody>
          <a:bodyPr wrap="none" lIns="0" tIns="0" rIns="0" bIns="0" rtlCol="0" anchor="t"/>
          <a:lstStyle/>
          <a:p>
            <a:pPr marL="0" indent="0" algn="l">
              <a:lnSpc>
                <a:spcPct val="104000"/>
              </a:lnSpc>
              <a:buNone/>
            </a:pPr>
            <a:r>
              <a:rPr lang="en-US" sz="2400" dirty="0">
                <a:solidFill>
                  <a:srgbClr val="403CCF"/>
                </a:solidFill>
                <a:latin typeface="Times New Roman" panose="02020603050405020304" pitchFamily="18" charset="0"/>
                <a:ea typeface="Libre Baskerville" pitchFamily="34" charset="-122"/>
                <a:cs typeface="Times New Roman" panose="02020603050405020304" pitchFamily="18" charset="0"/>
              </a:rPr>
              <a:t>Data Migration Strategy — Not Everything Needs to Move</a:t>
            </a:r>
            <a:endParaRPr lang="en-US" sz="2400" dirty="0">
              <a:latin typeface="Times New Roman" panose="02020603050405020304" pitchFamily="18" charset="0"/>
              <a:cs typeface="Times New Roman" panose="02020603050405020304" pitchFamily="18" charset="0"/>
            </a:endParaRPr>
          </a:p>
        </p:txBody>
      </p:sp>
      <p:sp>
        <p:nvSpPr>
          <p:cNvPr id="5" name="Shape 3"/>
          <p:cNvSpPr/>
          <p:nvPr/>
        </p:nvSpPr>
        <p:spPr>
          <a:xfrm>
            <a:off x="496119" y="1116434"/>
            <a:ext cx="8151763" cy="1745754"/>
          </a:xfrm>
          <a:prstGeom prst="roundRect">
            <a:avLst>
              <a:gd name="adj" fmla="val 914"/>
            </a:avLst>
          </a:prstGeom>
          <a:solidFill>
            <a:srgbClr val="EAE8F3"/>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6" name="Shape 4"/>
          <p:cNvSpPr/>
          <p:nvPr/>
        </p:nvSpPr>
        <p:spPr>
          <a:xfrm>
            <a:off x="496119" y="1116434"/>
            <a:ext cx="4075881" cy="872877"/>
          </a:xfrm>
          <a:prstGeom prst="roundRect">
            <a:avLst>
              <a:gd name="adj" fmla="val 1827"/>
            </a:avLst>
          </a:prstGeom>
          <a:solidFill>
            <a:srgbClr val="EAE8F3"/>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7" name="Text 5"/>
          <p:cNvSpPr/>
          <p:nvPr/>
        </p:nvSpPr>
        <p:spPr>
          <a:xfrm>
            <a:off x="602382" y="1222697"/>
            <a:ext cx="1329035" cy="166092"/>
          </a:xfrm>
          <a:prstGeom prst="rect">
            <a:avLst/>
          </a:prstGeom>
          <a:noFill/>
          <a:ln/>
        </p:spPr>
        <p:txBody>
          <a:bodyPr wrap="none" lIns="0" tIns="0" rIns="0" bIns="0" rtlCol="0" anchor="t"/>
          <a:lstStyle/>
          <a:p>
            <a:pPr marL="0" indent="0" algn="l">
              <a:lnSpc>
                <a:spcPct val="104000"/>
              </a:lnSpc>
              <a:buNone/>
            </a:pPr>
            <a:r>
              <a:rPr lang="en-US" sz="1050" dirty="0">
                <a:solidFill>
                  <a:srgbClr val="49495A"/>
                </a:solidFill>
                <a:latin typeface="Times New Roman" panose="02020603050405020304" pitchFamily="18" charset="0"/>
                <a:ea typeface="Libre Baskerville" pitchFamily="34" charset="-122"/>
                <a:cs typeface="Times New Roman" panose="02020603050405020304" pitchFamily="18" charset="0"/>
              </a:rPr>
              <a:t>Phase 0 · M1–2</a:t>
            </a:r>
            <a:endParaRPr lang="en-US" sz="1050" dirty="0">
              <a:latin typeface="Times New Roman" panose="02020603050405020304" pitchFamily="18" charset="0"/>
              <a:cs typeface="Times New Roman" panose="02020603050405020304" pitchFamily="18" charset="0"/>
            </a:endParaRPr>
          </a:p>
        </p:txBody>
      </p:sp>
      <p:sp>
        <p:nvSpPr>
          <p:cNvPr id="8" name="Text 6"/>
          <p:cNvSpPr/>
          <p:nvPr/>
        </p:nvSpPr>
        <p:spPr>
          <a:xfrm>
            <a:off x="602382" y="1436563"/>
            <a:ext cx="3863355" cy="446484"/>
          </a:xfrm>
          <a:prstGeom prst="rect">
            <a:avLst/>
          </a:prstGeom>
          <a:noFill/>
          <a:ln/>
        </p:spPr>
        <p:txBody>
          <a:bodyPr wrap="square" lIns="0" tIns="0" rIns="0" bIns="0" rtlCol="0" anchor="t">
            <a:noAutofit/>
          </a:bodyPr>
          <a:lstStyle/>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Parallel reporting layer live</a:t>
            </a:r>
            <a:endParaRPr lang="en-US" sz="1000" dirty="0">
              <a:latin typeface="Times New Roman" panose="02020603050405020304" pitchFamily="18" charset="0"/>
              <a:cs typeface="Times New Roman" panose="02020603050405020304" pitchFamily="18" charset="0"/>
            </a:endParaRPr>
          </a:p>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Data audit &amp; cleanse begins</a:t>
            </a:r>
            <a:endParaRPr lang="en-US" sz="1000" dirty="0">
              <a:latin typeface="Times New Roman" panose="02020603050405020304" pitchFamily="18" charset="0"/>
              <a:cs typeface="Times New Roman" panose="02020603050405020304" pitchFamily="18" charset="0"/>
            </a:endParaRPr>
          </a:p>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Legacy = system of record</a:t>
            </a:r>
            <a:endParaRPr lang="en-US" sz="1000" dirty="0">
              <a:latin typeface="Times New Roman" panose="02020603050405020304" pitchFamily="18" charset="0"/>
              <a:cs typeface="Times New Roman" panose="02020603050405020304" pitchFamily="18" charset="0"/>
            </a:endParaRPr>
          </a:p>
        </p:txBody>
      </p:sp>
      <p:sp>
        <p:nvSpPr>
          <p:cNvPr id="9" name="Shape 7"/>
          <p:cNvSpPr/>
          <p:nvPr/>
        </p:nvSpPr>
        <p:spPr>
          <a:xfrm>
            <a:off x="4572000" y="1116434"/>
            <a:ext cx="4075881" cy="872877"/>
          </a:xfrm>
          <a:prstGeom prst="rect">
            <a:avLst/>
          </a:prstGeom>
          <a:solidFill>
            <a:srgbClr val="EAE8F3"/>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10" name="Shape 8"/>
          <p:cNvSpPr/>
          <p:nvPr/>
        </p:nvSpPr>
        <p:spPr>
          <a:xfrm>
            <a:off x="4572000" y="1116434"/>
            <a:ext cx="14288" cy="872877"/>
          </a:xfrm>
          <a:prstGeom prst="roundRect">
            <a:avLst>
              <a:gd name="adj" fmla="val 111624"/>
            </a:avLst>
          </a:prstGeom>
          <a:solidFill>
            <a:srgbClr val="D0CED9"/>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11" name="Text 9"/>
          <p:cNvSpPr/>
          <p:nvPr/>
        </p:nvSpPr>
        <p:spPr>
          <a:xfrm>
            <a:off x="4678263" y="1222697"/>
            <a:ext cx="1329035" cy="166092"/>
          </a:xfrm>
          <a:prstGeom prst="rect">
            <a:avLst/>
          </a:prstGeom>
          <a:noFill/>
          <a:ln/>
        </p:spPr>
        <p:txBody>
          <a:bodyPr wrap="none" lIns="0" tIns="0" rIns="0" bIns="0" rtlCol="0" anchor="t"/>
          <a:lstStyle/>
          <a:p>
            <a:pPr marL="0" indent="0" algn="l">
              <a:lnSpc>
                <a:spcPct val="104000"/>
              </a:lnSpc>
              <a:buNone/>
            </a:pPr>
            <a:r>
              <a:rPr lang="en-US" sz="1050" dirty="0">
                <a:solidFill>
                  <a:srgbClr val="49495A"/>
                </a:solidFill>
                <a:latin typeface="Times New Roman" panose="02020603050405020304" pitchFamily="18" charset="0"/>
                <a:ea typeface="Libre Baskerville" pitchFamily="34" charset="-122"/>
                <a:cs typeface="Times New Roman" panose="02020603050405020304" pitchFamily="18" charset="0"/>
              </a:rPr>
              <a:t>Phase 1 · M3–12</a:t>
            </a:r>
            <a:endParaRPr lang="en-US" sz="1050" dirty="0">
              <a:latin typeface="Times New Roman" panose="02020603050405020304" pitchFamily="18" charset="0"/>
              <a:cs typeface="Times New Roman" panose="02020603050405020304" pitchFamily="18" charset="0"/>
            </a:endParaRPr>
          </a:p>
        </p:txBody>
      </p:sp>
      <p:sp>
        <p:nvSpPr>
          <p:cNvPr id="12" name="Text 10"/>
          <p:cNvSpPr/>
          <p:nvPr/>
        </p:nvSpPr>
        <p:spPr>
          <a:xfrm>
            <a:off x="4678263" y="1436563"/>
            <a:ext cx="3863355" cy="446484"/>
          </a:xfrm>
          <a:prstGeom prst="rect">
            <a:avLst/>
          </a:prstGeom>
          <a:noFill/>
          <a:ln/>
        </p:spPr>
        <p:txBody>
          <a:bodyPr wrap="square" lIns="0" tIns="0" rIns="0" bIns="0" rtlCol="0" anchor="t">
            <a:noAutofit/>
          </a:bodyPr>
          <a:lstStyle/>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Dual-entry window (2 weeks)</a:t>
            </a:r>
            <a:endParaRPr lang="en-US" sz="1000" dirty="0">
              <a:latin typeface="Times New Roman" panose="02020603050405020304" pitchFamily="18" charset="0"/>
              <a:cs typeface="Times New Roman" panose="02020603050405020304" pitchFamily="18" charset="0"/>
            </a:endParaRPr>
          </a:p>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Parallel month-end close runs</a:t>
            </a:r>
            <a:endParaRPr lang="en-US" sz="1000" dirty="0">
              <a:latin typeface="Times New Roman" panose="02020603050405020304" pitchFamily="18" charset="0"/>
              <a:cs typeface="Times New Roman" panose="02020603050405020304" pitchFamily="18" charset="0"/>
            </a:endParaRPr>
          </a:p>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Active data migrated to new ERP</a:t>
            </a:r>
            <a:endParaRPr lang="en-US" sz="1000" dirty="0">
              <a:latin typeface="Times New Roman" panose="02020603050405020304" pitchFamily="18" charset="0"/>
              <a:cs typeface="Times New Roman" panose="02020603050405020304" pitchFamily="18" charset="0"/>
            </a:endParaRPr>
          </a:p>
        </p:txBody>
      </p:sp>
      <p:sp>
        <p:nvSpPr>
          <p:cNvPr id="13" name="Shape 11"/>
          <p:cNvSpPr/>
          <p:nvPr/>
        </p:nvSpPr>
        <p:spPr>
          <a:xfrm>
            <a:off x="496119" y="1989311"/>
            <a:ext cx="4075881" cy="872877"/>
          </a:xfrm>
          <a:prstGeom prst="rect">
            <a:avLst/>
          </a:prstGeom>
          <a:solidFill>
            <a:srgbClr val="EAE8F3"/>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14" name="Shape 12"/>
          <p:cNvSpPr/>
          <p:nvPr/>
        </p:nvSpPr>
        <p:spPr>
          <a:xfrm>
            <a:off x="496119" y="1989311"/>
            <a:ext cx="4075881" cy="14288"/>
          </a:xfrm>
          <a:prstGeom prst="roundRect">
            <a:avLst>
              <a:gd name="adj" fmla="val 111624"/>
            </a:avLst>
          </a:prstGeom>
          <a:solidFill>
            <a:srgbClr val="D0CED9"/>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15" name="Text 13"/>
          <p:cNvSpPr/>
          <p:nvPr/>
        </p:nvSpPr>
        <p:spPr>
          <a:xfrm>
            <a:off x="602382" y="2095574"/>
            <a:ext cx="1329035" cy="166092"/>
          </a:xfrm>
          <a:prstGeom prst="rect">
            <a:avLst/>
          </a:prstGeom>
          <a:noFill/>
          <a:ln/>
        </p:spPr>
        <p:txBody>
          <a:bodyPr wrap="none" lIns="0" tIns="0" rIns="0" bIns="0" rtlCol="0" anchor="t"/>
          <a:lstStyle/>
          <a:p>
            <a:pPr marL="0" indent="0" algn="l">
              <a:lnSpc>
                <a:spcPct val="104000"/>
              </a:lnSpc>
              <a:buNone/>
            </a:pPr>
            <a:r>
              <a:rPr lang="en-US" sz="1100" dirty="0">
                <a:solidFill>
                  <a:srgbClr val="49495A"/>
                </a:solidFill>
                <a:latin typeface="Times New Roman" panose="02020603050405020304" pitchFamily="18" charset="0"/>
                <a:ea typeface="Libre Baskerville" pitchFamily="34" charset="-122"/>
                <a:cs typeface="Times New Roman" panose="02020603050405020304" pitchFamily="18" charset="0"/>
              </a:rPr>
              <a:t>Go-Live · M12</a:t>
            </a:r>
            <a:endParaRPr lang="en-US" sz="1100" dirty="0">
              <a:latin typeface="Times New Roman" panose="02020603050405020304" pitchFamily="18" charset="0"/>
              <a:cs typeface="Times New Roman" panose="02020603050405020304" pitchFamily="18" charset="0"/>
            </a:endParaRPr>
          </a:p>
        </p:txBody>
      </p:sp>
      <p:sp>
        <p:nvSpPr>
          <p:cNvPr id="16" name="Text 14"/>
          <p:cNvSpPr/>
          <p:nvPr/>
        </p:nvSpPr>
        <p:spPr>
          <a:xfrm>
            <a:off x="602382" y="2309440"/>
            <a:ext cx="3863355" cy="446484"/>
          </a:xfrm>
          <a:prstGeom prst="rect">
            <a:avLst/>
          </a:prstGeom>
          <a:noFill/>
          <a:ln/>
        </p:spPr>
        <p:txBody>
          <a:bodyPr wrap="square" lIns="0" tIns="0" rIns="0" bIns="0" rtlCol="0" anchor="t">
            <a:noAutofit/>
          </a:bodyPr>
          <a:lstStyle/>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New ERP = system of record</a:t>
            </a:r>
            <a:endParaRPr lang="en-US" sz="1000" dirty="0">
              <a:latin typeface="Times New Roman" panose="02020603050405020304" pitchFamily="18" charset="0"/>
              <a:cs typeface="Times New Roman" panose="02020603050405020304" pitchFamily="18" charset="0"/>
            </a:endParaRPr>
          </a:p>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Legacy read-only for 6 months</a:t>
            </a:r>
            <a:endParaRPr lang="en-US" sz="1000" dirty="0">
              <a:latin typeface="Times New Roman" panose="02020603050405020304" pitchFamily="18" charset="0"/>
              <a:cs typeface="Times New Roman" panose="02020603050405020304" pitchFamily="18" charset="0"/>
            </a:endParaRPr>
          </a:p>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KPI dashboard live from Day 1</a:t>
            </a:r>
            <a:endParaRPr lang="en-US" sz="1000" dirty="0">
              <a:latin typeface="Times New Roman" panose="02020603050405020304" pitchFamily="18" charset="0"/>
              <a:cs typeface="Times New Roman" panose="02020603050405020304" pitchFamily="18" charset="0"/>
            </a:endParaRPr>
          </a:p>
        </p:txBody>
      </p:sp>
      <p:sp>
        <p:nvSpPr>
          <p:cNvPr id="17" name="Shape 15"/>
          <p:cNvSpPr/>
          <p:nvPr/>
        </p:nvSpPr>
        <p:spPr>
          <a:xfrm>
            <a:off x="4572000" y="1989311"/>
            <a:ext cx="4075881" cy="872877"/>
          </a:xfrm>
          <a:prstGeom prst="rect">
            <a:avLst/>
          </a:prstGeom>
          <a:solidFill>
            <a:srgbClr val="EAE8F3"/>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18" name="Shape 16"/>
          <p:cNvSpPr/>
          <p:nvPr/>
        </p:nvSpPr>
        <p:spPr>
          <a:xfrm>
            <a:off x="4572000" y="1989311"/>
            <a:ext cx="14288" cy="872877"/>
          </a:xfrm>
          <a:prstGeom prst="roundRect">
            <a:avLst>
              <a:gd name="adj" fmla="val 111624"/>
            </a:avLst>
          </a:prstGeom>
          <a:solidFill>
            <a:srgbClr val="D0CED9"/>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19" name="Shape 17"/>
          <p:cNvSpPr/>
          <p:nvPr/>
        </p:nvSpPr>
        <p:spPr>
          <a:xfrm>
            <a:off x="4572000" y="1989311"/>
            <a:ext cx="4075881" cy="14288"/>
          </a:xfrm>
          <a:prstGeom prst="roundRect">
            <a:avLst>
              <a:gd name="adj" fmla="val 111624"/>
            </a:avLst>
          </a:prstGeom>
          <a:solidFill>
            <a:srgbClr val="D0CED9"/>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20" name="Text 18"/>
          <p:cNvSpPr/>
          <p:nvPr/>
        </p:nvSpPr>
        <p:spPr>
          <a:xfrm>
            <a:off x="4678263" y="2095574"/>
            <a:ext cx="1329035" cy="166092"/>
          </a:xfrm>
          <a:prstGeom prst="rect">
            <a:avLst/>
          </a:prstGeom>
          <a:noFill/>
          <a:ln/>
        </p:spPr>
        <p:txBody>
          <a:bodyPr wrap="none" lIns="0" tIns="0" rIns="0" bIns="0" rtlCol="0" anchor="t"/>
          <a:lstStyle/>
          <a:p>
            <a:pPr marL="0" indent="0" algn="l">
              <a:lnSpc>
                <a:spcPct val="104000"/>
              </a:lnSpc>
              <a:buNone/>
            </a:pPr>
            <a:r>
              <a:rPr lang="en-US" sz="1100" dirty="0">
                <a:solidFill>
                  <a:srgbClr val="49495A"/>
                </a:solidFill>
                <a:latin typeface="Times New Roman" panose="02020603050405020304" pitchFamily="18" charset="0"/>
                <a:ea typeface="Libre Baskerville" pitchFamily="34" charset="-122"/>
                <a:cs typeface="Times New Roman" panose="02020603050405020304" pitchFamily="18" charset="0"/>
              </a:rPr>
              <a:t>Phase 3 · M15+</a:t>
            </a:r>
            <a:endParaRPr lang="en-US" sz="1100" dirty="0">
              <a:latin typeface="Times New Roman" panose="02020603050405020304" pitchFamily="18" charset="0"/>
              <a:cs typeface="Times New Roman" panose="02020603050405020304" pitchFamily="18" charset="0"/>
            </a:endParaRPr>
          </a:p>
        </p:txBody>
      </p:sp>
      <p:sp>
        <p:nvSpPr>
          <p:cNvPr id="21" name="Text 19"/>
          <p:cNvSpPr/>
          <p:nvPr/>
        </p:nvSpPr>
        <p:spPr>
          <a:xfrm>
            <a:off x="4678263" y="2309440"/>
            <a:ext cx="3863355" cy="446484"/>
          </a:xfrm>
          <a:prstGeom prst="rect">
            <a:avLst/>
          </a:prstGeom>
          <a:noFill/>
          <a:ln/>
        </p:spPr>
        <p:txBody>
          <a:bodyPr wrap="square" lIns="0" tIns="0" rIns="0" bIns="0" rtlCol="0" anchor="t">
            <a:noAutofit/>
          </a:bodyPr>
          <a:lstStyle/>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Legacy fully archived</a:t>
            </a:r>
            <a:endParaRPr lang="en-US" sz="1000" dirty="0">
              <a:latin typeface="Times New Roman" panose="02020603050405020304" pitchFamily="18" charset="0"/>
              <a:cs typeface="Times New Roman" panose="02020603050405020304" pitchFamily="18" charset="0"/>
            </a:endParaRPr>
          </a:p>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Full analytics suite live</a:t>
            </a:r>
            <a:endParaRPr lang="en-US" sz="1000" dirty="0">
              <a:latin typeface="Times New Roman" panose="02020603050405020304" pitchFamily="18" charset="0"/>
              <a:cs typeface="Times New Roman" panose="02020603050405020304" pitchFamily="18" charset="0"/>
            </a:endParaRPr>
          </a:p>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Complete decommission of legacy</a:t>
            </a:r>
            <a:endParaRPr lang="en-US" sz="1000" dirty="0">
              <a:latin typeface="Times New Roman" panose="02020603050405020304" pitchFamily="18" charset="0"/>
              <a:cs typeface="Times New Roman" panose="02020603050405020304" pitchFamily="18" charset="0"/>
            </a:endParaRPr>
          </a:p>
        </p:txBody>
      </p:sp>
      <p:sp>
        <p:nvSpPr>
          <p:cNvPr id="22" name="Shape 20"/>
          <p:cNvSpPr/>
          <p:nvPr/>
        </p:nvSpPr>
        <p:spPr>
          <a:xfrm>
            <a:off x="496119" y="2951857"/>
            <a:ext cx="8151763" cy="1532930"/>
          </a:xfrm>
          <a:prstGeom prst="roundRect">
            <a:avLst>
              <a:gd name="adj" fmla="val 1040"/>
            </a:avLst>
          </a:prstGeom>
          <a:noFill/>
          <a:ln w="4763">
            <a:solidFill>
              <a:srgbClr val="000000">
                <a:alpha val="8000"/>
              </a:srgbClr>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sp>
        <p:nvSpPr>
          <p:cNvPr id="23" name="Shape 21"/>
          <p:cNvSpPr/>
          <p:nvPr/>
        </p:nvSpPr>
        <p:spPr>
          <a:xfrm>
            <a:off x="500881" y="2956620"/>
            <a:ext cx="8142238" cy="253901"/>
          </a:xfrm>
          <a:prstGeom prst="rect">
            <a:avLst/>
          </a:prstGeom>
          <a:solidFill>
            <a:srgbClr val="FFFFFF">
              <a:alpha val="4000"/>
            </a:srgbClr>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24" name="Text 22"/>
          <p:cNvSpPr/>
          <p:nvPr/>
        </p:nvSpPr>
        <p:spPr>
          <a:xfrm>
            <a:off x="607219" y="3009156"/>
            <a:ext cx="3499172" cy="148828"/>
          </a:xfrm>
          <a:prstGeom prst="rect">
            <a:avLst/>
          </a:prstGeom>
          <a:noFill/>
          <a:ln/>
        </p:spPr>
        <p:txBody>
          <a:bodyPr wrap="none" lIns="0" tIns="0" rIns="0" bIns="0" rtlCol="0" anchor="t"/>
          <a:lstStyle/>
          <a:p>
            <a:pPr marL="0" indent="0" algn="l">
              <a:lnSpc>
                <a:spcPct val="117000"/>
              </a:lnSpc>
              <a:buNone/>
            </a:pPr>
            <a:r>
              <a:rPr lang="en-US" sz="1000" b="1" dirty="0">
                <a:solidFill>
                  <a:srgbClr val="49495A"/>
                </a:solidFill>
                <a:latin typeface="Times New Roman" panose="02020603050405020304" pitchFamily="18" charset="0"/>
                <a:ea typeface="Open Sans" pitchFamily="34" charset="-122"/>
                <a:cs typeface="Times New Roman" panose="02020603050405020304" pitchFamily="18" charset="0"/>
              </a:rPr>
              <a:t>DATA CATEGORY</a:t>
            </a:r>
            <a:endParaRPr lang="en-US" sz="1000" dirty="0">
              <a:latin typeface="Times New Roman" panose="02020603050405020304" pitchFamily="18" charset="0"/>
              <a:cs typeface="Times New Roman" panose="02020603050405020304" pitchFamily="18" charset="0"/>
            </a:endParaRPr>
          </a:p>
        </p:txBody>
      </p:sp>
      <p:sp>
        <p:nvSpPr>
          <p:cNvPr id="25" name="Text 23"/>
          <p:cNvSpPr/>
          <p:nvPr/>
        </p:nvSpPr>
        <p:spPr>
          <a:xfrm>
            <a:off x="3866480" y="3009156"/>
            <a:ext cx="5127575" cy="148828"/>
          </a:xfrm>
          <a:prstGeom prst="rect">
            <a:avLst/>
          </a:prstGeom>
          <a:noFill/>
          <a:ln/>
        </p:spPr>
        <p:txBody>
          <a:bodyPr wrap="none" lIns="0" tIns="0" rIns="0" bIns="0" rtlCol="0" anchor="t"/>
          <a:lstStyle/>
          <a:p>
            <a:pPr marL="0" indent="0" algn="l">
              <a:lnSpc>
                <a:spcPct val="117000"/>
              </a:lnSpc>
              <a:buNone/>
            </a:pPr>
            <a:r>
              <a:rPr lang="en-US" sz="1000" b="1" dirty="0">
                <a:solidFill>
                  <a:srgbClr val="49495A"/>
                </a:solidFill>
                <a:latin typeface="Times New Roman" panose="02020603050405020304" pitchFamily="18" charset="0"/>
                <a:ea typeface="Open Sans" pitchFamily="34" charset="-122"/>
                <a:cs typeface="Times New Roman" panose="02020603050405020304" pitchFamily="18" charset="0"/>
              </a:rPr>
              <a:t>MIGRATION APPROACH</a:t>
            </a:r>
            <a:endParaRPr lang="en-US" sz="1000" dirty="0">
              <a:latin typeface="Times New Roman" panose="02020603050405020304" pitchFamily="18" charset="0"/>
              <a:cs typeface="Times New Roman" panose="02020603050405020304" pitchFamily="18" charset="0"/>
            </a:endParaRPr>
          </a:p>
        </p:txBody>
      </p:sp>
      <p:sp>
        <p:nvSpPr>
          <p:cNvPr id="26" name="Shape 24"/>
          <p:cNvSpPr/>
          <p:nvPr/>
        </p:nvSpPr>
        <p:spPr>
          <a:xfrm>
            <a:off x="500881" y="3210520"/>
            <a:ext cx="8142238" cy="253901"/>
          </a:xfrm>
          <a:prstGeom prst="rect">
            <a:avLst/>
          </a:prstGeom>
          <a:solidFill>
            <a:srgbClr val="000000">
              <a:alpha val="4000"/>
            </a:srgbClr>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27" name="Text 25"/>
          <p:cNvSpPr/>
          <p:nvPr/>
        </p:nvSpPr>
        <p:spPr>
          <a:xfrm>
            <a:off x="607219" y="3263057"/>
            <a:ext cx="3499172" cy="148828"/>
          </a:xfrm>
          <a:prstGeom prst="rect">
            <a:avLst/>
          </a:prstGeom>
          <a:noFill/>
          <a:ln/>
        </p:spPr>
        <p:txBody>
          <a:bodyPr wrap="none" lIns="0" tIns="0" rIns="0" bIns="0" rtlCol="0" anchor="t"/>
          <a:lstStyle/>
          <a:p>
            <a:pPr marL="0" indent="0" algn="l">
              <a:lnSpc>
                <a:spcPct val="117000"/>
              </a:lnSpc>
              <a:buNone/>
            </a:pPr>
            <a:r>
              <a:rPr lang="en-US" sz="1000" b="1" dirty="0">
                <a:solidFill>
                  <a:srgbClr val="49495A"/>
                </a:solidFill>
                <a:latin typeface="Times New Roman" panose="02020603050405020304" pitchFamily="18" charset="0"/>
                <a:ea typeface="Open Sans" pitchFamily="34" charset="-122"/>
                <a:cs typeface="Times New Roman" panose="02020603050405020304" pitchFamily="18" charset="0"/>
              </a:rPr>
              <a:t>Open Sales Orders &amp; Active BOMs</a:t>
            </a:r>
            <a:endParaRPr lang="en-US" sz="1000" dirty="0">
              <a:latin typeface="Times New Roman" panose="02020603050405020304" pitchFamily="18" charset="0"/>
              <a:cs typeface="Times New Roman" panose="02020603050405020304" pitchFamily="18" charset="0"/>
            </a:endParaRPr>
          </a:p>
        </p:txBody>
      </p:sp>
      <p:sp>
        <p:nvSpPr>
          <p:cNvPr id="28" name="Text 26"/>
          <p:cNvSpPr/>
          <p:nvPr/>
        </p:nvSpPr>
        <p:spPr>
          <a:xfrm>
            <a:off x="3866480" y="3263057"/>
            <a:ext cx="5127575" cy="148828"/>
          </a:xfrm>
          <a:prstGeom prst="rect">
            <a:avLst/>
          </a:prstGeom>
          <a:noFill/>
          <a:ln/>
        </p:spPr>
        <p:txBody>
          <a:bodyPr wrap="none" lIns="0" tIns="0" rIns="0" bIns="0" rtlCol="0" anchor="t"/>
          <a:lstStyle/>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Full migration; manually validated by Engineering &amp; Sales before cutover</a:t>
            </a:r>
            <a:endParaRPr lang="en-US" sz="1000" dirty="0">
              <a:latin typeface="Times New Roman" panose="02020603050405020304" pitchFamily="18" charset="0"/>
              <a:cs typeface="Times New Roman" panose="02020603050405020304" pitchFamily="18" charset="0"/>
            </a:endParaRPr>
          </a:p>
        </p:txBody>
      </p:sp>
      <p:sp>
        <p:nvSpPr>
          <p:cNvPr id="29" name="Shape 27"/>
          <p:cNvSpPr/>
          <p:nvPr/>
        </p:nvSpPr>
        <p:spPr>
          <a:xfrm>
            <a:off x="500881" y="3464421"/>
            <a:ext cx="8142238" cy="253901"/>
          </a:xfrm>
          <a:prstGeom prst="rect">
            <a:avLst/>
          </a:prstGeom>
          <a:solidFill>
            <a:srgbClr val="FFFFFF">
              <a:alpha val="4000"/>
            </a:srgbClr>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30" name="Text 28"/>
          <p:cNvSpPr/>
          <p:nvPr/>
        </p:nvSpPr>
        <p:spPr>
          <a:xfrm>
            <a:off x="607219" y="3516957"/>
            <a:ext cx="3499172" cy="148828"/>
          </a:xfrm>
          <a:prstGeom prst="rect">
            <a:avLst/>
          </a:prstGeom>
          <a:noFill/>
          <a:ln/>
        </p:spPr>
        <p:txBody>
          <a:bodyPr wrap="none" lIns="0" tIns="0" rIns="0" bIns="0" rtlCol="0" anchor="t"/>
          <a:lstStyle/>
          <a:p>
            <a:pPr marL="0" indent="0" algn="l">
              <a:lnSpc>
                <a:spcPct val="117000"/>
              </a:lnSpc>
              <a:buNone/>
            </a:pPr>
            <a:r>
              <a:rPr lang="en-US" sz="1000" b="1" dirty="0">
                <a:solidFill>
                  <a:srgbClr val="49495A"/>
                </a:solidFill>
                <a:latin typeface="Times New Roman" panose="02020603050405020304" pitchFamily="18" charset="0"/>
                <a:ea typeface="Open Sans" pitchFamily="34" charset="-122"/>
                <a:cs typeface="Times New Roman" panose="02020603050405020304" pitchFamily="18" charset="0"/>
              </a:rPr>
              <a:t>Open Purchase Orders &amp; Commitments</a:t>
            </a:r>
            <a:endParaRPr lang="en-US" sz="1000" dirty="0">
              <a:latin typeface="Times New Roman" panose="02020603050405020304" pitchFamily="18" charset="0"/>
              <a:cs typeface="Times New Roman" panose="02020603050405020304" pitchFamily="18" charset="0"/>
            </a:endParaRPr>
          </a:p>
        </p:txBody>
      </p:sp>
      <p:sp>
        <p:nvSpPr>
          <p:cNvPr id="31" name="Text 29"/>
          <p:cNvSpPr/>
          <p:nvPr/>
        </p:nvSpPr>
        <p:spPr>
          <a:xfrm>
            <a:off x="3866480" y="3516957"/>
            <a:ext cx="5127575" cy="148828"/>
          </a:xfrm>
          <a:prstGeom prst="rect">
            <a:avLst/>
          </a:prstGeom>
          <a:noFill/>
          <a:ln/>
        </p:spPr>
        <p:txBody>
          <a:bodyPr wrap="none" lIns="0" tIns="0" rIns="0" bIns="0" rtlCol="0" anchor="t"/>
          <a:lstStyle/>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Full migration; Procurement team validates all open POs before cutover</a:t>
            </a:r>
            <a:endParaRPr lang="en-US" sz="1000" dirty="0">
              <a:latin typeface="Times New Roman" panose="02020603050405020304" pitchFamily="18" charset="0"/>
              <a:cs typeface="Times New Roman" panose="02020603050405020304" pitchFamily="18" charset="0"/>
            </a:endParaRPr>
          </a:p>
        </p:txBody>
      </p:sp>
      <p:sp>
        <p:nvSpPr>
          <p:cNvPr id="32" name="Shape 30"/>
          <p:cNvSpPr/>
          <p:nvPr/>
        </p:nvSpPr>
        <p:spPr>
          <a:xfrm>
            <a:off x="500881" y="3718322"/>
            <a:ext cx="8142238" cy="253901"/>
          </a:xfrm>
          <a:prstGeom prst="rect">
            <a:avLst/>
          </a:prstGeom>
          <a:solidFill>
            <a:srgbClr val="000000">
              <a:alpha val="4000"/>
            </a:srgbClr>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33" name="Text 31"/>
          <p:cNvSpPr/>
          <p:nvPr/>
        </p:nvSpPr>
        <p:spPr>
          <a:xfrm>
            <a:off x="607219" y="3770858"/>
            <a:ext cx="3499172" cy="148828"/>
          </a:xfrm>
          <a:prstGeom prst="rect">
            <a:avLst/>
          </a:prstGeom>
          <a:noFill/>
          <a:ln/>
        </p:spPr>
        <p:txBody>
          <a:bodyPr wrap="none" lIns="0" tIns="0" rIns="0" bIns="0" rtlCol="0" anchor="t"/>
          <a:lstStyle/>
          <a:p>
            <a:pPr marL="0" indent="0" algn="l">
              <a:lnSpc>
                <a:spcPct val="117000"/>
              </a:lnSpc>
              <a:buNone/>
            </a:pPr>
            <a:r>
              <a:rPr lang="en-US" sz="1000" b="1" dirty="0">
                <a:solidFill>
                  <a:srgbClr val="49495A"/>
                </a:solidFill>
                <a:latin typeface="Times New Roman" panose="02020603050405020304" pitchFamily="18" charset="0"/>
                <a:ea typeface="Open Sans" pitchFamily="34" charset="-122"/>
                <a:cs typeface="Times New Roman" panose="02020603050405020304" pitchFamily="18" charset="0"/>
              </a:rPr>
              <a:t>GL Balances at Period-End Cutover</a:t>
            </a:r>
            <a:endParaRPr lang="en-US" sz="1000" dirty="0">
              <a:latin typeface="Times New Roman" panose="02020603050405020304" pitchFamily="18" charset="0"/>
              <a:cs typeface="Times New Roman" panose="02020603050405020304" pitchFamily="18" charset="0"/>
            </a:endParaRPr>
          </a:p>
        </p:txBody>
      </p:sp>
      <p:sp>
        <p:nvSpPr>
          <p:cNvPr id="34" name="Text 32"/>
          <p:cNvSpPr/>
          <p:nvPr/>
        </p:nvSpPr>
        <p:spPr>
          <a:xfrm>
            <a:off x="3866480" y="3770858"/>
            <a:ext cx="5127575" cy="148828"/>
          </a:xfrm>
          <a:prstGeom prst="rect">
            <a:avLst/>
          </a:prstGeom>
          <a:noFill/>
          <a:ln/>
        </p:spPr>
        <p:txBody>
          <a:bodyPr wrap="none" lIns="0" tIns="0" rIns="0" bIns="0" rtlCol="0" anchor="t"/>
          <a:lstStyle/>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Period-end balances migrated; full GL history stays in legacy (read-only)</a:t>
            </a:r>
            <a:endParaRPr lang="en-US" sz="1000" dirty="0">
              <a:latin typeface="Times New Roman" panose="02020603050405020304" pitchFamily="18" charset="0"/>
              <a:cs typeface="Times New Roman" panose="02020603050405020304" pitchFamily="18" charset="0"/>
            </a:endParaRPr>
          </a:p>
        </p:txBody>
      </p:sp>
      <p:sp>
        <p:nvSpPr>
          <p:cNvPr id="35" name="Shape 33"/>
          <p:cNvSpPr/>
          <p:nvPr/>
        </p:nvSpPr>
        <p:spPr>
          <a:xfrm>
            <a:off x="500881" y="3972223"/>
            <a:ext cx="8142238" cy="253901"/>
          </a:xfrm>
          <a:prstGeom prst="rect">
            <a:avLst/>
          </a:prstGeom>
          <a:solidFill>
            <a:srgbClr val="FFFFFF">
              <a:alpha val="4000"/>
            </a:srgbClr>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36" name="Text 34"/>
          <p:cNvSpPr/>
          <p:nvPr/>
        </p:nvSpPr>
        <p:spPr>
          <a:xfrm>
            <a:off x="607219" y="4024759"/>
            <a:ext cx="3499172" cy="148828"/>
          </a:xfrm>
          <a:prstGeom prst="rect">
            <a:avLst/>
          </a:prstGeom>
          <a:noFill/>
          <a:ln/>
        </p:spPr>
        <p:txBody>
          <a:bodyPr wrap="none" lIns="0" tIns="0" rIns="0" bIns="0" rtlCol="0" anchor="t"/>
          <a:lstStyle/>
          <a:p>
            <a:pPr marL="0" indent="0" algn="l">
              <a:lnSpc>
                <a:spcPct val="117000"/>
              </a:lnSpc>
              <a:buNone/>
            </a:pPr>
            <a:r>
              <a:rPr lang="en-US" sz="1000" b="1" dirty="0">
                <a:solidFill>
                  <a:srgbClr val="49495A"/>
                </a:solidFill>
                <a:latin typeface="Times New Roman" panose="02020603050405020304" pitchFamily="18" charset="0"/>
                <a:ea typeface="Open Sans" pitchFamily="34" charset="-122"/>
                <a:cs typeface="Times New Roman" panose="02020603050405020304" pitchFamily="18" charset="0"/>
              </a:rPr>
              <a:t>2–3 Years Transactional History</a:t>
            </a:r>
            <a:endParaRPr lang="en-US" sz="1000" dirty="0">
              <a:latin typeface="Times New Roman" panose="02020603050405020304" pitchFamily="18" charset="0"/>
              <a:cs typeface="Times New Roman" panose="02020603050405020304" pitchFamily="18" charset="0"/>
            </a:endParaRPr>
          </a:p>
        </p:txBody>
      </p:sp>
      <p:sp>
        <p:nvSpPr>
          <p:cNvPr id="37" name="Text 35"/>
          <p:cNvSpPr/>
          <p:nvPr/>
        </p:nvSpPr>
        <p:spPr>
          <a:xfrm>
            <a:off x="3866480" y="4024759"/>
            <a:ext cx="5127575" cy="148828"/>
          </a:xfrm>
          <a:prstGeom prst="rect">
            <a:avLst/>
          </a:prstGeom>
          <a:noFill/>
          <a:ln/>
        </p:spPr>
        <p:txBody>
          <a:bodyPr wrap="none" lIns="0" tIns="0" rIns="0" bIns="0" rtlCol="0" anchor="t"/>
          <a:lstStyle/>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Migrated to new ERP or parallel data warehouse for operational queries</a:t>
            </a:r>
            <a:endParaRPr lang="en-US" sz="1000" dirty="0">
              <a:latin typeface="Times New Roman" panose="02020603050405020304" pitchFamily="18" charset="0"/>
              <a:cs typeface="Times New Roman" panose="02020603050405020304" pitchFamily="18" charset="0"/>
            </a:endParaRPr>
          </a:p>
        </p:txBody>
      </p:sp>
      <p:sp>
        <p:nvSpPr>
          <p:cNvPr id="38" name="Shape 36"/>
          <p:cNvSpPr/>
          <p:nvPr/>
        </p:nvSpPr>
        <p:spPr>
          <a:xfrm>
            <a:off x="500881" y="4226123"/>
            <a:ext cx="8142238" cy="253901"/>
          </a:xfrm>
          <a:prstGeom prst="rect">
            <a:avLst/>
          </a:prstGeom>
          <a:solidFill>
            <a:srgbClr val="000000">
              <a:alpha val="4000"/>
            </a:srgbClr>
          </a:solidFill>
          <a:ln/>
        </p:spPr>
        <p:txBody>
          <a:bodyPr/>
          <a:lstStyle/>
          <a:p>
            <a:endParaRPr lang="en-GH" sz="2400">
              <a:latin typeface="Times New Roman" panose="02020603050405020304" pitchFamily="18" charset="0"/>
              <a:cs typeface="Times New Roman" panose="02020603050405020304" pitchFamily="18" charset="0"/>
            </a:endParaRPr>
          </a:p>
        </p:txBody>
      </p:sp>
      <p:sp>
        <p:nvSpPr>
          <p:cNvPr id="39" name="Text 37"/>
          <p:cNvSpPr/>
          <p:nvPr/>
        </p:nvSpPr>
        <p:spPr>
          <a:xfrm>
            <a:off x="607219" y="4278660"/>
            <a:ext cx="3499172" cy="148828"/>
          </a:xfrm>
          <a:prstGeom prst="rect">
            <a:avLst/>
          </a:prstGeom>
          <a:noFill/>
          <a:ln/>
        </p:spPr>
        <p:txBody>
          <a:bodyPr wrap="none" lIns="0" tIns="0" rIns="0" bIns="0" rtlCol="0" anchor="t"/>
          <a:lstStyle/>
          <a:p>
            <a:pPr marL="0" indent="0" algn="l">
              <a:lnSpc>
                <a:spcPct val="117000"/>
              </a:lnSpc>
              <a:buNone/>
            </a:pPr>
            <a:r>
              <a:rPr lang="en-US" sz="1000" b="1" dirty="0">
                <a:solidFill>
                  <a:srgbClr val="49495A"/>
                </a:solidFill>
                <a:latin typeface="Times New Roman" panose="02020603050405020304" pitchFamily="18" charset="0"/>
                <a:ea typeface="Open Sans" pitchFamily="34" charset="-122"/>
                <a:cs typeface="Times New Roman" panose="02020603050405020304" pitchFamily="18" charset="0"/>
              </a:rPr>
              <a:t>7+ Year Statutory Archive</a:t>
            </a:r>
            <a:endParaRPr lang="en-US" sz="1000" dirty="0">
              <a:latin typeface="Times New Roman" panose="02020603050405020304" pitchFamily="18" charset="0"/>
              <a:cs typeface="Times New Roman" panose="02020603050405020304" pitchFamily="18" charset="0"/>
            </a:endParaRPr>
          </a:p>
        </p:txBody>
      </p:sp>
      <p:sp>
        <p:nvSpPr>
          <p:cNvPr id="40" name="Text 38"/>
          <p:cNvSpPr/>
          <p:nvPr/>
        </p:nvSpPr>
        <p:spPr>
          <a:xfrm>
            <a:off x="3866480" y="4278660"/>
            <a:ext cx="5127575" cy="148828"/>
          </a:xfrm>
          <a:prstGeom prst="rect">
            <a:avLst/>
          </a:prstGeom>
          <a:noFill/>
          <a:ln/>
        </p:spPr>
        <p:txBody>
          <a:bodyPr wrap="none" lIns="0" tIns="0" rIns="0" bIns="0" rtlCol="0" anchor="t"/>
          <a:lstStyle/>
          <a:p>
            <a:pPr marL="0" indent="0" algn="l">
              <a:lnSpc>
                <a:spcPct val="117000"/>
              </a:lnSpc>
              <a:buNone/>
            </a:pPr>
            <a:r>
              <a:rPr lang="en-US" sz="1000" dirty="0">
                <a:solidFill>
                  <a:srgbClr val="49495A"/>
                </a:solidFill>
                <a:latin typeface="Times New Roman" panose="02020603050405020304" pitchFamily="18" charset="0"/>
                <a:ea typeface="Open Sans" pitchFamily="34" charset="-122"/>
                <a:cs typeface="Times New Roman" panose="02020603050405020304" pitchFamily="18" charset="0"/>
              </a:rPr>
              <a:t>Retained in read-only legacy or immutable archive — no migration required</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4" name="Text 2"/>
          <p:cNvSpPr/>
          <p:nvPr/>
        </p:nvSpPr>
        <p:spPr>
          <a:xfrm>
            <a:off x="496119" y="799207"/>
            <a:ext cx="6585496" cy="442987"/>
          </a:xfrm>
          <a:prstGeom prst="rect">
            <a:avLst/>
          </a:prstGeom>
          <a:noFill/>
          <a:ln/>
        </p:spPr>
        <p:txBody>
          <a:bodyPr wrap="none" lIns="0" tIns="0" rIns="0" bIns="0" rtlCol="0" anchor="t"/>
          <a:lstStyle/>
          <a:p>
            <a:pPr marL="0" indent="0" algn="l">
              <a:lnSpc>
                <a:spcPct val="104000"/>
              </a:lnSpc>
              <a:buNone/>
            </a:pPr>
            <a:r>
              <a:rPr lang="en-US" sz="2800" dirty="0">
                <a:solidFill>
                  <a:srgbClr val="403CCF"/>
                </a:solidFill>
                <a:latin typeface="Times New Roman" panose="02020603050405020304" pitchFamily="18" charset="0"/>
                <a:ea typeface="Libre Baskerville" pitchFamily="34" charset="-122"/>
                <a:cs typeface="Times New Roman" panose="02020603050405020304" pitchFamily="18" charset="0"/>
              </a:rPr>
              <a:t>Month-End Close Protection Plan</a:t>
            </a:r>
            <a:endParaRPr lang="en-US" sz="2800" dirty="0">
              <a:latin typeface="Times New Roman" panose="02020603050405020304" pitchFamily="18" charset="0"/>
              <a:cs typeface="Times New Roman" panose="02020603050405020304" pitchFamily="18" charset="0"/>
            </a:endParaRPr>
          </a:p>
        </p:txBody>
      </p:sp>
      <p:sp>
        <p:nvSpPr>
          <p:cNvPr id="5" name="Shape 3"/>
          <p:cNvSpPr/>
          <p:nvPr/>
        </p:nvSpPr>
        <p:spPr>
          <a:xfrm>
            <a:off x="496119" y="1454795"/>
            <a:ext cx="4004965" cy="1535385"/>
          </a:xfrm>
          <a:prstGeom prst="roundRect">
            <a:avLst>
              <a:gd name="adj" fmla="val 5956"/>
            </a:avLst>
          </a:prstGeom>
          <a:solidFill>
            <a:srgbClr val="FBFAFF"/>
          </a:solidFill>
          <a:ln w="19050">
            <a:solidFill>
              <a:srgbClr val="D0CED9"/>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pic>
        <p:nvPicPr>
          <p:cNvPr id="6" name="Image 0" descr="preencoded.png"/>
          <p:cNvPicPr>
            <a:picLocks noChangeAspect="1"/>
          </p:cNvPicPr>
          <p:nvPr/>
        </p:nvPicPr>
        <p:blipFill>
          <a:blip r:embed="rId3"/>
          <a:stretch>
            <a:fillRect/>
          </a:stretch>
        </p:blipFill>
        <p:spPr>
          <a:xfrm>
            <a:off x="477069" y="1454795"/>
            <a:ext cx="76200" cy="1535385"/>
          </a:xfrm>
          <a:prstGeom prst="rect">
            <a:avLst/>
          </a:prstGeom>
        </p:spPr>
      </p:pic>
      <p:sp>
        <p:nvSpPr>
          <p:cNvPr id="7" name="Text 4"/>
          <p:cNvSpPr/>
          <p:nvPr/>
        </p:nvSpPr>
        <p:spPr>
          <a:xfrm>
            <a:off x="714077" y="1615604"/>
            <a:ext cx="1772022" cy="221456"/>
          </a:xfrm>
          <a:prstGeom prst="rect">
            <a:avLst/>
          </a:prstGeom>
          <a:noFill/>
          <a:ln/>
        </p:spPr>
        <p:txBody>
          <a:bodyPr wrap="none" lIns="0" tIns="0" rIns="0" bIns="0" rtlCol="0" anchor="t"/>
          <a:lstStyle/>
          <a:p>
            <a:pPr marL="0" indent="0" algn="l">
              <a:lnSpc>
                <a:spcPct val="104000"/>
              </a:lnSpc>
              <a:buNone/>
            </a:pPr>
            <a:r>
              <a:rPr lang="en-US" sz="1400" b="1" dirty="0">
                <a:solidFill>
                  <a:srgbClr val="49495A"/>
                </a:solidFill>
                <a:latin typeface="Times New Roman" panose="02020603050405020304" pitchFamily="18" charset="0"/>
                <a:ea typeface="Libre Baskerville" pitchFamily="34" charset="-122"/>
                <a:cs typeface="Times New Roman" panose="02020603050405020304" pitchFamily="18" charset="0"/>
              </a:rPr>
              <a:t> Cutover Timing</a:t>
            </a:r>
            <a:endParaRPr lang="en-US" sz="1400" b="1" dirty="0">
              <a:latin typeface="Times New Roman" panose="02020603050405020304" pitchFamily="18" charset="0"/>
              <a:cs typeface="Times New Roman" panose="02020603050405020304" pitchFamily="18" charset="0"/>
            </a:endParaRPr>
          </a:p>
        </p:txBody>
      </p:sp>
      <p:sp>
        <p:nvSpPr>
          <p:cNvPr id="8" name="Text 5"/>
          <p:cNvSpPr/>
          <p:nvPr/>
        </p:nvSpPr>
        <p:spPr>
          <a:xfrm>
            <a:off x="714077" y="1922115"/>
            <a:ext cx="3626197" cy="907256"/>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49495A"/>
                </a:solidFill>
                <a:latin typeface="Times New Roman" panose="02020603050405020304" pitchFamily="18" charset="0"/>
                <a:ea typeface="Open Sans" pitchFamily="34" charset="-122"/>
                <a:cs typeface="Times New Roman" panose="02020603050405020304" pitchFamily="18" charset="0"/>
              </a:rPr>
              <a:t>Go-live targets the first business day of a month — never mid-month. This ensures Finance has a clean period-end baseline with no transactions split across two systems.</a:t>
            </a:r>
            <a:endParaRPr lang="en-US" sz="1200" dirty="0">
              <a:latin typeface="Times New Roman" panose="02020603050405020304" pitchFamily="18" charset="0"/>
              <a:cs typeface="Times New Roman" panose="02020603050405020304" pitchFamily="18" charset="0"/>
            </a:endParaRPr>
          </a:p>
        </p:txBody>
      </p:sp>
      <p:sp>
        <p:nvSpPr>
          <p:cNvPr id="9" name="Shape 6"/>
          <p:cNvSpPr/>
          <p:nvPr/>
        </p:nvSpPr>
        <p:spPr>
          <a:xfrm>
            <a:off x="4642842" y="1454795"/>
            <a:ext cx="4005039" cy="1535385"/>
          </a:xfrm>
          <a:prstGeom prst="roundRect">
            <a:avLst>
              <a:gd name="adj" fmla="val 5956"/>
            </a:avLst>
          </a:prstGeom>
          <a:solidFill>
            <a:srgbClr val="FBFAFF"/>
          </a:solidFill>
          <a:ln w="19050">
            <a:solidFill>
              <a:srgbClr val="D0CED9"/>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pic>
        <p:nvPicPr>
          <p:cNvPr id="10" name="Image 1" descr="preencoded.png"/>
          <p:cNvPicPr>
            <a:picLocks noChangeAspect="1"/>
          </p:cNvPicPr>
          <p:nvPr/>
        </p:nvPicPr>
        <p:blipFill>
          <a:blip r:embed="rId3"/>
          <a:stretch>
            <a:fillRect/>
          </a:stretch>
        </p:blipFill>
        <p:spPr>
          <a:xfrm>
            <a:off x="4623792" y="1454795"/>
            <a:ext cx="76200" cy="1535385"/>
          </a:xfrm>
          <a:prstGeom prst="rect">
            <a:avLst/>
          </a:prstGeom>
        </p:spPr>
      </p:pic>
      <p:sp>
        <p:nvSpPr>
          <p:cNvPr id="11" name="Text 7"/>
          <p:cNvSpPr/>
          <p:nvPr/>
        </p:nvSpPr>
        <p:spPr>
          <a:xfrm>
            <a:off x="4860801" y="1615604"/>
            <a:ext cx="1772022" cy="221456"/>
          </a:xfrm>
          <a:prstGeom prst="rect">
            <a:avLst/>
          </a:prstGeom>
          <a:noFill/>
          <a:ln/>
        </p:spPr>
        <p:txBody>
          <a:bodyPr wrap="none" lIns="0" tIns="0" rIns="0" bIns="0" rtlCol="0" anchor="t"/>
          <a:lstStyle/>
          <a:p>
            <a:pPr marL="0" indent="0" algn="l">
              <a:lnSpc>
                <a:spcPct val="104000"/>
              </a:lnSpc>
              <a:buNone/>
            </a:pPr>
            <a:r>
              <a:rPr lang="en-US" sz="1400" b="1" dirty="0">
                <a:solidFill>
                  <a:srgbClr val="49495A"/>
                </a:solidFill>
                <a:latin typeface="Times New Roman" panose="02020603050405020304" pitchFamily="18" charset="0"/>
                <a:ea typeface="Libre Baskerville" pitchFamily="34" charset="-122"/>
                <a:cs typeface="Times New Roman" panose="02020603050405020304" pitchFamily="18" charset="0"/>
              </a:rPr>
              <a:t>Parallel Close</a:t>
            </a:r>
            <a:endParaRPr lang="en-US" sz="1400" b="1" dirty="0">
              <a:latin typeface="Times New Roman" panose="02020603050405020304" pitchFamily="18" charset="0"/>
              <a:cs typeface="Times New Roman" panose="02020603050405020304" pitchFamily="18" charset="0"/>
            </a:endParaRPr>
          </a:p>
        </p:txBody>
      </p:sp>
      <p:sp>
        <p:nvSpPr>
          <p:cNvPr id="12" name="Text 8"/>
          <p:cNvSpPr/>
          <p:nvPr/>
        </p:nvSpPr>
        <p:spPr>
          <a:xfrm>
            <a:off x="4860801" y="1922115"/>
            <a:ext cx="3626272" cy="907256"/>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49495A"/>
                </a:solidFill>
                <a:latin typeface="Times New Roman" panose="02020603050405020304" pitchFamily="18" charset="0"/>
                <a:ea typeface="Open Sans" pitchFamily="34" charset="-122"/>
                <a:cs typeface="Times New Roman" panose="02020603050405020304" pitchFamily="18" charset="0"/>
              </a:rPr>
              <a:t>Full month-end close runs in both systems simultaneously for the first post-go-live period. Finance must reconcile to within $1,000 variance before signing off on the new system.</a:t>
            </a:r>
            <a:endParaRPr lang="en-US" sz="1200" dirty="0">
              <a:latin typeface="Times New Roman" panose="02020603050405020304" pitchFamily="18" charset="0"/>
              <a:cs typeface="Times New Roman" panose="02020603050405020304" pitchFamily="18" charset="0"/>
            </a:endParaRPr>
          </a:p>
        </p:txBody>
      </p:sp>
      <p:sp>
        <p:nvSpPr>
          <p:cNvPr id="13" name="Shape 9"/>
          <p:cNvSpPr/>
          <p:nvPr/>
        </p:nvSpPr>
        <p:spPr>
          <a:xfrm>
            <a:off x="496119" y="3131939"/>
            <a:ext cx="4004965" cy="1535385"/>
          </a:xfrm>
          <a:prstGeom prst="roundRect">
            <a:avLst>
              <a:gd name="adj" fmla="val 5956"/>
            </a:avLst>
          </a:prstGeom>
          <a:solidFill>
            <a:srgbClr val="FBFAFF"/>
          </a:solidFill>
          <a:ln w="19050">
            <a:solidFill>
              <a:srgbClr val="D0CED9"/>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pic>
        <p:nvPicPr>
          <p:cNvPr id="14" name="Image 2" descr="preencoded.png"/>
          <p:cNvPicPr>
            <a:picLocks noChangeAspect="1"/>
          </p:cNvPicPr>
          <p:nvPr/>
        </p:nvPicPr>
        <p:blipFill>
          <a:blip r:embed="rId3"/>
          <a:stretch>
            <a:fillRect/>
          </a:stretch>
        </p:blipFill>
        <p:spPr>
          <a:xfrm>
            <a:off x="477069" y="3131939"/>
            <a:ext cx="76200" cy="1535385"/>
          </a:xfrm>
          <a:prstGeom prst="rect">
            <a:avLst/>
          </a:prstGeom>
        </p:spPr>
      </p:pic>
      <p:sp>
        <p:nvSpPr>
          <p:cNvPr id="15" name="Text 10"/>
          <p:cNvSpPr/>
          <p:nvPr/>
        </p:nvSpPr>
        <p:spPr>
          <a:xfrm>
            <a:off x="714077" y="3292748"/>
            <a:ext cx="1992883" cy="221456"/>
          </a:xfrm>
          <a:prstGeom prst="rect">
            <a:avLst/>
          </a:prstGeom>
          <a:noFill/>
          <a:ln/>
        </p:spPr>
        <p:txBody>
          <a:bodyPr wrap="none" lIns="0" tIns="0" rIns="0" bIns="0" rtlCol="0" anchor="t"/>
          <a:lstStyle/>
          <a:p>
            <a:pPr marL="0" indent="0" algn="l">
              <a:lnSpc>
                <a:spcPct val="104000"/>
              </a:lnSpc>
              <a:buNone/>
            </a:pPr>
            <a:r>
              <a:rPr lang="en-US" sz="1400" b="1" dirty="0">
                <a:solidFill>
                  <a:srgbClr val="49495A"/>
                </a:solidFill>
                <a:latin typeface="Times New Roman" panose="02020603050405020304" pitchFamily="18" charset="0"/>
                <a:ea typeface="Libre Baskerville" pitchFamily="34" charset="-122"/>
                <a:cs typeface="Times New Roman" panose="02020603050405020304" pitchFamily="18" charset="0"/>
              </a:rPr>
              <a:t> Finance Hypercare</a:t>
            </a:r>
            <a:endParaRPr lang="en-US" sz="1400" b="1" dirty="0">
              <a:latin typeface="Times New Roman" panose="02020603050405020304" pitchFamily="18" charset="0"/>
              <a:cs typeface="Times New Roman" panose="02020603050405020304" pitchFamily="18" charset="0"/>
            </a:endParaRPr>
          </a:p>
        </p:txBody>
      </p:sp>
      <p:sp>
        <p:nvSpPr>
          <p:cNvPr id="16" name="Text 11"/>
          <p:cNvSpPr/>
          <p:nvPr/>
        </p:nvSpPr>
        <p:spPr>
          <a:xfrm>
            <a:off x="714077" y="3599259"/>
            <a:ext cx="3626197" cy="680442"/>
          </a:xfrm>
          <a:prstGeom prst="rect">
            <a:avLst/>
          </a:prstGeom>
          <a:noFill/>
          <a:ln/>
        </p:spPr>
        <p:txBody>
          <a:bodyPr wrap="square" lIns="0" tIns="0" rIns="0" bIns="0" rtlCol="0" anchor="t">
            <a:noAutofit/>
          </a:bodyPr>
          <a:lstStyle/>
          <a:p>
            <a:pPr marL="0" indent="0" algn="l">
              <a:lnSpc>
                <a:spcPct val="133000"/>
              </a:lnSpc>
              <a:buNone/>
            </a:pPr>
            <a:r>
              <a:rPr lang="en-US" sz="1200" dirty="0">
                <a:solidFill>
                  <a:srgbClr val="49495A"/>
                </a:solidFill>
                <a:latin typeface="Times New Roman" panose="02020603050405020304" pitchFamily="18" charset="0"/>
                <a:ea typeface="Open Sans" pitchFamily="34" charset="-122"/>
                <a:cs typeface="Times New Roman" panose="02020603050405020304" pitchFamily="18" charset="0"/>
              </a:rPr>
              <a:t>ERP vendor finance specialists are embedded on-site for the first two close cycles. Vendor SLA guarantees a 2-hour response time during close week.</a:t>
            </a:r>
            <a:endParaRPr lang="en-US" sz="1200" dirty="0">
              <a:latin typeface="Times New Roman" panose="02020603050405020304" pitchFamily="18" charset="0"/>
              <a:cs typeface="Times New Roman" panose="02020603050405020304" pitchFamily="18" charset="0"/>
            </a:endParaRPr>
          </a:p>
        </p:txBody>
      </p:sp>
      <p:sp>
        <p:nvSpPr>
          <p:cNvPr id="17" name="Shape 12"/>
          <p:cNvSpPr/>
          <p:nvPr/>
        </p:nvSpPr>
        <p:spPr>
          <a:xfrm>
            <a:off x="4642842" y="3131939"/>
            <a:ext cx="4005039" cy="1535385"/>
          </a:xfrm>
          <a:prstGeom prst="roundRect">
            <a:avLst>
              <a:gd name="adj" fmla="val 5956"/>
            </a:avLst>
          </a:prstGeom>
          <a:solidFill>
            <a:srgbClr val="FBFAFF"/>
          </a:solidFill>
          <a:ln w="19050">
            <a:solidFill>
              <a:srgbClr val="D0CED9"/>
            </a:solidFill>
            <a:prstDash val="solid"/>
          </a:ln>
        </p:spPr>
        <p:txBody>
          <a:bodyPr/>
          <a:lstStyle/>
          <a:p>
            <a:endParaRPr lang="en-GH" sz="2000">
              <a:latin typeface="Times New Roman" panose="02020603050405020304" pitchFamily="18" charset="0"/>
              <a:cs typeface="Times New Roman" panose="02020603050405020304" pitchFamily="18" charset="0"/>
            </a:endParaRPr>
          </a:p>
        </p:txBody>
      </p:sp>
      <p:pic>
        <p:nvPicPr>
          <p:cNvPr id="18" name="Image 3" descr="preencoded.png"/>
          <p:cNvPicPr>
            <a:picLocks noChangeAspect="1"/>
          </p:cNvPicPr>
          <p:nvPr/>
        </p:nvPicPr>
        <p:blipFill>
          <a:blip r:embed="rId3"/>
          <a:stretch>
            <a:fillRect/>
          </a:stretch>
        </p:blipFill>
        <p:spPr>
          <a:xfrm>
            <a:off x="4623792" y="3131939"/>
            <a:ext cx="76200" cy="1535385"/>
          </a:xfrm>
          <a:prstGeom prst="rect">
            <a:avLst/>
          </a:prstGeom>
        </p:spPr>
      </p:pic>
      <p:sp>
        <p:nvSpPr>
          <p:cNvPr id="19" name="Text 13"/>
          <p:cNvSpPr/>
          <p:nvPr/>
        </p:nvSpPr>
        <p:spPr>
          <a:xfrm>
            <a:off x="4860801" y="3292748"/>
            <a:ext cx="1772543" cy="221456"/>
          </a:xfrm>
          <a:prstGeom prst="rect">
            <a:avLst/>
          </a:prstGeom>
          <a:noFill/>
          <a:ln/>
        </p:spPr>
        <p:txBody>
          <a:bodyPr wrap="none" lIns="0" tIns="0" rIns="0" bIns="0" rtlCol="0" anchor="t"/>
          <a:lstStyle/>
          <a:p>
            <a:pPr marL="0" indent="0" algn="l">
              <a:lnSpc>
                <a:spcPct val="104000"/>
              </a:lnSpc>
              <a:buNone/>
            </a:pPr>
            <a:r>
              <a:rPr lang="en-US" sz="1400" b="1" dirty="0">
                <a:solidFill>
                  <a:srgbClr val="49495A"/>
                </a:solidFill>
                <a:latin typeface="Times New Roman" panose="02020603050405020304" pitchFamily="18" charset="0"/>
                <a:ea typeface="Libre Baskerville" pitchFamily="34" charset="-122"/>
                <a:cs typeface="Times New Roman" panose="02020603050405020304" pitchFamily="18" charset="0"/>
              </a:rPr>
              <a:t> Rollback Trigger</a:t>
            </a:r>
            <a:endParaRPr lang="en-US" sz="1400" b="1" dirty="0">
              <a:latin typeface="Times New Roman" panose="02020603050405020304" pitchFamily="18" charset="0"/>
              <a:cs typeface="Times New Roman" panose="02020603050405020304" pitchFamily="18" charset="0"/>
            </a:endParaRPr>
          </a:p>
        </p:txBody>
      </p:sp>
      <p:sp>
        <p:nvSpPr>
          <p:cNvPr id="20" name="Text 14"/>
          <p:cNvSpPr/>
          <p:nvPr/>
        </p:nvSpPr>
        <p:spPr>
          <a:xfrm>
            <a:off x="4860801" y="3599259"/>
            <a:ext cx="3626272" cy="907256"/>
          </a:xfrm>
          <a:prstGeom prst="rect">
            <a:avLst/>
          </a:prstGeom>
          <a:noFill/>
          <a:ln/>
        </p:spPr>
        <p:txBody>
          <a:bodyPr wrap="square" lIns="0" tIns="0" rIns="0" bIns="0" rtlCol="0" anchor="t">
            <a:normAutofit lnSpcReduction="10000"/>
          </a:bodyPr>
          <a:lstStyle/>
          <a:p>
            <a:pPr marL="0" indent="0" algn="l">
              <a:lnSpc>
                <a:spcPct val="133000"/>
              </a:lnSpc>
              <a:buNone/>
            </a:pPr>
            <a:r>
              <a:rPr lang="en-US" sz="1200" dirty="0">
                <a:solidFill>
                  <a:srgbClr val="49495A"/>
                </a:solidFill>
                <a:latin typeface="Times New Roman" panose="02020603050405020304" pitchFamily="18" charset="0"/>
                <a:ea typeface="Open Sans" pitchFamily="34" charset="-122"/>
                <a:cs typeface="Times New Roman" panose="02020603050405020304" pitchFamily="18" charset="0"/>
              </a:rPr>
              <a:t>Pre-defined criteria: if month-end close cannot be completed within 5 business days post-cutover, the program automatically reverts to the legacy system until the issue is resolved.</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96119" y="619497"/>
            <a:ext cx="2131144" cy="168027"/>
          </a:xfrm>
          <a:prstGeom prst="rect">
            <a:avLst/>
          </a:prstGeom>
          <a:noFill/>
          <a:ln/>
        </p:spPr>
        <p:txBody>
          <a:bodyPr wrap="none" lIns="0" tIns="0" rIns="0" bIns="0" rtlCol="0" anchor="t"/>
          <a:lstStyle/>
          <a:p>
            <a:pPr>
              <a:lnSpc>
                <a:spcPct val="130000"/>
              </a:lnSpc>
            </a:pPr>
            <a:r>
              <a:rPr lang="en-US" sz="900" dirty="0">
                <a:solidFill>
                  <a:srgbClr val="8AB4D4"/>
                </a:solidFill>
                <a:latin typeface="Times New Roman" panose="02020603050405020304" pitchFamily="18" charset="0"/>
                <a:ea typeface="Open Sans" pitchFamily="34" charset="-122"/>
                <a:cs typeface="Times New Roman" panose="02020603050405020304" pitchFamily="18" charset="0"/>
              </a:rPr>
              <a:t>ALPHA MANUFACTURING GROUP</a:t>
            </a:r>
          </a:p>
        </p:txBody>
      </p:sp>
      <p:sp>
        <p:nvSpPr>
          <p:cNvPr id="3" name="Text 1"/>
          <p:cNvSpPr/>
          <p:nvPr/>
        </p:nvSpPr>
        <p:spPr>
          <a:xfrm>
            <a:off x="496119" y="878979"/>
            <a:ext cx="5035674" cy="420886"/>
          </a:xfrm>
          <a:prstGeom prst="rect">
            <a:avLst/>
          </a:prstGeom>
          <a:noFill/>
          <a:ln/>
        </p:spPr>
        <p:txBody>
          <a:bodyPr wrap="none" lIns="0" tIns="0" rIns="0" bIns="0" rtlCol="0" anchor="t"/>
          <a:lstStyle/>
          <a:p>
            <a:pPr marL="0" indent="0" algn="l">
              <a:lnSpc>
                <a:spcPct val="104000"/>
              </a:lnSpc>
              <a:buNone/>
            </a:pPr>
            <a:r>
              <a:rPr lang="en-US" sz="2800" dirty="0">
                <a:solidFill>
                  <a:srgbClr val="FFFFFF"/>
                </a:solidFill>
                <a:latin typeface="Times New Roman" panose="02020603050405020304" pitchFamily="18" charset="0"/>
                <a:ea typeface="Libre Baskerville" pitchFamily="34" charset="-122"/>
                <a:cs typeface="Times New Roman" panose="02020603050405020304" pitchFamily="18" charset="0"/>
              </a:rPr>
              <a:t>Recommended Next Steps</a:t>
            </a:r>
            <a:endParaRPr lang="en-US" sz="28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496119" y="1701552"/>
            <a:ext cx="4011885" cy="19050"/>
          </a:xfrm>
          <a:prstGeom prst="rect">
            <a:avLst/>
          </a:prstGeom>
        </p:spPr>
      </p:pic>
      <p:sp>
        <p:nvSpPr>
          <p:cNvPr id="5" name="Text 2"/>
          <p:cNvSpPr/>
          <p:nvPr/>
        </p:nvSpPr>
        <p:spPr>
          <a:xfrm>
            <a:off x="496119" y="1806922"/>
            <a:ext cx="1683469" cy="210369"/>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Times New Roman" panose="02020603050405020304" pitchFamily="18" charset="0"/>
                <a:ea typeface="Libre Baskerville" pitchFamily="34" charset="-122"/>
                <a:cs typeface="Times New Roman" panose="02020603050405020304" pitchFamily="18" charset="0"/>
              </a:rPr>
              <a:t>Week 1</a:t>
            </a:r>
            <a:endParaRPr lang="en-US" sz="1400" dirty="0">
              <a:latin typeface="Times New Roman" panose="02020603050405020304" pitchFamily="18" charset="0"/>
              <a:cs typeface="Times New Roman" panose="02020603050405020304" pitchFamily="18" charset="0"/>
            </a:endParaRPr>
          </a:p>
        </p:txBody>
      </p:sp>
      <p:sp>
        <p:nvSpPr>
          <p:cNvPr id="6" name="Text 3"/>
          <p:cNvSpPr/>
          <p:nvPr/>
        </p:nvSpPr>
        <p:spPr>
          <a:xfrm>
            <a:off x="496119" y="2094012"/>
            <a:ext cx="4011885" cy="420142"/>
          </a:xfrm>
          <a:prstGeom prst="rect">
            <a:avLst/>
          </a:prstGeom>
          <a:noFill/>
          <a:ln/>
        </p:spPr>
        <p:txBody>
          <a:bodyPr wrap="square" lIns="0" tIns="0" rIns="0" bIns="0" rtlCol="0" anchor="t">
            <a:normAutofit/>
          </a:bodyPr>
          <a:lstStyle/>
          <a:p>
            <a:pPr marL="0" indent="0" algn="l">
              <a:lnSpc>
                <a:spcPct val="130000"/>
              </a:lnSpc>
              <a:buNone/>
            </a:pPr>
            <a:r>
              <a:rPr lang="en-US" sz="1100" dirty="0">
                <a:solidFill>
                  <a:srgbClr val="FFFFFF"/>
                </a:solidFill>
                <a:latin typeface="Times New Roman" panose="02020603050405020304" pitchFamily="18" charset="0"/>
                <a:ea typeface="Open Sans" pitchFamily="34" charset="-122"/>
                <a:cs typeface="Times New Roman" panose="02020603050405020304" pitchFamily="18" charset="0"/>
              </a:rPr>
              <a:t>Appoint Program Sponsor (C-suite), Project Manager &amp; Executive Steering Committee</a:t>
            </a:r>
            <a:endParaRPr lang="en-US" sz="1100" dirty="0">
              <a:latin typeface="Times New Roman" panose="02020603050405020304" pitchFamily="18" charset="0"/>
              <a:cs typeface="Times New Roman" panose="02020603050405020304" pitchFamily="18" charset="0"/>
            </a:endParaRPr>
          </a:p>
        </p:txBody>
      </p:sp>
      <p:pic>
        <p:nvPicPr>
          <p:cNvPr id="7" name="Image 1" descr="preencoded.png"/>
          <p:cNvPicPr>
            <a:picLocks noChangeAspect="1"/>
          </p:cNvPicPr>
          <p:nvPr/>
        </p:nvPicPr>
        <p:blipFill>
          <a:blip r:embed="rId3"/>
          <a:stretch>
            <a:fillRect/>
          </a:stretch>
        </p:blipFill>
        <p:spPr>
          <a:xfrm>
            <a:off x="4635922" y="1701552"/>
            <a:ext cx="4011960" cy="19050"/>
          </a:xfrm>
          <a:prstGeom prst="rect">
            <a:avLst/>
          </a:prstGeom>
        </p:spPr>
      </p:pic>
      <p:sp>
        <p:nvSpPr>
          <p:cNvPr id="8" name="Text 4"/>
          <p:cNvSpPr/>
          <p:nvPr/>
        </p:nvSpPr>
        <p:spPr>
          <a:xfrm>
            <a:off x="4635922" y="1806922"/>
            <a:ext cx="1683469" cy="210369"/>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Times New Roman" panose="02020603050405020304" pitchFamily="18" charset="0"/>
                <a:ea typeface="Libre Baskerville" pitchFamily="34" charset="-122"/>
                <a:cs typeface="Times New Roman" panose="02020603050405020304" pitchFamily="18" charset="0"/>
              </a:rPr>
              <a:t>Weeks 2–4</a:t>
            </a:r>
            <a:endParaRPr lang="en-US" sz="1400" dirty="0">
              <a:latin typeface="Times New Roman" panose="02020603050405020304" pitchFamily="18" charset="0"/>
              <a:cs typeface="Times New Roman" panose="02020603050405020304" pitchFamily="18" charset="0"/>
            </a:endParaRPr>
          </a:p>
        </p:txBody>
      </p:sp>
      <p:sp>
        <p:nvSpPr>
          <p:cNvPr id="9" name="Text 5"/>
          <p:cNvSpPr/>
          <p:nvPr/>
        </p:nvSpPr>
        <p:spPr>
          <a:xfrm>
            <a:off x="4635922" y="2094012"/>
            <a:ext cx="4011960" cy="420142"/>
          </a:xfrm>
          <a:prstGeom prst="rect">
            <a:avLst/>
          </a:prstGeom>
          <a:noFill/>
          <a:ln/>
        </p:spPr>
        <p:txBody>
          <a:bodyPr wrap="square" lIns="0" tIns="0" rIns="0" bIns="0" rtlCol="0" anchor="t">
            <a:normAutofit/>
          </a:bodyPr>
          <a:lstStyle/>
          <a:p>
            <a:pPr marL="0" indent="0" algn="l">
              <a:lnSpc>
                <a:spcPct val="130000"/>
              </a:lnSpc>
              <a:buNone/>
            </a:pPr>
            <a:r>
              <a:rPr lang="en-US" sz="1100" dirty="0">
                <a:solidFill>
                  <a:srgbClr val="FFFFFF"/>
                </a:solidFill>
                <a:latin typeface="Times New Roman" panose="02020603050405020304" pitchFamily="18" charset="0"/>
                <a:ea typeface="Open Sans" pitchFamily="34" charset="-122"/>
                <a:cs typeface="Times New Roman" panose="02020603050405020304" pitchFamily="18" charset="0"/>
              </a:rPr>
              <a:t>Issue RFP to 3–5 cloud ERP vendors with AMG's engineer-to-order requirements included</a:t>
            </a:r>
            <a:endParaRPr lang="en-US" sz="1100"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3"/>
          <a:stretch>
            <a:fillRect/>
          </a:stretch>
        </p:blipFill>
        <p:spPr>
          <a:xfrm>
            <a:off x="496119" y="2939355"/>
            <a:ext cx="4011885" cy="19050"/>
          </a:xfrm>
          <a:prstGeom prst="rect">
            <a:avLst/>
          </a:prstGeom>
        </p:spPr>
      </p:pic>
      <p:sp>
        <p:nvSpPr>
          <p:cNvPr id="11" name="Text 6"/>
          <p:cNvSpPr/>
          <p:nvPr/>
        </p:nvSpPr>
        <p:spPr>
          <a:xfrm>
            <a:off x="496119" y="3058195"/>
            <a:ext cx="1683469" cy="210369"/>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Times New Roman" panose="02020603050405020304" pitchFamily="18" charset="0"/>
                <a:ea typeface="Libre Baskerville" pitchFamily="34" charset="-122"/>
                <a:cs typeface="Times New Roman" panose="02020603050405020304" pitchFamily="18" charset="0"/>
              </a:rPr>
              <a:t>Month 2</a:t>
            </a:r>
            <a:endParaRPr lang="en-US" sz="1400" dirty="0">
              <a:latin typeface="Times New Roman" panose="02020603050405020304" pitchFamily="18" charset="0"/>
              <a:cs typeface="Times New Roman" panose="02020603050405020304" pitchFamily="18" charset="0"/>
            </a:endParaRPr>
          </a:p>
        </p:txBody>
      </p:sp>
      <p:sp>
        <p:nvSpPr>
          <p:cNvPr id="12" name="Text 7"/>
          <p:cNvSpPr/>
          <p:nvPr/>
        </p:nvSpPr>
        <p:spPr>
          <a:xfrm>
            <a:off x="496119" y="3345284"/>
            <a:ext cx="4011885" cy="420142"/>
          </a:xfrm>
          <a:prstGeom prst="rect">
            <a:avLst/>
          </a:prstGeom>
          <a:noFill/>
          <a:ln/>
        </p:spPr>
        <p:txBody>
          <a:bodyPr wrap="square" lIns="0" tIns="0" rIns="0" bIns="0" rtlCol="0" anchor="t">
            <a:normAutofit/>
          </a:bodyPr>
          <a:lstStyle/>
          <a:p>
            <a:pPr marL="0" indent="0" algn="l">
              <a:lnSpc>
                <a:spcPct val="130000"/>
              </a:lnSpc>
              <a:buNone/>
            </a:pPr>
            <a:r>
              <a:rPr lang="en-US" sz="1100" dirty="0">
                <a:solidFill>
                  <a:srgbClr val="FFFFFF"/>
                </a:solidFill>
                <a:latin typeface="Times New Roman" panose="02020603050405020304" pitchFamily="18" charset="0"/>
                <a:ea typeface="Open Sans" pitchFamily="34" charset="-122"/>
                <a:cs typeface="Times New Roman" panose="02020603050405020304" pitchFamily="18" charset="0"/>
              </a:rPr>
              <a:t>Select vendor; begin Phase 0 BOM audit, data cleanse, and change management planning</a:t>
            </a:r>
            <a:endParaRPr lang="en-US" sz="1100" dirty="0">
              <a:latin typeface="Times New Roman" panose="02020603050405020304" pitchFamily="18" charset="0"/>
              <a:cs typeface="Times New Roman" panose="02020603050405020304" pitchFamily="18" charset="0"/>
            </a:endParaRPr>
          </a:p>
        </p:txBody>
      </p:sp>
      <p:pic>
        <p:nvPicPr>
          <p:cNvPr id="13" name="Image 3" descr="preencoded.png"/>
          <p:cNvPicPr>
            <a:picLocks noChangeAspect="1"/>
          </p:cNvPicPr>
          <p:nvPr/>
        </p:nvPicPr>
        <p:blipFill>
          <a:blip r:embed="rId3"/>
          <a:stretch>
            <a:fillRect/>
          </a:stretch>
        </p:blipFill>
        <p:spPr>
          <a:xfrm>
            <a:off x="4635922" y="2939355"/>
            <a:ext cx="4011960" cy="19050"/>
          </a:xfrm>
          <a:prstGeom prst="rect">
            <a:avLst/>
          </a:prstGeom>
        </p:spPr>
      </p:pic>
      <p:sp>
        <p:nvSpPr>
          <p:cNvPr id="14" name="Text 8"/>
          <p:cNvSpPr/>
          <p:nvPr/>
        </p:nvSpPr>
        <p:spPr>
          <a:xfrm>
            <a:off x="4635922" y="3058195"/>
            <a:ext cx="1683469" cy="210369"/>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Times New Roman" panose="02020603050405020304" pitchFamily="18" charset="0"/>
                <a:ea typeface="Libre Baskerville" pitchFamily="34" charset="-122"/>
                <a:cs typeface="Times New Roman" panose="02020603050405020304" pitchFamily="18" charset="0"/>
              </a:rPr>
              <a:t>Month 3</a:t>
            </a:r>
            <a:endParaRPr lang="en-US" sz="1400" dirty="0">
              <a:latin typeface="Times New Roman" panose="02020603050405020304" pitchFamily="18" charset="0"/>
              <a:cs typeface="Times New Roman" panose="02020603050405020304" pitchFamily="18" charset="0"/>
            </a:endParaRPr>
          </a:p>
        </p:txBody>
      </p:sp>
      <p:sp>
        <p:nvSpPr>
          <p:cNvPr id="15" name="Text 9"/>
          <p:cNvSpPr/>
          <p:nvPr/>
        </p:nvSpPr>
        <p:spPr>
          <a:xfrm>
            <a:off x="4635922" y="3345284"/>
            <a:ext cx="4011960" cy="420142"/>
          </a:xfrm>
          <a:prstGeom prst="rect">
            <a:avLst/>
          </a:prstGeom>
          <a:noFill/>
          <a:ln/>
        </p:spPr>
        <p:txBody>
          <a:bodyPr wrap="square" lIns="0" tIns="0" rIns="0" bIns="0" rtlCol="0" anchor="t">
            <a:normAutofit/>
          </a:bodyPr>
          <a:lstStyle/>
          <a:p>
            <a:pPr marL="0" indent="0" algn="l">
              <a:lnSpc>
                <a:spcPct val="130000"/>
              </a:lnSpc>
              <a:buNone/>
            </a:pPr>
            <a:r>
              <a:rPr lang="en-US" sz="1100" dirty="0">
                <a:solidFill>
                  <a:srgbClr val="FFFFFF"/>
                </a:solidFill>
                <a:latin typeface="Times New Roman" panose="02020603050405020304" pitchFamily="18" charset="0"/>
                <a:ea typeface="Open Sans" pitchFamily="34" charset="-122"/>
                <a:cs typeface="Times New Roman" panose="02020603050405020304" pitchFamily="18" charset="0"/>
              </a:rPr>
              <a:t>Program kick-off; immediately freeze new customisations on the legacy system</a:t>
            </a:r>
            <a:endParaRPr lang="en-US" sz="1100" dirty="0">
              <a:latin typeface="Times New Roman" panose="02020603050405020304" pitchFamily="18" charset="0"/>
              <a:cs typeface="Times New Roman" panose="02020603050405020304" pitchFamily="18" charset="0"/>
            </a:endParaRPr>
          </a:p>
        </p:txBody>
      </p:sp>
      <p:sp>
        <p:nvSpPr>
          <p:cNvPr id="16" name="Shape 10"/>
          <p:cNvSpPr/>
          <p:nvPr/>
        </p:nvSpPr>
        <p:spPr>
          <a:xfrm>
            <a:off x="496119" y="3983459"/>
            <a:ext cx="8151763" cy="554013"/>
          </a:xfrm>
          <a:prstGeom prst="roundRect">
            <a:avLst>
              <a:gd name="adj" fmla="val 3646"/>
            </a:avLst>
          </a:prstGeom>
          <a:solidFill>
            <a:srgbClr val="022349"/>
          </a:solidFill>
          <a:ln/>
        </p:spPr>
        <p:txBody>
          <a:bodyPr/>
          <a:lstStyle/>
          <a:p>
            <a:endParaRPr lang="en-GH" sz="2000">
              <a:latin typeface="Times New Roman" panose="02020603050405020304" pitchFamily="18" charset="0"/>
              <a:cs typeface="Times New Roman" panose="02020603050405020304" pitchFamily="18" charset="0"/>
            </a:endParaRPr>
          </a:p>
        </p:txBody>
      </p:sp>
      <p:sp>
        <p:nvSpPr>
          <p:cNvPr id="18" name="Text 11"/>
          <p:cNvSpPr/>
          <p:nvPr/>
        </p:nvSpPr>
        <p:spPr>
          <a:xfrm>
            <a:off x="933673" y="4171876"/>
            <a:ext cx="8036793" cy="210071"/>
          </a:xfrm>
          <a:prstGeom prst="rect">
            <a:avLst/>
          </a:prstGeom>
          <a:noFill/>
          <a:ln/>
        </p:spPr>
        <p:txBody>
          <a:bodyPr wrap="none" lIns="0" tIns="0" rIns="0" bIns="0" rtlCol="0" anchor="t"/>
          <a:lstStyle/>
          <a:p>
            <a:pPr marL="0" indent="0" algn="l">
              <a:lnSpc>
                <a:spcPct val="130000"/>
              </a:lnSpc>
              <a:buNone/>
            </a:pPr>
            <a:r>
              <a:rPr lang="en-US" sz="1100" i="1" dirty="0">
                <a:solidFill>
                  <a:srgbClr val="FFFFFF"/>
                </a:solidFill>
                <a:latin typeface="Times New Roman" panose="02020603050405020304" pitchFamily="18" charset="0"/>
                <a:ea typeface="Open Sans" pitchFamily="34" charset="-122"/>
                <a:cs typeface="Times New Roman" panose="02020603050405020304" pitchFamily="18" charset="0"/>
              </a:rPr>
              <a:t>Board approval authorises commencement of Phase 0. The cost of inaction far exceeds the cost of transformation.</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48</TotalTime>
  <Words>1779</Words>
  <Application>Microsoft Office PowerPoint</Application>
  <PresentationFormat>On-screen Show (16:9)</PresentationFormat>
  <Paragraphs>261</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Times New Roman</vt:lpstr>
      <vt:lpstr>Arial</vt:lpstr>
      <vt:lpstr>Libre Baskerville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Selorm Anita Enyonam</dc:creator>
  <cp:lastModifiedBy>Selorm Anita Enyonam</cp:lastModifiedBy>
  <cp:revision>4</cp:revision>
  <dcterms:created xsi:type="dcterms:W3CDTF">2026-05-25T07:02:19Z</dcterms:created>
  <dcterms:modified xsi:type="dcterms:W3CDTF">2026-05-26T11:22:23Z</dcterms:modified>
</cp:coreProperties>
</file>